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32" r:id="rId5"/>
  </p:sldMasterIdLst>
  <p:notesMasterIdLst>
    <p:notesMasterId r:id="rId36"/>
  </p:notesMasterIdLst>
  <p:sldIdLst>
    <p:sldId id="257" r:id="rId6"/>
    <p:sldId id="284" r:id="rId7"/>
    <p:sldId id="285" r:id="rId8"/>
    <p:sldId id="260" r:id="rId9"/>
    <p:sldId id="261" r:id="rId10"/>
    <p:sldId id="262" r:id="rId11"/>
    <p:sldId id="263" r:id="rId12"/>
    <p:sldId id="264" r:id="rId13"/>
    <p:sldId id="265" r:id="rId14"/>
    <p:sldId id="266" r:id="rId15"/>
    <p:sldId id="267" r:id="rId16"/>
    <p:sldId id="268" r:id="rId17"/>
    <p:sldId id="269" r:id="rId18"/>
    <p:sldId id="287" r:id="rId19"/>
    <p:sldId id="272" r:id="rId20"/>
    <p:sldId id="286" r:id="rId21"/>
    <p:sldId id="276" r:id="rId22"/>
    <p:sldId id="277" r:id="rId23"/>
    <p:sldId id="279" r:id="rId24"/>
    <p:sldId id="278" r:id="rId25"/>
    <p:sldId id="280" r:id="rId26"/>
    <p:sldId id="281" r:id="rId27"/>
    <p:sldId id="282" r:id="rId28"/>
    <p:sldId id="283" r:id="rId29"/>
    <p:sldId id="270" r:id="rId30"/>
    <p:sldId id="258" r:id="rId31"/>
    <p:sldId id="259" r:id="rId32"/>
    <p:sldId id="273" r:id="rId33"/>
    <p:sldId id="274" r:id="rId34"/>
    <p:sldId id="275"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86323" autoAdjust="0"/>
  </p:normalViewPr>
  <p:slideViewPr>
    <p:cSldViewPr snapToGrid="0">
      <p:cViewPr varScale="1">
        <p:scale>
          <a:sx n="71" d="100"/>
          <a:sy n="71" d="100"/>
        </p:scale>
        <p:origin x="1066" y="53"/>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5" d="100"/>
          <a:sy n="85" d="100"/>
        </p:scale>
        <p:origin x="388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heme" Target="theme/theme1.xml"/><Relationship Id="rId21" Type="http://schemas.openxmlformats.org/officeDocument/2006/relationships/slide" Target="slides/slide16.xml"/><Relationship Id="rId34" Type="http://schemas.openxmlformats.org/officeDocument/2006/relationships/slide" Target="slides/slide29.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8" Type="http://schemas.openxmlformats.org/officeDocument/2006/relationships/slide" Target="slides/slide3.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C78CD1-19F8-4933-802D-64566A0B88A1}" type="datetimeFigureOut">
              <a:rPr lang="pt-PT" smtClean="0"/>
              <a:t>03/02/2026</a:t>
            </a:fld>
            <a:endParaRPr lang="pt-PT"/>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PT"/>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303E6D-84AC-4745-8451-FEBAFDD15FBB}" type="slidenum">
              <a:rPr lang="pt-PT" smtClean="0"/>
              <a:t>‹nº›</a:t>
            </a:fld>
            <a:endParaRPr lang="pt-PT"/>
          </a:p>
        </p:txBody>
      </p:sp>
    </p:spTree>
    <p:extLst>
      <p:ext uri="{BB962C8B-B14F-4D97-AF65-F5344CB8AC3E}">
        <p14:creationId xmlns:p14="http://schemas.microsoft.com/office/powerpoint/2010/main" val="83828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1</a:t>
            </a:fld>
            <a:endParaRPr lang="pt-PT"/>
          </a:p>
        </p:txBody>
      </p:sp>
    </p:spTree>
    <p:extLst>
      <p:ext uri="{BB962C8B-B14F-4D97-AF65-F5344CB8AC3E}">
        <p14:creationId xmlns:p14="http://schemas.microsoft.com/office/powerpoint/2010/main" val="104268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Segmentation is not the end goal; it enables measurement. In multiphase-flow imaging, we want quantitative outputs like count and size distributions, so we need instance-level masks.</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2</a:t>
            </a:fld>
            <a:endParaRPr lang="pt-PT"/>
          </a:p>
        </p:txBody>
      </p:sp>
    </p:spTree>
    <p:extLst>
      <p:ext uri="{BB962C8B-B14F-4D97-AF65-F5344CB8AC3E}">
        <p14:creationId xmlns:p14="http://schemas.microsoft.com/office/powerpoint/2010/main" val="804497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Working with real experimental data is hard for two reasons. First, producing instance-level ground truth is slow and ambiguous, especially in dense scenes where bubbles overlap and edges are weak due to lighting and imaging artifacts. Second, synthetic data scales labels but doesn’t match the real acquisition perfectly, so models trained only on synthetic don’t transfer reliably. That motivates my approach: controlled model comparisons, synthetic-to-real transfer learning, and model-assisted annotation, evaluated with metrics that reflect the measurements we actually need.</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3</a:t>
            </a:fld>
            <a:endParaRPr lang="pt-PT"/>
          </a:p>
        </p:txBody>
      </p:sp>
    </p:spTree>
    <p:extLst>
      <p:ext uri="{BB962C8B-B14F-4D97-AF65-F5344CB8AC3E}">
        <p14:creationId xmlns:p14="http://schemas.microsoft.com/office/powerpoint/2010/main" val="2949802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questions cover: choosing a strong baseline, bridging the domain gap with transfer learning, and scaling data creation through annotation assistance.</a:t>
            </a:r>
          </a:p>
        </p:txBody>
      </p:sp>
      <p:sp>
        <p:nvSpPr>
          <p:cNvPr id="4" name="Slide Number Placeholder 3"/>
          <p:cNvSpPr>
            <a:spLocks noGrp="1"/>
          </p:cNvSpPr>
          <p:nvPr>
            <p:ph type="sldNum" sz="quarter" idx="5"/>
          </p:nvPr>
        </p:nvSpPr>
        <p:spPr/>
        <p:txBody>
          <a:bodyPr/>
          <a:lstStyle/>
          <a:p>
            <a:fld id="{319AB5E7-4593-4008-AEF4-6164A7DBC721}" type="slidenum">
              <a:t>4</a:t>
            </a:fld>
            <a:endParaRPr lang="en-US"/>
          </a:p>
        </p:txBody>
      </p:sp>
    </p:spTree>
    <p:extLst>
      <p:ext uri="{BB962C8B-B14F-4D97-AF65-F5344CB8AC3E}">
        <p14:creationId xmlns:p14="http://schemas.microsoft.com/office/powerpoint/2010/main" val="89585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full workflow: unify synthetic and real data, run a controlled grid of training regimes, evaluate with metrics that reflect both segmentation quality and measurement reliability, and finally quantify how much model assistance reduces annotation time.</a:t>
            </a:r>
          </a:p>
        </p:txBody>
      </p:sp>
      <p:sp>
        <p:nvSpPr>
          <p:cNvPr id="4" name="Slide Number Placeholder 3"/>
          <p:cNvSpPr>
            <a:spLocks noGrp="1"/>
          </p:cNvSpPr>
          <p:nvPr>
            <p:ph type="sldNum" sz="quarter" idx="5"/>
          </p:nvPr>
        </p:nvSpPr>
        <p:spPr/>
        <p:txBody>
          <a:bodyPr/>
          <a:lstStyle/>
          <a:p>
            <a:fld id="{319AB5E7-4593-4008-AEF4-6164A7DBC721}" type="slidenum">
              <a:t>5</a:t>
            </a:fld>
            <a:endParaRPr lang="en-US"/>
          </a:p>
        </p:txBody>
      </p:sp>
    </p:spTree>
    <p:extLst>
      <p:ext uri="{BB962C8B-B14F-4D97-AF65-F5344CB8AC3E}">
        <p14:creationId xmlns:p14="http://schemas.microsoft.com/office/powerpoint/2010/main" val="4032865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 relies on a small but carefully annotated real dataset, plus a large synthetic dataset for pretraining. Labels are instance-level and stored in COCO format, and I keep preprocessing and resolution consistent so differences come from the training regime/model rather than data handling.</a:t>
            </a:r>
          </a:p>
        </p:txBody>
      </p:sp>
      <p:sp>
        <p:nvSpPr>
          <p:cNvPr id="4" name="Slide Number Placeholder 3"/>
          <p:cNvSpPr>
            <a:spLocks noGrp="1"/>
          </p:cNvSpPr>
          <p:nvPr>
            <p:ph type="sldNum" sz="quarter" idx="5"/>
          </p:nvPr>
        </p:nvSpPr>
        <p:spPr/>
        <p:txBody>
          <a:bodyPr/>
          <a:lstStyle/>
          <a:p>
            <a:fld id="{319AB5E7-4593-4008-AEF4-6164A7DBC721}" type="slidenum">
              <a:rPr lang="en-US"/>
              <a:t>6</a:t>
            </a:fld>
            <a:endParaRPr lang="en-US"/>
          </a:p>
        </p:txBody>
      </p:sp>
    </p:spTree>
    <p:extLst>
      <p:ext uri="{BB962C8B-B14F-4D97-AF65-F5344CB8AC3E}">
        <p14:creationId xmlns:p14="http://schemas.microsoft.com/office/powerpoint/2010/main" val="32950596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I keep the model family fixed and vary only backbone capacity and the training regime. This gives a clean comparison: how much comes from architecture vs. data regime, and whether synthetic-to-real transfer consistently helps.</a:t>
            </a:r>
          </a:p>
          <a:p>
            <a:endParaRPr lang="en-US" dirty="0"/>
          </a:p>
          <a:p>
            <a:r>
              <a:rPr lang="pt-PT" dirty="0"/>
              <a:t>I </a:t>
            </a:r>
            <a:r>
              <a:rPr lang="pt-PT" dirty="0" err="1"/>
              <a:t>chose</a:t>
            </a:r>
            <a:r>
              <a:rPr lang="pt-PT" dirty="0"/>
              <a:t> </a:t>
            </a:r>
            <a:r>
              <a:rPr lang="pt-PT" dirty="0" err="1"/>
              <a:t>Mask</a:t>
            </a:r>
            <a:r>
              <a:rPr lang="pt-PT" dirty="0"/>
              <a:t> R-CNN </a:t>
            </a:r>
            <a:r>
              <a:rPr lang="pt-PT" dirty="0" err="1"/>
              <a:t>with</a:t>
            </a:r>
            <a:r>
              <a:rPr lang="pt-PT" dirty="0"/>
              <a:t> FPN </a:t>
            </a:r>
            <a:r>
              <a:rPr lang="pt-PT" dirty="0" err="1"/>
              <a:t>because</a:t>
            </a:r>
            <a:r>
              <a:rPr lang="pt-PT" dirty="0"/>
              <a:t> </a:t>
            </a:r>
            <a:r>
              <a:rPr lang="pt-PT" dirty="0" err="1"/>
              <a:t>it’s</a:t>
            </a:r>
            <a:r>
              <a:rPr lang="pt-PT" dirty="0"/>
              <a:t> a </a:t>
            </a:r>
            <a:r>
              <a:rPr lang="pt-PT" dirty="0" err="1"/>
              <a:t>strong</a:t>
            </a:r>
            <a:r>
              <a:rPr lang="pt-PT" dirty="0"/>
              <a:t>, standard </a:t>
            </a:r>
            <a:r>
              <a:rPr lang="pt-PT" dirty="0" err="1"/>
              <a:t>instance</a:t>
            </a:r>
            <a:r>
              <a:rPr lang="pt-PT" dirty="0"/>
              <a:t> </a:t>
            </a:r>
            <a:r>
              <a:rPr lang="pt-PT" dirty="0" err="1"/>
              <a:t>segmentation</a:t>
            </a:r>
            <a:r>
              <a:rPr lang="pt-PT" dirty="0"/>
              <a:t> </a:t>
            </a:r>
            <a:r>
              <a:rPr lang="pt-PT" dirty="0" err="1"/>
              <a:t>baseline</a:t>
            </a:r>
            <a:r>
              <a:rPr lang="pt-PT" dirty="0"/>
              <a:t> </a:t>
            </a:r>
            <a:r>
              <a:rPr lang="pt-PT" dirty="0" err="1"/>
              <a:t>and</a:t>
            </a:r>
            <a:r>
              <a:rPr lang="pt-PT" dirty="0"/>
              <a:t> </a:t>
            </a:r>
            <a:r>
              <a:rPr lang="pt-PT" dirty="0" err="1"/>
              <a:t>handles</a:t>
            </a:r>
            <a:r>
              <a:rPr lang="pt-PT" dirty="0"/>
              <a:t> </a:t>
            </a:r>
            <a:r>
              <a:rPr lang="pt-PT" dirty="0" err="1"/>
              <a:t>multi-scale</a:t>
            </a:r>
            <a:r>
              <a:rPr lang="pt-PT" dirty="0"/>
              <a:t> </a:t>
            </a:r>
            <a:r>
              <a:rPr lang="pt-PT" dirty="0" err="1"/>
              <a:t>objects</a:t>
            </a:r>
            <a:r>
              <a:rPr lang="pt-PT" dirty="0"/>
              <a:t>. </a:t>
            </a:r>
            <a:r>
              <a:rPr lang="pt-PT" dirty="0" err="1"/>
              <a:t>Comparing</a:t>
            </a:r>
            <a:r>
              <a:rPr lang="pt-PT" dirty="0"/>
              <a:t> ResNet-50, ResNet-50 v2, </a:t>
            </a:r>
            <a:r>
              <a:rPr lang="pt-PT" dirty="0" err="1"/>
              <a:t>and</a:t>
            </a:r>
            <a:r>
              <a:rPr lang="pt-PT" dirty="0"/>
              <a:t> ResNet-101 </a:t>
            </a:r>
            <a:r>
              <a:rPr lang="pt-PT" dirty="0" err="1"/>
              <a:t>lets</a:t>
            </a:r>
            <a:r>
              <a:rPr lang="pt-PT" dirty="0"/>
              <a:t> me </a:t>
            </a:r>
            <a:r>
              <a:rPr lang="pt-PT" dirty="0" err="1"/>
              <a:t>quantify</a:t>
            </a:r>
            <a:r>
              <a:rPr lang="pt-PT" dirty="0"/>
              <a:t> the </a:t>
            </a:r>
            <a:r>
              <a:rPr lang="pt-PT" dirty="0" err="1"/>
              <a:t>accuracy</a:t>
            </a:r>
            <a:r>
              <a:rPr lang="pt-PT" dirty="0"/>
              <a:t>–speed </a:t>
            </a:r>
            <a:r>
              <a:rPr lang="pt-PT" dirty="0" err="1"/>
              <a:t>trade-off</a:t>
            </a:r>
            <a:r>
              <a:rPr lang="pt-PT" dirty="0"/>
              <a:t> </a:t>
            </a:r>
            <a:r>
              <a:rPr lang="pt-PT" dirty="0" err="1"/>
              <a:t>under</a:t>
            </a:r>
            <a:r>
              <a:rPr lang="pt-PT" dirty="0"/>
              <a:t> the </a:t>
            </a:r>
            <a:r>
              <a:rPr lang="pt-PT" dirty="0" err="1"/>
              <a:t>same</a:t>
            </a:r>
            <a:r>
              <a:rPr lang="pt-PT" dirty="0"/>
              <a:t> </a:t>
            </a:r>
            <a:r>
              <a:rPr lang="pt-PT" dirty="0" err="1"/>
              <a:t>framework</a:t>
            </a:r>
            <a:r>
              <a:rPr lang="pt-PT" dirty="0"/>
              <a:t>.</a:t>
            </a:r>
          </a:p>
          <a:p>
            <a:endParaRPr lang="pt-PT" dirty="0"/>
          </a:p>
          <a:p>
            <a:r>
              <a:rPr lang="en-US" dirty="0"/>
              <a:t>I built a reproducible experiment runner driven by YAML configs, so every run is defined by parameters rather than manual changes. Training is capped at 50 epochs, with early stopping using patience 7 based on validation performance, so comparisons are consistent and we avoid over-training.</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7</a:t>
            </a:fld>
            <a:endParaRPr lang="pt-PT"/>
          </a:p>
        </p:txBody>
      </p:sp>
    </p:spTree>
    <p:extLst>
      <p:ext uri="{BB962C8B-B14F-4D97-AF65-F5344CB8AC3E}">
        <p14:creationId xmlns:p14="http://schemas.microsoft.com/office/powerpoint/2010/main" val="3950479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The key methodological idea is to use synthetic data to learn robust instance segmentation priors, then fine-tune on a small real dataset. To make fine-tuning stable, I control the backbone update, freezing it first and then training it with a reduced learning rate, so the model adapts without destroying useful representations.</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8</a:t>
            </a:fld>
            <a:endParaRPr lang="pt-PT"/>
          </a:p>
        </p:txBody>
      </p:sp>
    </p:spTree>
    <p:extLst>
      <p:ext uri="{BB962C8B-B14F-4D97-AF65-F5344CB8AC3E}">
        <p14:creationId xmlns:p14="http://schemas.microsoft.com/office/powerpoint/2010/main" val="2910918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I evaluate in two layers because the goal is measurement. During training and validation, I use COCO-style </a:t>
            </a:r>
            <a:r>
              <a:rPr lang="en-US" dirty="0" err="1"/>
              <a:t>mAP</a:t>
            </a:r>
            <a:r>
              <a:rPr lang="en-US" dirty="0"/>
              <a:t>@[0.50:0.95] to select the checkpoint, this is standard and stable for model selection. But for the final test results, I report metrics aligned with the application: union-mask overlap tells me whether the bubble region is correct overall, while ΔN and |ΔN| capture counting reliability, and area statistics reflect measurement quality. I also report FPS because runtime matters in practice. Threshold settings are fixed across runs for fairness and are shown in the backup.</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9</a:t>
            </a:fld>
            <a:endParaRPr lang="pt-PT"/>
          </a:p>
        </p:txBody>
      </p:sp>
    </p:spTree>
    <p:extLst>
      <p:ext uri="{BB962C8B-B14F-4D97-AF65-F5344CB8AC3E}">
        <p14:creationId xmlns:p14="http://schemas.microsoft.com/office/powerpoint/2010/main" val="3068222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This slide summarizes the whole experimental grid: 3 backbones × 4 training regimes, all evaluated on the same 25-image real test split with fixed thresholds. The main message is: training on real data already gives strong foreground overlap, but synthetic-only shows a clear domain gap. Transfer learning is the most consistently beneficial regime, and the best overall configuration is ResNet-50-FPN v2 with transfer, which combines the highest Dice/</a:t>
            </a:r>
            <a:r>
              <a:rPr lang="en-US" dirty="0" err="1"/>
              <a:t>IoU</a:t>
            </a:r>
            <a:r>
              <a:rPr lang="en-US" dirty="0"/>
              <a:t> with the lowest mean absolute count error.</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10</a:t>
            </a:fld>
            <a:endParaRPr lang="pt-PT"/>
          </a:p>
        </p:txBody>
      </p:sp>
    </p:spTree>
    <p:extLst>
      <p:ext uri="{BB962C8B-B14F-4D97-AF65-F5344CB8AC3E}">
        <p14:creationId xmlns:p14="http://schemas.microsoft.com/office/powerpoint/2010/main" val="1923352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Here I isolate the effect of transfer by comparing Real-only vs Transfer for each backbone. For the two ResNet-50 variants, Dice changes are small because overlap is already high, but transfer still reduces count error. The big story is ResNet-101: training from scratch on limited real labels led to systematic over-detection, and synthetic initialization dramatically stabilizes instance predictions. Dice rises and both |ΔN| and ΔN drop sharply.</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11</a:t>
            </a:fld>
            <a:endParaRPr lang="pt-PT"/>
          </a:p>
        </p:txBody>
      </p:sp>
    </p:spTree>
    <p:extLst>
      <p:ext uri="{BB962C8B-B14F-4D97-AF65-F5344CB8AC3E}">
        <p14:creationId xmlns:p14="http://schemas.microsoft.com/office/powerpoint/2010/main" val="2491371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I tested whether turning on augmentation during the real fine-tuning stage improves robustness. Under the same thresholds and split, it doesn’t improve average Dice and can degrade counting stability, especially for ResNet-50-FPN. For ResNet-101 it even reduces Dice noticeably. So, in this dataset and setup, transfer learning alone is the safer choice; augmentation might need different types/strengths or a larger real dataset to be beneficial.</a:t>
            </a:r>
          </a:p>
          <a:p>
            <a:r>
              <a:rPr lang="en-US" dirty="0"/>
              <a:t>Augmentation didn’t show a consistent improvement here, but this result has two important caveats. First, the real fine-tuning set is limited and the held-out test split has only 25 images, so the measured mean and tail metrics have high variance, just a few difficult frames can dominate the apparent effect. Second, augmentation only improves robustness when the transformations reflect realistic variability of the acquisition process. If the policy is even partially </a:t>
            </a:r>
            <a:r>
              <a:rPr lang="en-US" dirty="0" err="1"/>
              <a:t>mismatche</a:t>
            </a:r>
            <a:r>
              <a:rPr lang="en-US" dirty="0"/>
              <a:t>, like photometric or geometric changes that don’t occur in the experiment, it effectively introduces a distribution shift during training and can hurt performance under a fixed test protocol. So, augmentation needs to be guided by the imaging physics and validated with a larger, more diverse evaluation split.</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12</a:t>
            </a:fld>
            <a:endParaRPr lang="pt-PT"/>
          </a:p>
        </p:txBody>
      </p:sp>
    </p:spTree>
    <p:extLst>
      <p:ext uri="{BB962C8B-B14F-4D97-AF65-F5344CB8AC3E}">
        <p14:creationId xmlns:p14="http://schemas.microsoft.com/office/powerpoint/2010/main" val="2100752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Besides accuracy, runtime matters for practical use. Here I compare mean inference time and FPS under the same setup. ResNet-50 is the fastest, ResNet-50 v2 is slightly slower but gives the best overall accuracy in our results, and ResNet-101 is about half the throughput. So, if we need real-time or high-throughput processing, R50 is attractive; if we want the best balance of accuracy and speed, R50 v2 with transfer is the recommended choice for this dataset.</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13</a:t>
            </a:fld>
            <a:endParaRPr lang="pt-PT"/>
          </a:p>
        </p:txBody>
      </p:sp>
    </p:spTree>
    <p:extLst>
      <p:ext uri="{BB962C8B-B14F-4D97-AF65-F5344CB8AC3E}">
        <p14:creationId xmlns:p14="http://schemas.microsoft.com/office/powerpoint/2010/main" val="21602504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AE2AE-5E55-3346-A9EC-F6E68B4DFAD5}"/>
            </a:ext>
          </a:extLst>
        </p:cNvPr>
        <p:cNvGrpSpPr/>
        <p:nvPr/>
      </p:nvGrpSpPr>
      <p:grpSpPr>
        <a:xfrm>
          <a:off x="0" y="0"/>
          <a:ext cx="0" cy="0"/>
          <a:chOff x="0" y="0"/>
          <a:chExt cx="0" cy="0"/>
        </a:xfrm>
      </p:grpSpPr>
      <p:sp>
        <p:nvSpPr>
          <p:cNvPr id="2" name="Marcador de Posição da Imagem do Diapositivo 1">
            <a:extLst>
              <a:ext uri="{FF2B5EF4-FFF2-40B4-BE49-F238E27FC236}">
                <a16:creationId xmlns:a16="http://schemas.microsoft.com/office/drawing/2014/main" id="{D80F82A3-62B8-9D21-BEB5-0A487BE58300}"/>
              </a:ext>
            </a:extLst>
          </p:cNvPr>
          <p:cNvSpPr>
            <a:spLocks noGrp="1" noRot="1" noChangeAspect="1"/>
          </p:cNvSpPr>
          <p:nvPr>
            <p:ph type="sldImg"/>
          </p:nvPr>
        </p:nvSpPr>
        <p:spPr/>
      </p:sp>
      <p:sp>
        <p:nvSpPr>
          <p:cNvPr id="3" name="Marcador de Posição de Notas 2">
            <a:extLst>
              <a:ext uri="{FF2B5EF4-FFF2-40B4-BE49-F238E27FC236}">
                <a16:creationId xmlns:a16="http://schemas.microsoft.com/office/drawing/2014/main" id="{D2DFA489-3B82-34CB-6F86-765DC7394069}"/>
              </a:ext>
            </a:extLst>
          </p:cNvPr>
          <p:cNvSpPr>
            <a:spLocks noGrp="1"/>
          </p:cNvSpPr>
          <p:nvPr>
            <p:ph type="body" idx="1"/>
          </p:nvPr>
        </p:nvSpPr>
        <p:spPr/>
        <p:txBody>
          <a:bodyPr/>
          <a:lstStyle/>
          <a:p>
            <a:r>
              <a:rPr lang="en-US" dirty="0"/>
              <a:t>To address the annotation bottleneck, I compared three workflows inside Label Studio: fully manual, correcting pre-annotations generated by a synthetic-trained Mask R-CNN, and adding interactive refinement using SAM2. The key result is the reduction in labeling time from about 94 seconds per bubble to about 3.2 seconds per bubble, roughly a 30× speedup, while still allowing manual control on difficult cases. In practice, the model gets many instances close enough that the task becomes correction rather than drawing from scratch, and SAM2 makes boundary refinement much faster.</a:t>
            </a:r>
            <a:endParaRPr lang="pt-PT" dirty="0"/>
          </a:p>
        </p:txBody>
      </p:sp>
      <p:sp>
        <p:nvSpPr>
          <p:cNvPr id="4" name="Marcador de Posição do Número do Diapositivo 3">
            <a:extLst>
              <a:ext uri="{FF2B5EF4-FFF2-40B4-BE49-F238E27FC236}">
                <a16:creationId xmlns:a16="http://schemas.microsoft.com/office/drawing/2014/main" id="{4EEACC2D-9518-EE3C-0A20-F3ADD539D710}"/>
              </a:ext>
            </a:extLst>
          </p:cNvPr>
          <p:cNvSpPr>
            <a:spLocks noGrp="1"/>
          </p:cNvSpPr>
          <p:nvPr>
            <p:ph type="sldNum" sz="quarter" idx="5"/>
          </p:nvPr>
        </p:nvSpPr>
        <p:spPr/>
        <p:txBody>
          <a:bodyPr/>
          <a:lstStyle/>
          <a:p>
            <a:fld id="{A1303E6D-84AC-4745-8451-FEBAFDD15FBB}" type="slidenum">
              <a:rPr lang="pt-PT" smtClean="0"/>
              <a:t>14</a:t>
            </a:fld>
            <a:endParaRPr lang="pt-PT"/>
          </a:p>
        </p:txBody>
      </p:sp>
    </p:spTree>
    <p:extLst>
      <p:ext uri="{BB962C8B-B14F-4D97-AF65-F5344CB8AC3E}">
        <p14:creationId xmlns:p14="http://schemas.microsoft.com/office/powerpoint/2010/main" val="34589688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This slide closes the loop with the research questions. For RQ1, the baselines perform well on real data and we identify a practical best model. For RQ2, synthetic-to-real transfer consistently improves the metrics that matter for measurements, especially stabilizing ResNet-101. For RQ3, model assistance dramatically reduces annotation time (around 30x) which addresses the dataset bottleneck and supports scaling future data collection.</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15</a:t>
            </a:fld>
            <a:endParaRPr lang="pt-PT"/>
          </a:p>
        </p:txBody>
      </p:sp>
    </p:spTree>
    <p:extLst>
      <p:ext uri="{BB962C8B-B14F-4D97-AF65-F5344CB8AC3E}">
        <p14:creationId xmlns:p14="http://schemas.microsoft.com/office/powerpoint/2010/main" val="2791439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The main limitation is scale and coverage: the real dataset is limited and the test split is only 25 images, so metrics can have high variance and not cover all conditions. </a:t>
            </a:r>
          </a:p>
          <a:p>
            <a:endParaRPr lang="en-US" dirty="0"/>
          </a:p>
          <a:p>
            <a:r>
              <a:rPr lang="en-US" dirty="0"/>
              <a:t>Also, dense scenes are ambiguous and synthetic data doesn’t reproduce every imaging artifact. </a:t>
            </a:r>
          </a:p>
          <a:p>
            <a:endParaRPr lang="en-US" dirty="0"/>
          </a:p>
          <a:p>
            <a:r>
              <a:rPr lang="en-US" dirty="0"/>
              <a:t>The next steps directly address this: expand and diversify real data, redesign augmentation to match the acquisition process and validate on a broader split, and use an iterative loop, pre-annotations plus SAM2 refinement, to scale labeling efficiently and improve the hardest cases.</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16</a:t>
            </a:fld>
            <a:endParaRPr lang="pt-PT"/>
          </a:p>
        </p:txBody>
      </p:sp>
    </p:spTree>
    <p:extLst>
      <p:ext uri="{BB962C8B-B14F-4D97-AF65-F5344CB8AC3E}">
        <p14:creationId xmlns:p14="http://schemas.microsoft.com/office/powerpoint/2010/main" val="39344786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18</a:t>
            </a:fld>
            <a:endParaRPr lang="pt-PT"/>
          </a:p>
        </p:txBody>
      </p:sp>
    </p:spTree>
    <p:extLst>
      <p:ext uri="{BB962C8B-B14F-4D97-AF65-F5344CB8AC3E}">
        <p14:creationId xmlns:p14="http://schemas.microsoft.com/office/powerpoint/2010/main" val="11366502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20</a:t>
            </a:fld>
            <a:endParaRPr lang="pt-PT"/>
          </a:p>
        </p:txBody>
      </p:sp>
    </p:spTree>
    <p:extLst>
      <p:ext uri="{BB962C8B-B14F-4D97-AF65-F5344CB8AC3E}">
        <p14:creationId xmlns:p14="http://schemas.microsoft.com/office/powerpoint/2010/main" val="3010108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22</a:t>
            </a:fld>
            <a:endParaRPr lang="pt-PT"/>
          </a:p>
        </p:txBody>
      </p:sp>
    </p:spTree>
    <p:extLst>
      <p:ext uri="{BB962C8B-B14F-4D97-AF65-F5344CB8AC3E}">
        <p14:creationId xmlns:p14="http://schemas.microsoft.com/office/powerpoint/2010/main" val="41724863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During training I select the best checkpoint using </a:t>
            </a:r>
            <a:r>
              <a:rPr lang="en-US" b="1" dirty="0"/>
              <a:t>COCO segmentation </a:t>
            </a:r>
            <a:r>
              <a:rPr lang="en-US" b="1" dirty="0" err="1"/>
              <a:t>mAP</a:t>
            </a:r>
            <a:r>
              <a:rPr lang="en-US" dirty="0"/>
              <a:t>, specifically </a:t>
            </a:r>
            <a:r>
              <a:rPr lang="en-US" b="1" dirty="0"/>
              <a:t>AP@[0.50:0.95]</a:t>
            </a:r>
            <a:r>
              <a:rPr lang="en-US" dirty="0"/>
              <a:t>. This metric matches predicted instances to ground-truth instances using an </a:t>
            </a:r>
            <a:r>
              <a:rPr lang="en-US" dirty="0" err="1"/>
              <a:t>IoU</a:t>
            </a:r>
            <a:r>
              <a:rPr lang="en-US" dirty="0"/>
              <a:t> criterion, builds a precision–recall curve over confidence thresholds, and computes the </a:t>
            </a:r>
            <a:r>
              <a:rPr lang="en-US" b="1" dirty="0"/>
              <a:t>area under that curve</a:t>
            </a:r>
            <a:r>
              <a:rPr lang="en-US" dirty="0"/>
              <a:t> (Average Precision). COCO then averages AP over multiple </a:t>
            </a:r>
            <a:r>
              <a:rPr lang="en-US" dirty="0" err="1"/>
              <a:t>IoU</a:t>
            </a:r>
            <a:r>
              <a:rPr lang="en-US" dirty="0"/>
              <a:t> thresholds from 0.50 to 0.95, so it rewards models that not only detect the right objects but also produce accurate masks at strict </a:t>
            </a:r>
            <a:r>
              <a:rPr lang="en-US" dirty="0" err="1"/>
              <a:t>IoU</a:t>
            </a:r>
            <a:r>
              <a:rPr lang="en-US" dirty="0"/>
              <a:t> levels. I log </a:t>
            </a:r>
            <a:r>
              <a:rPr lang="en-US" dirty="0" err="1"/>
              <a:t>mAP</a:t>
            </a:r>
            <a:r>
              <a:rPr lang="en-US" dirty="0"/>
              <a:t> (plus AP@0.50 and AP@0.75), apply early stopping when it stops improving, and save the best model as </a:t>
            </a:r>
            <a:r>
              <a:rPr lang="en-US" sz="1200" kern="1200" dirty="0" err="1">
                <a:solidFill>
                  <a:schemeClr val="tx1"/>
                </a:solidFill>
                <a:latin typeface="+mn-lt"/>
                <a:ea typeface="+mn-ea"/>
                <a:cs typeface="+mn-cs"/>
              </a:rPr>
              <a:t>model_best.pth</a:t>
            </a:r>
            <a:r>
              <a:rPr lang="en-US" dirty="0"/>
              <a:t>.</a:t>
            </a:r>
          </a:p>
          <a:p>
            <a:r>
              <a:rPr lang="en-US" dirty="0"/>
              <a:t>For final reporting I use a separate evaluator: </a:t>
            </a:r>
            <a:r>
              <a:rPr lang="en-US" b="1" dirty="0"/>
              <a:t>union-mask overlap</a:t>
            </a:r>
            <a:r>
              <a:rPr lang="en-US" dirty="0"/>
              <a:t> tells me overall bubble-region delineation, but it can stay high even when bubbles are merged/split. Because the downstream goal is measurement, I also report </a:t>
            </a:r>
            <a:r>
              <a:rPr lang="en-US" b="1" dirty="0"/>
              <a:t>count error (ΔN, |ΔN|)</a:t>
            </a:r>
            <a:r>
              <a:rPr lang="en-US" dirty="0"/>
              <a:t> and </a:t>
            </a:r>
            <a:r>
              <a:rPr lang="en-US" b="1" dirty="0"/>
              <a:t>area statistics</a:t>
            </a:r>
            <a:r>
              <a:rPr lang="en-US" dirty="0"/>
              <a:t> derived from instances.</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24</a:t>
            </a:fld>
            <a:endParaRPr lang="pt-PT"/>
          </a:p>
        </p:txBody>
      </p:sp>
    </p:spTree>
    <p:extLst>
      <p:ext uri="{BB962C8B-B14F-4D97-AF65-F5344CB8AC3E}">
        <p14:creationId xmlns:p14="http://schemas.microsoft.com/office/powerpoint/2010/main" val="33616463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After the global results, I wanted to understand </a:t>
            </a:r>
            <a:r>
              <a:rPr lang="en-US" i="1" dirty="0"/>
              <a:t>where</a:t>
            </a:r>
            <a:r>
              <a:rPr lang="en-US" dirty="0"/>
              <a:t> the remaining errors happen. So I stratified the Transfer regime by two ground-truth difficulty proxies: bubble density (number of bubbles per image) and bubble scale (mean bubble area), both defined by percentiles on the 25-image test split. The important point is that Dice remains high across bins, but counting error changes much more, meaning overlap alone can look good while measurement reliability degrades. In crowded scenes and in large-bubble scenes, the ResNet-101 backbone shows higher |ΔN| and a tendency to overcount under the same fixed thresholds. The qualitative examples illustrate the dominant failure modes: bubble-like background artifacts generating false positives, and darker/denser frames increasing overprediction or fragmentation.</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25</a:t>
            </a:fld>
            <a:endParaRPr lang="pt-PT"/>
          </a:p>
        </p:txBody>
      </p:sp>
    </p:spTree>
    <p:extLst>
      <p:ext uri="{BB962C8B-B14F-4D97-AF65-F5344CB8AC3E}">
        <p14:creationId xmlns:p14="http://schemas.microsoft.com/office/powerpoint/2010/main" val="12472602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segment bubbles because we ultimately care about measurements, not just pretty masks. </a:t>
            </a:r>
          </a:p>
          <a:p>
            <a:r>
              <a:rPr lang="en-US" dirty="0"/>
              <a:t>In dense experimental scenes, bubbles overlap and edges are ambiguous, so instance segmentation is required, but producing high-quality instance annotations is costly, which motivates transfer from synthetic data and annotation assistance.</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319AB5E7-4593-4008-AEF4-6164A7DBC721}" type="slidenum">
              <a:t>26</a:t>
            </a:fld>
            <a:endParaRPr lang="en-US"/>
          </a:p>
        </p:txBody>
      </p:sp>
    </p:spTree>
    <p:extLst>
      <p:ext uri="{BB962C8B-B14F-4D97-AF65-F5344CB8AC3E}">
        <p14:creationId xmlns:p14="http://schemas.microsoft.com/office/powerpoint/2010/main" val="31606114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issues are: labeling real data is expensive, synthetic data doesn’t perfectly match real experiments, and standard overlap metrics can look good while the measurements we care about, count and bubble size, are wrong. So we test transfer learning and annotation assistance under a measurement-oriented evaluation.</a:t>
            </a:r>
          </a:p>
        </p:txBody>
      </p:sp>
      <p:sp>
        <p:nvSpPr>
          <p:cNvPr id="4" name="Slide Number Placeholder 3"/>
          <p:cNvSpPr>
            <a:spLocks noGrp="1"/>
          </p:cNvSpPr>
          <p:nvPr>
            <p:ph type="sldNum" sz="quarter" idx="5"/>
          </p:nvPr>
        </p:nvSpPr>
        <p:spPr/>
        <p:txBody>
          <a:bodyPr/>
          <a:lstStyle/>
          <a:p>
            <a:fld id="{319AB5E7-4593-4008-AEF4-6164A7DBC721}" type="slidenum">
              <a:t>27</a:t>
            </a:fld>
            <a:endParaRPr lang="en-US"/>
          </a:p>
        </p:txBody>
      </p:sp>
    </p:spTree>
    <p:extLst>
      <p:ext uri="{BB962C8B-B14F-4D97-AF65-F5344CB8AC3E}">
        <p14:creationId xmlns:p14="http://schemas.microsoft.com/office/powerpoint/2010/main" val="18777261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The main limitations are data scale and evaluation coverage. </a:t>
            </a:r>
          </a:p>
          <a:p>
            <a:r>
              <a:rPr lang="en-US" dirty="0"/>
              <a:t>The real dataset is relatively small and the final test set has only 25 images, so results, especially about augmentation, have high variance and may not cover all experimental conditions. </a:t>
            </a:r>
          </a:p>
          <a:p>
            <a:r>
              <a:rPr lang="en-US" dirty="0"/>
              <a:t>Also, in dense frames there’s inherent ambiguity in instance boundaries, and we didn’t quantify inter-annotator variability. </a:t>
            </a:r>
          </a:p>
          <a:p>
            <a:r>
              <a:rPr lang="en-US" dirty="0"/>
              <a:t>Finally, I kept post-processing thresholds fixed for fairness, but the optimal operating point could differ depending on whether the priority is recall or minimizing overcount. </a:t>
            </a:r>
          </a:p>
          <a:p>
            <a:r>
              <a:rPr lang="en-US" dirty="0"/>
              <a:t>And while synthetic pretraining reduces the bottleneck, synthetic images still don’t capture all real optical artifacts, so some domain gap remains.</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28</a:t>
            </a:fld>
            <a:endParaRPr lang="pt-PT"/>
          </a:p>
        </p:txBody>
      </p:sp>
    </p:spTree>
    <p:extLst>
      <p:ext uri="{BB962C8B-B14F-4D97-AF65-F5344CB8AC3E}">
        <p14:creationId xmlns:p14="http://schemas.microsoft.com/office/powerpoint/2010/main" val="39279598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The next logical step is scaling and diversifying the real dataset to reduce variance and improve generalization. </a:t>
            </a:r>
          </a:p>
          <a:p>
            <a:r>
              <a:rPr lang="en-US" dirty="0"/>
              <a:t>The annotation-efficiency results suggest an iterative loop: use the current model to generate pre-annotations, refine quickly with SAM2, and retrain. This targets the hardest frames with minimal extra effort. </a:t>
            </a:r>
          </a:p>
          <a:p>
            <a:r>
              <a:rPr lang="en-US" dirty="0"/>
              <a:t>Augmentation should be redesigned with knowledge of the acquisition process and validated on a larger evaluation split. </a:t>
            </a:r>
          </a:p>
          <a:p>
            <a:r>
              <a:rPr lang="en-US" dirty="0"/>
              <a:t>On the evaluation side, adding instance-matching metrics would better capture split/merge failure modes. </a:t>
            </a:r>
          </a:p>
          <a:p>
            <a:r>
              <a:rPr lang="en-US" dirty="0"/>
              <a:t>Finally, further reducing the synthetic–real domain gap, either by improving synthetic realism or using domain adaptation, should strengthen transfer even more.</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29</a:t>
            </a:fld>
            <a:endParaRPr lang="pt-PT"/>
          </a:p>
        </p:txBody>
      </p:sp>
    </p:spTree>
    <p:extLst>
      <p:ext uri="{BB962C8B-B14F-4D97-AF65-F5344CB8AC3E}">
        <p14:creationId xmlns:p14="http://schemas.microsoft.com/office/powerpoint/2010/main" val="19114086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ção da Imagem do Diapositivo 1"/>
          <p:cNvSpPr>
            <a:spLocks noGrp="1" noRot="1" noChangeAspect="1"/>
          </p:cNvSpPr>
          <p:nvPr>
            <p:ph type="sldImg"/>
          </p:nvPr>
        </p:nvSpPr>
        <p:spPr/>
      </p:sp>
      <p:sp>
        <p:nvSpPr>
          <p:cNvPr id="3" name="Marcador de Posição de Notas 2"/>
          <p:cNvSpPr>
            <a:spLocks noGrp="1"/>
          </p:cNvSpPr>
          <p:nvPr>
            <p:ph type="body" idx="1"/>
          </p:nvPr>
        </p:nvSpPr>
        <p:spPr/>
        <p:txBody>
          <a:bodyPr/>
          <a:lstStyle/>
          <a:p>
            <a:r>
              <a:rPr lang="en-US" dirty="0"/>
              <a:t>To conclude:</a:t>
            </a:r>
          </a:p>
          <a:p>
            <a:r>
              <a:rPr lang="en-US" dirty="0"/>
              <a:t>ResNet-50-FPN v2 with transfer gives the best overall balance of accuracy and speed on our real test set. </a:t>
            </a:r>
          </a:p>
          <a:p>
            <a:r>
              <a:rPr lang="en-US" dirty="0"/>
              <a:t>Transfer learning is key for measurement-relevant reliability, reducing count errors and bias. </a:t>
            </a:r>
          </a:p>
          <a:p>
            <a:r>
              <a:rPr lang="en-US" dirty="0"/>
              <a:t>Augmentation didn’t show consistent gains under a small test split, so it needs acquisition-informed design and broader validation. </a:t>
            </a:r>
          </a:p>
          <a:p>
            <a:r>
              <a:rPr lang="en-US" dirty="0"/>
              <a:t>Finally, the annotation study shows we can scale ground truth creation efficiently, enabling future dataset growth and more robust models.</a:t>
            </a:r>
            <a:endParaRPr lang="pt-PT" dirty="0"/>
          </a:p>
        </p:txBody>
      </p:sp>
      <p:sp>
        <p:nvSpPr>
          <p:cNvPr id="4" name="Marcador de Posição do Número do Diapositivo 3"/>
          <p:cNvSpPr>
            <a:spLocks noGrp="1"/>
          </p:cNvSpPr>
          <p:nvPr>
            <p:ph type="sldNum" sz="quarter" idx="5"/>
          </p:nvPr>
        </p:nvSpPr>
        <p:spPr/>
        <p:txBody>
          <a:bodyPr/>
          <a:lstStyle/>
          <a:p>
            <a:fld id="{A1303E6D-84AC-4745-8451-FEBAFDD15FBB}" type="slidenum">
              <a:rPr lang="pt-PT" smtClean="0"/>
              <a:t>30</a:t>
            </a:fld>
            <a:endParaRPr lang="pt-PT"/>
          </a:p>
        </p:txBody>
      </p:sp>
    </p:spTree>
    <p:extLst>
      <p:ext uri="{BB962C8B-B14F-4D97-AF65-F5344CB8AC3E}">
        <p14:creationId xmlns:p14="http://schemas.microsoft.com/office/powerpoint/2010/main" val="1686136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o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pt-PT"/>
              <a:t>Clique para editar o estilo de título do Modelo Global</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PT"/>
              <a:t>Clique para editar o estilo de subtítulo do Modelo Global</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1443216A-AFF5-4F2C-A096-590EAC4EEB79}" type="datetime1">
              <a:rPr lang="pt-PT" smtClean="0"/>
              <a:t>03/02/2026</a:t>
            </a:fld>
            <a:endParaRPr lang="pt-PT"/>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pt-PT"/>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13A9F3AB-103B-42BD-8121-9F883A719849}" type="slidenum">
              <a:rPr lang="pt-PT" smtClean="0"/>
              <a:t>‹nº›</a:t>
            </a:fld>
            <a:endParaRPr lang="pt-PT"/>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00480863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dirty="0"/>
          </a:p>
        </p:txBody>
      </p:sp>
      <p:sp>
        <p:nvSpPr>
          <p:cNvPr id="3" name="Content Placeholder 2"/>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Date Placeholder 3"/>
          <p:cNvSpPr>
            <a:spLocks noGrp="1"/>
          </p:cNvSpPr>
          <p:nvPr>
            <p:ph type="dt" sz="half" idx="10"/>
          </p:nvPr>
        </p:nvSpPr>
        <p:spPr/>
        <p:txBody>
          <a:bodyPr/>
          <a:lstStyle/>
          <a:p>
            <a:fld id="{D33F330F-4D33-4046-9F53-F9E0019A0072}" type="datetime1">
              <a:rPr lang="pt-PT" smtClean="0"/>
              <a:t>03/02/2026</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3731421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cçã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pt-PT"/>
              <a:t>Clique para editar o estilo de título do Modelo Global</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PT"/>
              <a:t>Clique para editar os estilos do texto de Modelo Global</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2DADE20-3EFB-4E70-91FF-1CA8FB45AB94}" type="datetime1">
              <a:rPr lang="pt-PT" smtClean="0"/>
              <a:t>03/02/2026</a:t>
            </a:fld>
            <a:endParaRPr lang="pt-PT"/>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pt-PT"/>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13A9F3AB-103B-42BD-8121-9F883A719849}" type="slidenum">
              <a:rPr lang="pt-PT" smtClean="0"/>
              <a:t>‹nº›</a:t>
            </a:fld>
            <a:endParaRPr lang="pt-PT"/>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31081753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pt-PT"/>
              <a:t>Clique para editar o estilo de título do Modelo Global</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5" name="Date Placeholder 4"/>
          <p:cNvSpPr>
            <a:spLocks noGrp="1"/>
          </p:cNvSpPr>
          <p:nvPr>
            <p:ph type="dt" sz="half" idx="10"/>
          </p:nvPr>
        </p:nvSpPr>
        <p:spPr/>
        <p:txBody>
          <a:bodyPr/>
          <a:lstStyle/>
          <a:p>
            <a:fld id="{4615355E-6078-4FDE-A377-A06F332C6042}" type="datetime1">
              <a:rPr lang="pt-PT" smtClean="0"/>
              <a:t>03/02/2026</a:t>
            </a:fld>
            <a:endParaRPr lang="pt-PT"/>
          </a:p>
        </p:txBody>
      </p:sp>
      <p:sp>
        <p:nvSpPr>
          <p:cNvPr id="6" name="Footer Placeholder 5"/>
          <p:cNvSpPr>
            <a:spLocks noGrp="1"/>
          </p:cNvSpPr>
          <p:nvPr>
            <p:ph type="ftr" sz="quarter" idx="11"/>
          </p:nvPr>
        </p:nvSpPr>
        <p:spPr/>
        <p:txBody>
          <a:bodyPr/>
          <a:lstStyle/>
          <a:p>
            <a:endParaRPr lang="pt-PT"/>
          </a:p>
        </p:txBody>
      </p:sp>
      <p:sp>
        <p:nvSpPr>
          <p:cNvPr id="7" name="Slide Number Placeholder 6"/>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1238324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pt-PT"/>
              <a:t>Clique para editar o estilo de título do Modelo Global</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7" name="Date Placeholder 6"/>
          <p:cNvSpPr>
            <a:spLocks noGrp="1"/>
          </p:cNvSpPr>
          <p:nvPr>
            <p:ph type="dt" sz="half" idx="10"/>
          </p:nvPr>
        </p:nvSpPr>
        <p:spPr/>
        <p:txBody>
          <a:bodyPr/>
          <a:lstStyle/>
          <a:p>
            <a:fld id="{1FA4DBC1-73E9-4EFA-BD76-09C50B5FC8FC}" type="datetime1">
              <a:rPr lang="pt-PT" smtClean="0"/>
              <a:t>03/02/2026</a:t>
            </a:fld>
            <a:endParaRPr lang="pt-PT"/>
          </a:p>
        </p:txBody>
      </p:sp>
      <p:sp>
        <p:nvSpPr>
          <p:cNvPr id="8" name="Footer Placeholder 7"/>
          <p:cNvSpPr>
            <a:spLocks noGrp="1"/>
          </p:cNvSpPr>
          <p:nvPr>
            <p:ph type="ftr" sz="quarter" idx="11"/>
          </p:nvPr>
        </p:nvSpPr>
        <p:spPr/>
        <p:txBody>
          <a:bodyPr/>
          <a:lstStyle/>
          <a:p>
            <a:endParaRPr lang="pt-PT"/>
          </a:p>
        </p:txBody>
      </p:sp>
      <p:sp>
        <p:nvSpPr>
          <p:cNvPr id="9" name="Slide Number Placeholder 8"/>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1122024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dirty="0"/>
          </a:p>
        </p:txBody>
      </p:sp>
      <p:sp>
        <p:nvSpPr>
          <p:cNvPr id="3" name="Date Placeholder 2"/>
          <p:cNvSpPr>
            <a:spLocks noGrp="1"/>
          </p:cNvSpPr>
          <p:nvPr>
            <p:ph type="dt" sz="half" idx="10"/>
          </p:nvPr>
        </p:nvSpPr>
        <p:spPr/>
        <p:txBody>
          <a:bodyPr/>
          <a:lstStyle/>
          <a:p>
            <a:fld id="{715543F5-160B-4112-A4F7-205FAD3A2D8C}" type="datetime1">
              <a:rPr lang="pt-PT" smtClean="0"/>
              <a:t>03/02/2026</a:t>
            </a:fld>
            <a:endParaRPr lang="pt-PT"/>
          </a:p>
        </p:txBody>
      </p:sp>
      <p:sp>
        <p:nvSpPr>
          <p:cNvPr id="4" name="Footer Placeholder 3"/>
          <p:cNvSpPr>
            <a:spLocks noGrp="1"/>
          </p:cNvSpPr>
          <p:nvPr>
            <p:ph type="ftr" sz="quarter" idx="11"/>
          </p:nvPr>
        </p:nvSpPr>
        <p:spPr/>
        <p:txBody>
          <a:bodyPr/>
          <a:lstStyle/>
          <a:p>
            <a:endParaRPr lang="pt-PT"/>
          </a:p>
        </p:txBody>
      </p:sp>
      <p:sp>
        <p:nvSpPr>
          <p:cNvPr id="5" name="Slide Number Placeholder 4"/>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3710251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05B322-40B7-4D3D-BFC8-5A39721F1948}" type="datetime1">
              <a:rPr lang="pt-PT" smtClean="0"/>
              <a:t>03/02/2026</a:t>
            </a:fld>
            <a:endParaRPr lang="pt-PT"/>
          </a:p>
        </p:txBody>
      </p:sp>
      <p:sp>
        <p:nvSpPr>
          <p:cNvPr id="3" name="Footer Placeholder 2"/>
          <p:cNvSpPr>
            <a:spLocks noGrp="1"/>
          </p:cNvSpPr>
          <p:nvPr>
            <p:ph type="ftr" sz="quarter" idx="11"/>
          </p:nvPr>
        </p:nvSpPr>
        <p:spPr/>
        <p:txBody>
          <a:bodyPr/>
          <a:lstStyle/>
          <a:p>
            <a:endParaRPr lang="pt-PT"/>
          </a:p>
        </p:txBody>
      </p:sp>
      <p:sp>
        <p:nvSpPr>
          <p:cNvPr id="4" name="Slide Number Placeholder 3"/>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600638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pt-PT"/>
              <a:t>Clique para editar o estilo de título do Modelo Global</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69CDC28D-EEAF-42B8-997E-B2F6B425DBB4}" type="datetime1">
              <a:rPr lang="pt-PT" smtClean="0"/>
              <a:t>03/02/2026</a:t>
            </a:fld>
            <a:endParaRPr lang="pt-PT"/>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PT"/>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3A9F3AB-103B-42BD-8121-9F883A719849}" type="slidenum">
              <a:rPr lang="pt-PT" smtClean="0"/>
              <a:t>‹nº›</a:t>
            </a:fld>
            <a:endParaRPr lang="pt-PT"/>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61495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pt-PT"/>
              <a:t>Clique para editar o estilo de título do Modelo Global</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PT"/>
              <a:t>Clique no ícone para adicionar uma imagem</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48F772C5-F538-4ED9-A453-807512251F8B}" type="datetime1">
              <a:rPr lang="pt-PT" smtClean="0"/>
              <a:t>03/02/2026</a:t>
            </a:fld>
            <a:endParaRPr lang="pt-PT"/>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pt-PT"/>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13A9F3AB-103B-42BD-8121-9F883A719849}" type="slidenum">
              <a:rPr lang="pt-PT" smtClean="0"/>
              <a:t>‹nº›</a:t>
            </a:fld>
            <a:endParaRPr lang="pt-PT"/>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0666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PT"/>
              <a:t>Clique para editar o estilo de título do Modelo Global</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Date Placeholder 3"/>
          <p:cNvSpPr>
            <a:spLocks noGrp="1"/>
          </p:cNvSpPr>
          <p:nvPr>
            <p:ph type="dt" sz="half" idx="10"/>
          </p:nvPr>
        </p:nvSpPr>
        <p:spPr/>
        <p:txBody>
          <a:bodyPr/>
          <a:lstStyle/>
          <a:p>
            <a:fld id="{3864CB53-B898-41C5-8125-3F3FE076EBA8}" type="datetime1">
              <a:rPr lang="pt-PT" smtClean="0"/>
              <a:t>03/02/2026</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2634735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pt-PT"/>
              <a:t>Clique para editar o estilo de título do Modelo Global</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Date Placeholder 3"/>
          <p:cNvSpPr>
            <a:spLocks noGrp="1"/>
          </p:cNvSpPr>
          <p:nvPr>
            <p:ph type="dt" sz="half" idx="10"/>
          </p:nvPr>
        </p:nvSpPr>
        <p:spPr/>
        <p:txBody>
          <a:bodyPr/>
          <a:lstStyle/>
          <a:p>
            <a:fld id="{4C0BAD4C-CD64-4E2D-A5AB-8E7712E3C254}" type="datetime1">
              <a:rPr lang="pt-PT" smtClean="0"/>
              <a:t>03/02/2026</a:t>
            </a:fld>
            <a:endParaRPr lang="pt-PT"/>
          </a:p>
        </p:txBody>
      </p:sp>
      <p:sp>
        <p:nvSpPr>
          <p:cNvPr id="5" name="Footer Placeholder 4"/>
          <p:cNvSpPr>
            <a:spLocks noGrp="1"/>
          </p:cNvSpPr>
          <p:nvPr>
            <p:ph type="ftr" sz="quarter" idx="11"/>
          </p:nvPr>
        </p:nvSpPr>
        <p:spPr/>
        <p:txBody>
          <a:bodyPr/>
          <a:lstStyle/>
          <a:p>
            <a:endParaRPr lang="pt-PT"/>
          </a:p>
        </p:txBody>
      </p:sp>
      <p:sp>
        <p:nvSpPr>
          <p:cNvPr id="6" name="Slide Number Placeholder 5"/>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21925066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o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006B02-20B8-2AE2-EAD1-DD17892EB681}"/>
              </a:ext>
            </a:extLst>
          </p:cNvPr>
          <p:cNvSpPr>
            <a:spLocks noGrp="1"/>
          </p:cNvSpPr>
          <p:nvPr>
            <p:ph type="ctrTitle"/>
          </p:nvPr>
        </p:nvSpPr>
        <p:spPr>
          <a:xfrm>
            <a:off x="1524000" y="1122363"/>
            <a:ext cx="9144000" cy="2387600"/>
          </a:xfrm>
        </p:spPr>
        <p:txBody>
          <a:bodyPr anchor="b"/>
          <a:lstStyle>
            <a:lvl1pPr algn="ctr">
              <a:defRPr sz="6000"/>
            </a:lvl1pPr>
          </a:lstStyle>
          <a:p>
            <a:r>
              <a:rPr lang="pt-PT"/>
              <a:t>Clique para editar o estilo de título do Modelo Global</a:t>
            </a:r>
          </a:p>
        </p:txBody>
      </p:sp>
      <p:sp>
        <p:nvSpPr>
          <p:cNvPr id="3" name="Subtítulo 2">
            <a:extLst>
              <a:ext uri="{FF2B5EF4-FFF2-40B4-BE49-F238E27FC236}">
                <a16:creationId xmlns:a16="http://schemas.microsoft.com/office/drawing/2014/main" id="{393AFF95-71DE-ECA6-1959-82FA90C369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PT"/>
              <a:t>Clique para editar o estilo de subtítulo do Modelo Global</a:t>
            </a:r>
          </a:p>
        </p:txBody>
      </p:sp>
      <p:sp>
        <p:nvSpPr>
          <p:cNvPr id="4" name="Marcador de Posição da Data 3">
            <a:extLst>
              <a:ext uri="{FF2B5EF4-FFF2-40B4-BE49-F238E27FC236}">
                <a16:creationId xmlns:a16="http://schemas.microsoft.com/office/drawing/2014/main" id="{49CAB36F-4CD9-8F29-40C6-04D3BBFE3A32}"/>
              </a:ext>
            </a:extLst>
          </p:cNvPr>
          <p:cNvSpPr>
            <a:spLocks noGrp="1"/>
          </p:cNvSpPr>
          <p:nvPr>
            <p:ph type="dt" sz="half" idx="10"/>
          </p:nvPr>
        </p:nvSpPr>
        <p:spPr/>
        <p:txBody>
          <a:bodyPr/>
          <a:lstStyle/>
          <a:p>
            <a:fld id="{1443216A-AFF5-4F2C-A096-590EAC4EEB79}" type="datetime1">
              <a:rPr lang="pt-PT" smtClean="0"/>
              <a:t>03/02/2026</a:t>
            </a:fld>
            <a:endParaRPr lang="pt-PT"/>
          </a:p>
        </p:txBody>
      </p:sp>
      <p:sp>
        <p:nvSpPr>
          <p:cNvPr id="5" name="Marcador de Posição do Rodapé 4">
            <a:extLst>
              <a:ext uri="{FF2B5EF4-FFF2-40B4-BE49-F238E27FC236}">
                <a16:creationId xmlns:a16="http://schemas.microsoft.com/office/drawing/2014/main" id="{D46585DC-8BC8-4B80-F13B-3BFD4B838A26}"/>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1A6F42F6-C587-12D9-2548-527F3C90D346}"/>
              </a:ext>
            </a:extLst>
          </p:cNvPr>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17434566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e Obje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F583B-A882-EE4E-20A2-B34A711C88C2}"/>
              </a:ext>
            </a:extLst>
          </p:cNvPr>
          <p:cNvSpPr>
            <a:spLocks noGrp="1"/>
          </p:cNvSpPr>
          <p:nvPr>
            <p:ph type="title"/>
          </p:nvPr>
        </p:nvSpPr>
        <p:spPr/>
        <p:txBody>
          <a:body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A0377B91-7848-B540-57F1-D1EC236F5FF7}"/>
              </a:ext>
            </a:extLst>
          </p:cNvPr>
          <p:cNvSpPr>
            <a:spLocks noGrp="1"/>
          </p:cNvSpPr>
          <p:nvPr>
            <p:ph idx="1"/>
          </p:nvPr>
        </p:nvSpPr>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2B8EF259-4BDD-CF2D-1FB3-7D3C950A6E70}"/>
              </a:ext>
            </a:extLst>
          </p:cNvPr>
          <p:cNvSpPr>
            <a:spLocks noGrp="1"/>
          </p:cNvSpPr>
          <p:nvPr>
            <p:ph type="dt" sz="half" idx="10"/>
          </p:nvPr>
        </p:nvSpPr>
        <p:spPr/>
        <p:txBody>
          <a:bodyPr/>
          <a:lstStyle/>
          <a:p>
            <a:fld id="{D33F330F-4D33-4046-9F53-F9E0019A0072}" type="datetime1">
              <a:rPr lang="pt-PT" smtClean="0"/>
              <a:t>03/02/2026</a:t>
            </a:fld>
            <a:endParaRPr lang="pt-PT"/>
          </a:p>
        </p:txBody>
      </p:sp>
      <p:sp>
        <p:nvSpPr>
          <p:cNvPr id="5" name="Marcador de Posição do Rodapé 4">
            <a:extLst>
              <a:ext uri="{FF2B5EF4-FFF2-40B4-BE49-F238E27FC236}">
                <a16:creationId xmlns:a16="http://schemas.microsoft.com/office/drawing/2014/main" id="{B97A8040-C5FC-ADC4-2879-224E98C28489}"/>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D0BA2CD9-DD6D-A56E-C7C0-7127C83E90EB}"/>
              </a:ext>
            </a:extLst>
          </p:cNvPr>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2335239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Cabeçalho da Sec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9BAEAD-1363-F349-37FB-F2F5E2D4BB7C}"/>
              </a:ext>
            </a:extLst>
          </p:cNvPr>
          <p:cNvSpPr>
            <a:spLocks noGrp="1"/>
          </p:cNvSpPr>
          <p:nvPr>
            <p:ph type="title"/>
          </p:nvPr>
        </p:nvSpPr>
        <p:spPr>
          <a:xfrm>
            <a:off x="831850" y="1709738"/>
            <a:ext cx="10515600" cy="2852737"/>
          </a:xfrm>
        </p:spPr>
        <p:txBody>
          <a:bodyPr anchor="b"/>
          <a:lstStyle>
            <a:lvl1pPr>
              <a:defRPr sz="6000"/>
            </a:lvl1p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1ABB5D27-B644-D345-9A38-8B62EE1683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pt-PT"/>
              <a:t>Clique para editar os estilos do texto de Modelo Global</a:t>
            </a:r>
          </a:p>
        </p:txBody>
      </p:sp>
      <p:sp>
        <p:nvSpPr>
          <p:cNvPr id="4" name="Marcador de Posição da Data 3">
            <a:extLst>
              <a:ext uri="{FF2B5EF4-FFF2-40B4-BE49-F238E27FC236}">
                <a16:creationId xmlns:a16="http://schemas.microsoft.com/office/drawing/2014/main" id="{43F5EB25-0872-4AE4-EADC-3A9FB162893E}"/>
              </a:ext>
            </a:extLst>
          </p:cNvPr>
          <p:cNvSpPr>
            <a:spLocks noGrp="1"/>
          </p:cNvSpPr>
          <p:nvPr>
            <p:ph type="dt" sz="half" idx="10"/>
          </p:nvPr>
        </p:nvSpPr>
        <p:spPr/>
        <p:txBody>
          <a:bodyPr/>
          <a:lstStyle/>
          <a:p>
            <a:fld id="{82DADE20-3EFB-4E70-91FF-1CA8FB45AB94}" type="datetime1">
              <a:rPr lang="pt-PT" smtClean="0"/>
              <a:t>03/02/2026</a:t>
            </a:fld>
            <a:endParaRPr lang="pt-PT"/>
          </a:p>
        </p:txBody>
      </p:sp>
      <p:sp>
        <p:nvSpPr>
          <p:cNvPr id="5" name="Marcador de Posição do Rodapé 4">
            <a:extLst>
              <a:ext uri="{FF2B5EF4-FFF2-40B4-BE49-F238E27FC236}">
                <a16:creationId xmlns:a16="http://schemas.microsoft.com/office/drawing/2014/main" id="{E5B8538D-1F10-85BB-E34D-9424B872A216}"/>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A9906C2E-1BFA-72A1-56F3-5D8FC0E0BD52}"/>
              </a:ext>
            </a:extLst>
          </p:cNvPr>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28240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onteúdo Dup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8F6E96-E6F9-7428-DA4E-4B7DE5CAD4C5}"/>
              </a:ext>
            </a:extLst>
          </p:cNvPr>
          <p:cNvSpPr>
            <a:spLocks noGrp="1"/>
          </p:cNvSpPr>
          <p:nvPr>
            <p:ph type="title"/>
          </p:nvPr>
        </p:nvSpPr>
        <p:spPr/>
        <p:txBody>
          <a:body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254D260B-7CDB-235F-9965-2EEDF6299D37}"/>
              </a:ext>
            </a:extLst>
          </p:cNvPr>
          <p:cNvSpPr>
            <a:spLocks noGrp="1"/>
          </p:cNvSpPr>
          <p:nvPr>
            <p:ph sz="half" idx="1"/>
          </p:nvPr>
        </p:nvSpPr>
        <p:spPr>
          <a:xfrm>
            <a:off x="838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e Conteúdo 3">
            <a:extLst>
              <a:ext uri="{FF2B5EF4-FFF2-40B4-BE49-F238E27FC236}">
                <a16:creationId xmlns:a16="http://schemas.microsoft.com/office/drawing/2014/main" id="{C256C285-4CB7-3F35-E435-0B993A1DF7D0}"/>
              </a:ext>
            </a:extLst>
          </p:cNvPr>
          <p:cNvSpPr>
            <a:spLocks noGrp="1"/>
          </p:cNvSpPr>
          <p:nvPr>
            <p:ph sz="half" idx="2"/>
          </p:nvPr>
        </p:nvSpPr>
        <p:spPr>
          <a:xfrm>
            <a:off x="6172200" y="1825625"/>
            <a:ext cx="5181600" cy="435133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a Data 4">
            <a:extLst>
              <a:ext uri="{FF2B5EF4-FFF2-40B4-BE49-F238E27FC236}">
                <a16:creationId xmlns:a16="http://schemas.microsoft.com/office/drawing/2014/main" id="{BE0FBBF1-7C2D-0256-FCC4-B9B8E5902311}"/>
              </a:ext>
            </a:extLst>
          </p:cNvPr>
          <p:cNvSpPr>
            <a:spLocks noGrp="1"/>
          </p:cNvSpPr>
          <p:nvPr>
            <p:ph type="dt" sz="half" idx="10"/>
          </p:nvPr>
        </p:nvSpPr>
        <p:spPr/>
        <p:txBody>
          <a:bodyPr/>
          <a:lstStyle/>
          <a:p>
            <a:fld id="{4615355E-6078-4FDE-A377-A06F332C6042}" type="datetime1">
              <a:rPr lang="pt-PT" smtClean="0"/>
              <a:t>03/02/2026</a:t>
            </a:fld>
            <a:endParaRPr lang="pt-PT"/>
          </a:p>
        </p:txBody>
      </p:sp>
      <p:sp>
        <p:nvSpPr>
          <p:cNvPr id="6" name="Marcador de Posição do Rodapé 5">
            <a:extLst>
              <a:ext uri="{FF2B5EF4-FFF2-40B4-BE49-F238E27FC236}">
                <a16:creationId xmlns:a16="http://schemas.microsoft.com/office/drawing/2014/main" id="{35528213-8716-AE13-E683-B9FADE9A93F0}"/>
              </a:ext>
            </a:extLst>
          </p:cNvPr>
          <p:cNvSpPr>
            <a:spLocks noGrp="1"/>
          </p:cNvSpPr>
          <p:nvPr>
            <p:ph type="ftr" sz="quarter" idx="11"/>
          </p:nvPr>
        </p:nvSpPr>
        <p:spPr/>
        <p:txBody>
          <a:bodyPr/>
          <a:lstStyle/>
          <a:p>
            <a:endParaRPr lang="pt-PT"/>
          </a:p>
        </p:txBody>
      </p:sp>
      <p:sp>
        <p:nvSpPr>
          <p:cNvPr id="7" name="Marcador de Posição do Número do Diapositivo 6">
            <a:extLst>
              <a:ext uri="{FF2B5EF4-FFF2-40B4-BE49-F238E27FC236}">
                <a16:creationId xmlns:a16="http://schemas.microsoft.com/office/drawing/2014/main" id="{19ABF690-80FD-55E1-A206-95EDDA6D3EEA}"/>
              </a:ext>
            </a:extLst>
          </p:cNvPr>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2332856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BED0F5-6F34-7400-64E5-BA3BF7B5B528}"/>
              </a:ext>
            </a:extLst>
          </p:cNvPr>
          <p:cNvSpPr>
            <a:spLocks noGrp="1"/>
          </p:cNvSpPr>
          <p:nvPr>
            <p:ph type="title"/>
          </p:nvPr>
        </p:nvSpPr>
        <p:spPr>
          <a:xfrm>
            <a:off x="839788" y="365125"/>
            <a:ext cx="10515600" cy="1325563"/>
          </a:xfrm>
        </p:spPr>
        <p:txBody>
          <a:body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7D216407-9DC2-E9E9-76A8-42CF2E5F13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4" name="Marcador de Posição de Conteúdo 3">
            <a:extLst>
              <a:ext uri="{FF2B5EF4-FFF2-40B4-BE49-F238E27FC236}">
                <a16:creationId xmlns:a16="http://schemas.microsoft.com/office/drawing/2014/main" id="{F1D74DF2-7EC1-138D-B6B3-3D9FE047FDA7}"/>
              </a:ext>
            </a:extLst>
          </p:cNvPr>
          <p:cNvSpPr>
            <a:spLocks noGrp="1"/>
          </p:cNvSpPr>
          <p:nvPr>
            <p:ph sz="half" idx="2"/>
          </p:nvPr>
        </p:nvSpPr>
        <p:spPr>
          <a:xfrm>
            <a:off x="839788" y="2505075"/>
            <a:ext cx="5157787"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5" name="Marcador de Posição do Texto 4">
            <a:extLst>
              <a:ext uri="{FF2B5EF4-FFF2-40B4-BE49-F238E27FC236}">
                <a16:creationId xmlns:a16="http://schemas.microsoft.com/office/drawing/2014/main" id="{E03D9C33-DBEA-2D87-E2C6-2F0E07D6CAC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PT"/>
              <a:t>Clique para editar os estilos do texto de Modelo Global</a:t>
            </a:r>
          </a:p>
        </p:txBody>
      </p:sp>
      <p:sp>
        <p:nvSpPr>
          <p:cNvPr id="6" name="Marcador de Posição de Conteúdo 5">
            <a:extLst>
              <a:ext uri="{FF2B5EF4-FFF2-40B4-BE49-F238E27FC236}">
                <a16:creationId xmlns:a16="http://schemas.microsoft.com/office/drawing/2014/main" id="{CF3CB50B-67F6-B07F-79B8-27B6143D4474}"/>
              </a:ext>
            </a:extLst>
          </p:cNvPr>
          <p:cNvSpPr>
            <a:spLocks noGrp="1"/>
          </p:cNvSpPr>
          <p:nvPr>
            <p:ph sz="quarter" idx="4"/>
          </p:nvPr>
        </p:nvSpPr>
        <p:spPr>
          <a:xfrm>
            <a:off x="6172200" y="2505075"/>
            <a:ext cx="5183188" cy="3684588"/>
          </a:xfrm>
        </p:spPr>
        <p:txBody>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7" name="Marcador de Posição da Data 6">
            <a:extLst>
              <a:ext uri="{FF2B5EF4-FFF2-40B4-BE49-F238E27FC236}">
                <a16:creationId xmlns:a16="http://schemas.microsoft.com/office/drawing/2014/main" id="{DF446C13-5BBC-B5B9-D93C-B192EE568EBB}"/>
              </a:ext>
            </a:extLst>
          </p:cNvPr>
          <p:cNvSpPr>
            <a:spLocks noGrp="1"/>
          </p:cNvSpPr>
          <p:nvPr>
            <p:ph type="dt" sz="half" idx="10"/>
          </p:nvPr>
        </p:nvSpPr>
        <p:spPr/>
        <p:txBody>
          <a:bodyPr/>
          <a:lstStyle/>
          <a:p>
            <a:fld id="{1FA4DBC1-73E9-4EFA-BD76-09C50B5FC8FC}" type="datetime1">
              <a:rPr lang="pt-PT" smtClean="0"/>
              <a:t>03/02/2026</a:t>
            </a:fld>
            <a:endParaRPr lang="pt-PT"/>
          </a:p>
        </p:txBody>
      </p:sp>
      <p:sp>
        <p:nvSpPr>
          <p:cNvPr id="8" name="Marcador de Posição do Rodapé 7">
            <a:extLst>
              <a:ext uri="{FF2B5EF4-FFF2-40B4-BE49-F238E27FC236}">
                <a16:creationId xmlns:a16="http://schemas.microsoft.com/office/drawing/2014/main" id="{799AFA1C-DA45-5783-069C-E29F3C7C4456}"/>
              </a:ext>
            </a:extLst>
          </p:cNvPr>
          <p:cNvSpPr>
            <a:spLocks noGrp="1"/>
          </p:cNvSpPr>
          <p:nvPr>
            <p:ph type="ftr" sz="quarter" idx="11"/>
          </p:nvPr>
        </p:nvSpPr>
        <p:spPr/>
        <p:txBody>
          <a:bodyPr/>
          <a:lstStyle/>
          <a:p>
            <a:endParaRPr lang="pt-PT"/>
          </a:p>
        </p:txBody>
      </p:sp>
      <p:sp>
        <p:nvSpPr>
          <p:cNvPr id="9" name="Marcador de Posição do Número do Diapositivo 8">
            <a:extLst>
              <a:ext uri="{FF2B5EF4-FFF2-40B4-BE49-F238E27FC236}">
                <a16:creationId xmlns:a16="http://schemas.microsoft.com/office/drawing/2014/main" id="{7D550A39-BCF4-EE99-DE49-9CADD3ADC1EC}"/>
              </a:ext>
            </a:extLst>
          </p:cNvPr>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33085061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81787-4595-23F3-5C8D-A1D45CBACC45}"/>
              </a:ext>
            </a:extLst>
          </p:cNvPr>
          <p:cNvSpPr>
            <a:spLocks noGrp="1"/>
          </p:cNvSpPr>
          <p:nvPr>
            <p:ph type="title"/>
          </p:nvPr>
        </p:nvSpPr>
        <p:spPr/>
        <p:txBody>
          <a:bodyPr/>
          <a:lstStyle/>
          <a:p>
            <a:r>
              <a:rPr lang="pt-PT"/>
              <a:t>Clique para editar o estilo de título do Modelo Global</a:t>
            </a:r>
          </a:p>
        </p:txBody>
      </p:sp>
      <p:sp>
        <p:nvSpPr>
          <p:cNvPr id="3" name="Marcador de Posição da Data 2">
            <a:extLst>
              <a:ext uri="{FF2B5EF4-FFF2-40B4-BE49-F238E27FC236}">
                <a16:creationId xmlns:a16="http://schemas.microsoft.com/office/drawing/2014/main" id="{B0DFAD5C-6BB6-C6F6-7970-7F3B72696F9C}"/>
              </a:ext>
            </a:extLst>
          </p:cNvPr>
          <p:cNvSpPr>
            <a:spLocks noGrp="1"/>
          </p:cNvSpPr>
          <p:nvPr>
            <p:ph type="dt" sz="half" idx="10"/>
          </p:nvPr>
        </p:nvSpPr>
        <p:spPr/>
        <p:txBody>
          <a:bodyPr/>
          <a:lstStyle/>
          <a:p>
            <a:fld id="{715543F5-160B-4112-A4F7-205FAD3A2D8C}" type="datetime1">
              <a:rPr lang="pt-PT" smtClean="0"/>
              <a:t>03/02/2026</a:t>
            </a:fld>
            <a:endParaRPr lang="pt-PT"/>
          </a:p>
        </p:txBody>
      </p:sp>
      <p:sp>
        <p:nvSpPr>
          <p:cNvPr id="4" name="Marcador de Posição do Rodapé 3">
            <a:extLst>
              <a:ext uri="{FF2B5EF4-FFF2-40B4-BE49-F238E27FC236}">
                <a16:creationId xmlns:a16="http://schemas.microsoft.com/office/drawing/2014/main" id="{5552E961-ABAB-DEFA-01CF-D196DF76E45A}"/>
              </a:ext>
            </a:extLst>
          </p:cNvPr>
          <p:cNvSpPr>
            <a:spLocks noGrp="1"/>
          </p:cNvSpPr>
          <p:nvPr>
            <p:ph type="ftr" sz="quarter" idx="11"/>
          </p:nvPr>
        </p:nvSpPr>
        <p:spPr/>
        <p:txBody>
          <a:bodyPr/>
          <a:lstStyle/>
          <a:p>
            <a:endParaRPr lang="pt-PT"/>
          </a:p>
        </p:txBody>
      </p:sp>
      <p:sp>
        <p:nvSpPr>
          <p:cNvPr id="5" name="Marcador de Posição do Número do Diapositivo 4">
            <a:extLst>
              <a:ext uri="{FF2B5EF4-FFF2-40B4-BE49-F238E27FC236}">
                <a16:creationId xmlns:a16="http://schemas.microsoft.com/office/drawing/2014/main" id="{6A6C022E-BE55-6698-6B4E-8FC7D0FD3396}"/>
              </a:ext>
            </a:extLst>
          </p:cNvPr>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6988360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Marcador de Posição da Data 1">
            <a:extLst>
              <a:ext uri="{FF2B5EF4-FFF2-40B4-BE49-F238E27FC236}">
                <a16:creationId xmlns:a16="http://schemas.microsoft.com/office/drawing/2014/main" id="{E956F528-5F2C-3365-FA3F-658D3B3CA5EE}"/>
              </a:ext>
            </a:extLst>
          </p:cNvPr>
          <p:cNvSpPr>
            <a:spLocks noGrp="1"/>
          </p:cNvSpPr>
          <p:nvPr>
            <p:ph type="dt" sz="half" idx="10"/>
          </p:nvPr>
        </p:nvSpPr>
        <p:spPr/>
        <p:txBody>
          <a:bodyPr/>
          <a:lstStyle/>
          <a:p>
            <a:fld id="{A605B322-40B7-4D3D-BFC8-5A39721F1948}" type="datetime1">
              <a:rPr lang="pt-PT" smtClean="0"/>
              <a:t>03/02/2026</a:t>
            </a:fld>
            <a:endParaRPr lang="pt-PT"/>
          </a:p>
        </p:txBody>
      </p:sp>
      <p:sp>
        <p:nvSpPr>
          <p:cNvPr id="3" name="Marcador de Posição do Rodapé 2">
            <a:extLst>
              <a:ext uri="{FF2B5EF4-FFF2-40B4-BE49-F238E27FC236}">
                <a16:creationId xmlns:a16="http://schemas.microsoft.com/office/drawing/2014/main" id="{05BBD483-A8C6-1EDC-79EF-7138E5F5493D}"/>
              </a:ext>
            </a:extLst>
          </p:cNvPr>
          <p:cNvSpPr>
            <a:spLocks noGrp="1"/>
          </p:cNvSpPr>
          <p:nvPr>
            <p:ph type="ftr" sz="quarter" idx="11"/>
          </p:nvPr>
        </p:nvSpPr>
        <p:spPr/>
        <p:txBody>
          <a:bodyPr/>
          <a:lstStyle/>
          <a:p>
            <a:endParaRPr lang="pt-PT"/>
          </a:p>
        </p:txBody>
      </p:sp>
      <p:sp>
        <p:nvSpPr>
          <p:cNvPr id="4" name="Marcador de Posição do Número do Diapositivo 3">
            <a:extLst>
              <a:ext uri="{FF2B5EF4-FFF2-40B4-BE49-F238E27FC236}">
                <a16:creationId xmlns:a16="http://schemas.microsoft.com/office/drawing/2014/main" id="{6CC4BCE9-0BF4-B2B5-9EC4-D1E462028774}"/>
              </a:ext>
            </a:extLst>
          </p:cNvPr>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17763468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E20EA1-A332-0EA6-E2C3-B2DE25D0A318}"/>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p>
        </p:txBody>
      </p:sp>
      <p:sp>
        <p:nvSpPr>
          <p:cNvPr id="3" name="Marcador de Posição de Conteúdo 2">
            <a:extLst>
              <a:ext uri="{FF2B5EF4-FFF2-40B4-BE49-F238E27FC236}">
                <a16:creationId xmlns:a16="http://schemas.microsoft.com/office/drawing/2014/main" id="{4C849763-5C77-82B9-E7EC-BD6D51C6ED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o Texto 3">
            <a:extLst>
              <a:ext uri="{FF2B5EF4-FFF2-40B4-BE49-F238E27FC236}">
                <a16:creationId xmlns:a16="http://schemas.microsoft.com/office/drawing/2014/main" id="{CA27866A-7F16-BDEE-11D2-1F94201FAB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ED04BED1-1765-5848-7730-023FA5DA5B98}"/>
              </a:ext>
            </a:extLst>
          </p:cNvPr>
          <p:cNvSpPr>
            <a:spLocks noGrp="1"/>
          </p:cNvSpPr>
          <p:nvPr>
            <p:ph type="dt" sz="half" idx="10"/>
          </p:nvPr>
        </p:nvSpPr>
        <p:spPr/>
        <p:txBody>
          <a:bodyPr/>
          <a:lstStyle/>
          <a:p>
            <a:fld id="{69CDC28D-EEAF-42B8-997E-B2F6B425DBB4}" type="datetime1">
              <a:rPr lang="pt-PT" smtClean="0"/>
              <a:t>03/02/2026</a:t>
            </a:fld>
            <a:endParaRPr lang="pt-PT"/>
          </a:p>
        </p:txBody>
      </p:sp>
      <p:sp>
        <p:nvSpPr>
          <p:cNvPr id="6" name="Marcador de Posição do Rodapé 5">
            <a:extLst>
              <a:ext uri="{FF2B5EF4-FFF2-40B4-BE49-F238E27FC236}">
                <a16:creationId xmlns:a16="http://schemas.microsoft.com/office/drawing/2014/main" id="{9136E94B-62C7-6B06-0986-D31CEAA2B18D}"/>
              </a:ext>
            </a:extLst>
          </p:cNvPr>
          <p:cNvSpPr>
            <a:spLocks noGrp="1"/>
          </p:cNvSpPr>
          <p:nvPr>
            <p:ph type="ftr" sz="quarter" idx="11"/>
          </p:nvPr>
        </p:nvSpPr>
        <p:spPr/>
        <p:txBody>
          <a:bodyPr/>
          <a:lstStyle/>
          <a:p>
            <a:endParaRPr lang="pt-PT"/>
          </a:p>
        </p:txBody>
      </p:sp>
      <p:sp>
        <p:nvSpPr>
          <p:cNvPr id="7" name="Marcador de Posição do Número do Diapositivo 6">
            <a:extLst>
              <a:ext uri="{FF2B5EF4-FFF2-40B4-BE49-F238E27FC236}">
                <a16:creationId xmlns:a16="http://schemas.microsoft.com/office/drawing/2014/main" id="{C64362ED-6492-8A79-9C68-BDC8CA9CD339}"/>
              </a:ext>
            </a:extLst>
          </p:cNvPr>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40766363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0A35DD-055C-0896-3638-946555EF0551}"/>
              </a:ext>
            </a:extLst>
          </p:cNvPr>
          <p:cNvSpPr>
            <a:spLocks noGrp="1"/>
          </p:cNvSpPr>
          <p:nvPr>
            <p:ph type="title"/>
          </p:nvPr>
        </p:nvSpPr>
        <p:spPr>
          <a:xfrm>
            <a:off x="839788" y="457200"/>
            <a:ext cx="3932237" cy="1600200"/>
          </a:xfrm>
        </p:spPr>
        <p:txBody>
          <a:bodyPr anchor="b"/>
          <a:lstStyle>
            <a:lvl1pPr>
              <a:defRPr sz="3200"/>
            </a:lvl1pPr>
          </a:lstStyle>
          <a:p>
            <a:r>
              <a:rPr lang="pt-PT"/>
              <a:t>Clique para editar o estilo de título do Modelo Global</a:t>
            </a:r>
          </a:p>
        </p:txBody>
      </p:sp>
      <p:sp>
        <p:nvSpPr>
          <p:cNvPr id="3" name="Marcador de Posição da Imagem 2">
            <a:extLst>
              <a:ext uri="{FF2B5EF4-FFF2-40B4-BE49-F238E27FC236}">
                <a16:creationId xmlns:a16="http://schemas.microsoft.com/office/drawing/2014/main" id="{8DD02145-E0ED-CD50-E678-AA8D1574E4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PT"/>
          </a:p>
        </p:txBody>
      </p:sp>
      <p:sp>
        <p:nvSpPr>
          <p:cNvPr id="4" name="Marcador de Posição do Texto 3">
            <a:extLst>
              <a:ext uri="{FF2B5EF4-FFF2-40B4-BE49-F238E27FC236}">
                <a16:creationId xmlns:a16="http://schemas.microsoft.com/office/drawing/2014/main" id="{0F1BDC05-7B9F-253E-D74D-1309E364F6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PT"/>
              <a:t>Clique para editar os estilos do texto de Modelo Global</a:t>
            </a:r>
          </a:p>
        </p:txBody>
      </p:sp>
      <p:sp>
        <p:nvSpPr>
          <p:cNvPr id="5" name="Marcador de Posição da Data 4">
            <a:extLst>
              <a:ext uri="{FF2B5EF4-FFF2-40B4-BE49-F238E27FC236}">
                <a16:creationId xmlns:a16="http://schemas.microsoft.com/office/drawing/2014/main" id="{4BFF6A46-B73D-91DC-554E-546F89856037}"/>
              </a:ext>
            </a:extLst>
          </p:cNvPr>
          <p:cNvSpPr>
            <a:spLocks noGrp="1"/>
          </p:cNvSpPr>
          <p:nvPr>
            <p:ph type="dt" sz="half" idx="10"/>
          </p:nvPr>
        </p:nvSpPr>
        <p:spPr/>
        <p:txBody>
          <a:bodyPr/>
          <a:lstStyle/>
          <a:p>
            <a:fld id="{48F772C5-F538-4ED9-A453-807512251F8B}" type="datetime1">
              <a:rPr lang="pt-PT" smtClean="0"/>
              <a:t>03/02/2026</a:t>
            </a:fld>
            <a:endParaRPr lang="pt-PT"/>
          </a:p>
        </p:txBody>
      </p:sp>
      <p:sp>
        <p:nvSpPr>
          <p:cNvPr id="6" name="Marcador de Posição do Rodapé 5">
            <a:extLst>
              <a:ext uri="{FF2B5EF4-FFF2-40B4-BE49-F238E27FC236}">
                <a16:creationId xmlns:a16="http://schemas.microsoft.com/office/drawing/2014/main" id="{A5EDFB70-A8B6-BAA1-44A7-0F36D648FAC0}"/>
              </a:ext>
            </a:extLst>
          </p:cNvPr>
          <p:cNvSpPr>
            <a:spLocks noGrp="1"/>
          </p:cNvSpPr>
          <p:nvPr>
            <p:ph type="ftr" sz="quarter" idx="11"/>
          </p:nvPr>
        </p:nvSpPr>
        <p:spPr/>
        <p:txBody>
          <a:bodyPr/>
          <a:lstStyle/>
          <a:p>
            <a:endParaRPr lang="pt-PT"/>
          </a:p>
        </p:txBody>
      </p:sp>
      <p:sp>
        <p:nvSpPr>
          <p:cNvPr id="7" name="Marcador de Posição do Número do Diapositivo 6">
            <a:extLst>
              <a:ext uri="{FF2B5EF4-FFF2-40B4-BE49-F238E27FC236}">
                <a16:creationId xmlns:a16="http://schemas.microsoft.com/office/drawing/2014/main" id="{9D366FE2-0580-2BEA-1012-B9032C44E219}"/>
              </a:ext>
            </a:extLst>
          </p:cNvPr>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33248384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72F760-E1EE-7A6E-4EDB-73A2387FB7E4}"/>
              </a:ext>
            </a:extLst>
          </p:cNvPr>
          <p:cNvSpPr>
            <a:spLocks noGrp="1"/>
          </p:cNvSpPr>
          <p:nvPr>
            <p:ph type="title"/>
          </p:nvPr>
        </p:nvSpPr>
        <p:spPr/>
        <p:txBody>
          <a:bodyPr/>
          <a:lstStyle/>
          <a:p>
            <a:r>
              <a:rPr lang="pt-PT"/>
              <a:t>Clique para editar o estilo de título do Modelo Global</a:t>
            </a:r>
          </a:p>
        </p:txBody>
      </p:sp>
      <p:sp>
        <p:nvSpPr>
          <p:cNvPr id="3" name="Marcador de Posição de Texto Vertical 2">
            <a:extLst>
              <a:ext uri="{FF2B5EF4-FFF2-40B4-BE49-F238E27FC236}">
                <a16:creationId xmlns:a16="http://schemas.microsoft.com/office/drawing/2014/main" id="{EF9BC2A1-062B-2504-D672-A4EE51B8521A}"/>
              </a:ext>
            </a:extLst>
          </p:cNvPr>
          <p:cNvSpPr>
            <a:spLocks noGrp="1"/>
          </p:cNvSpPr>
          <p:nvPr>
            <p:ph type="body" orient="vert" idx="1"/>
          </p:nvPr>
        </p:nvSpPr>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C382170F-12C8-4B68-FEA0-FB9B16EA7340}"/>
              </a:ext>
            </a:extLst>
          </p:cNvPr>
          <p:cNvSpPr>
            <a:spLocks noGrp="1"/>
          </p:cNvSpPr>
          <p:nvPr>
            <p:ph type="dt" sz="half" idx="10"/>
          </p:nvPr>
        </p:nvSpPr>
        <p:spPr/>
        <p:txBody>
          <a:bodyPr/>
          <a:lstStyle/>
          <a:p>
            <a:fld id="{3864CB53-B898-41C5-8125-3F3FE076EBA8}" type="datetime1">
              <a:rPr lang="pt-PT" smtClean="0"/>
              <a:t>03/02/2026</a:t>
            </a:fld>
            <a:endParaRPr lang="pt-PT"/>
          </a:p>
        </p:txBody>
      </p:sp>
      <p:sp>
        <p:nvSpPr>
          <p:cNvPr id="5" name="Marcador de Posição do Rodapé 4">
            <a:extLst>
              <a:ext uri="{FF2B5EF4-FFF2-40B4-BE49-F238E27FC236}">
                <a16:creationId xmlns:a16="http://schemas.microsoft.com/office/drawing/2014/main" id="{3E89B63F-473C-B86F-3FF1-3D7A7FFA5596}"/>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14033732-BAC7-C2F9-86D7-E8DA2492DEB9}"/>
              </a:ext>
            </a:extLst>
          </p:cNvPr>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13615276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e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4592467E-8F3D-14A8-CDE2-DEE968742766}"/>
              </a:ext>
            </a:extLst>
          </p:cNvPr>
          <p:cNvSpPr>
            <a:spLocks noGrp="1"/>
          </p:cNvSpPr>
          <p:nvPr>
            <p:ph type="title" orient="vert"/>
          </p:nvPr>
        </p:nvSpPr>
        <p:spPr>
          <a:xfrm>
            <a:off x="8724900" y="365125"/>
            <a:ext cx="2628900" cy="5811838"/>
          </a:xfrm>
        </p:spPr>
        <p:txBody>
          <a:bodyPr vert="eaVert"/>
          <a:lstStyle/>
          <a:p>
            <a:r>
              <a:rPr lang="pt-PT"/>
              <a:t>Clique para editar o estilo de título do Modelo Global</a:t>
            </a:r>
          </a:p>
        </p:txBody>
      </p:sp>
      <p:sp>
        <p:nvSpPr>
          <p:cNvPr id="3" name="Marcador de Posição de Texto Vertical 2">
            <a:extLst>
              <a:ext uri="{FF2B5EF4-FFF2-40B4-BE49-F238E27FC236}">
                <a16:creationId xmlns:a16="http://schemas.microsoft.com/office/drawing/2014/main" id="{8C6A3933-B0A7-168A-6195-15BD4A627F8D}"/>
              </a:ext>
            </a:extLst>
          </p:cNvPr>
          <p:cNvSpPr>
            <a:spLocks noGrp="1"/>
          </p:cNvSpPr>
          <p:nvPr>
            <p:ph type="body" orient="vert" idx="1"/>
          </p:nvPr>
        </p:nvSpPr>
        <p:spPr>
          <a:xfrm>
            <a:off x="838200" y="365125"/>
            <a:ext cx="7734300" cy="5811838"/>
          </a:xfrm>
        </p:spPr>
        <p:txBody>
          <a:bodyPr vert="eaVert"/>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5EE6728C-991B-E68A-32D1-CB8217300423}"/>
              </a:ext>
            </a:extLst>
          </p:cNvPr>
          <p:cNvSpPr>
            <a:spLocks noGrp="1"/>
          </p:cNvSpPr>
          <p:nvPr>
            <p:ph type="dt" sz="half" idx="10"/>
          </p:nvPr>
        </p:nvSpPr>
        <p:spPr/>
        <p:txBody>
          <a:bodyPr/>
          <a:lstStyle/>
          <a:p>
            <a:fld id="{4C0BAD4C-CD64-4E2D-A5AB-8E7712E3C254}" type="datetime1">
              <a:rPr lang="pt-PT" smtClean="0"/>
              <a:t>03/02/2026</a:t>
            </a:fld>
            <a:endParaRPr lang="pt-PT"/>
          </a:p>
        </p:txBody>
      </p:sp>
      <p:sp>
        <p:nvSpPr>
          <p:cNvPr id="5" name="Marcador de Posição do Rodapé 4">
            <a:extLst>
              <a:ext uri="{FF2B5EF4-FFF2-40B4-BE49-F238E27FC236}">
                <a16:creationId xmlns:a16="http://schemas.microsoft.com/office/drawing/2014/main" id="{E19966C4-075E-C142-D4D5-D38DFFCF5FD9}"/>
              </a:ext>
            </a:extLst>
          </p:cNvPr>
          <p:cNvSpPr>
            <a:spLocks noGrp="1"/>
          </p:cNvSpPr>
          <p:nvPr>
            <p:ph type="ftr" sz="quarter" idx="11"/>
          </p:nvPr>
        </p:nvSpPr>
        <p:spPr/>
        <p:txBody>
          <a:bodyPr/>
          <a:lstStyle/>
          <a:p>
            <a:endParaRPr lang="pt-PT"/>
          </a:p>
        </p:txBody>
      </p:sp>
      <p:sp>
        <p:nvSpPr>
          <p:cNvPr id="6" name="Marcador de Posição do Número do Diapositivo 5">
            <a:extLst>
              <a:ext uri="{FF2B5EF4-FFF2-40B4-BE49-F238E27FC236}">
                <a16:creationId xmlns:a16="http://schemas.microsoft.com/office/drawing/2014/main" id="{240D14A4-4047-3C0A-884E-56E1C62F22F0}"/>
              </a:ext>
            </a:extLst>
          </p:cNvPr>
          <p:cNvSpPr>
            <a:spLocks noGrp="1"/>
          </p:cNvSpPr>
          <p:nvPr>
            <p:ph type="sldNum" sz="quarter" idx="12"/>
          </p:nvPr>
        </p:nvSpPr>
        <p:spPr/>
        <p:txBody>
          <a:bodyPr/>
          <a:lstStyle/>
          <a:p>
            <a:fld id="{13A9F3AB-103B-42BD-8121-9F883A719849}" type="slidenum">
              <a:rPr lang="pt-PT" smtClean="0"/>
              <a:t>‹nº›</a:t>
            </a:fld>
            <a:endParaRPr lang="pt-PT"/>
          </a:p>
        </p:txBody>
      </p:sp>
    </p:spTree>
    <p:extLst>
      <p:ext uri="{BB962C8B-B14F-4D97-AF65-F5344CB8AC3E}">
        <p14:creationId xmlns:p14="http://schemas.microsoft.com/office/powerpoint/2010/main" val="40255239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pt-PT"/>
              <a:t>Clique para editar o estilo de título do Modelo Global</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25CF00BA-CECA-4F89-A4F4-411526F6F6B7}" type="datetime1">
              <a:rPr lang="pt-PT" smtClean="0"/>
              <a:t>03/02/2026</a:t>
            </a:fld>
            <a:endParaRPr lang="pt-PT"/>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pt-PT"/>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13A9F3AB-103B-42BD-8121-9F883A719849}" type="slidenum">
              <a:rPr lang="pt-PT" smtClean="0"/>
              <a:t>‹nº›</a:t>
            </a:fld>
            <a:endParaRPr lang="pt-PT"/>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804429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Título 1">
            <a:extLst>
              <a:ext uri="{FF2B5EF4-FFF2-40B4-BE49-F238E27FC236}">
                <a16:creationId xmlns:a16="http://schemas.microsoft.com/office/drawing/2014/main" id="{798803B8-F6A9-6DDE-7A19-9F335F8D93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a:t>Clique para editar o estilo de título do Modelo Global</a:t>
            </a:r>
          </a:p>
        </p:txBody>
      </p:sp>
      <p:sp>
        <p:nvSpPr>
          <p:cNvPr id="3" name="Marcador de Posição do Texto 2">
            <a:extLst>
              <a:ext uri="{FF2B5EF4-FFF2-40B4-BE49-F238E27FC236}">
                <a16:creationId xmlns:a16="http://schemas.microsoft.com/office/drawing/2014/main" id="{C5F8F572-8B36-91D4-2555-B9F97727EF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a:t>Clique para editar os estilos do texto de Modelo Global</a:t>
            </a:r>
          </a:p>
          <a:p>
            <a:pPr lvl="1"/>
            <a:r>
              <a:rPr lang="pt-PT"/>
              <a:t>Segundo nível</a:t>
            </a:r>
          </a:p>
          <a:p>
            <a:pPr lvl="2"/>
            <a:r>
              <a:rPr lang="pt-PT"/>
              <a:t>Terceiro nível</a:t>
            </a:r>
          </a:p>
          <a:p>
            <a:pPr lvl="3"/>
            <a:r>
              <a:rPr lang="pt-PT"/>
              <a:t>Quarto nível</a:t>
            </a:r>
          </a:p>
          <a:p>
            <a:pPr lvl="4"/>
            <a:r>
              <a:rPr lang="pt-PT"/>
              <a:t>Quinto nível</a:t>
            </a:r>
          </a:p>
        </p:txBody>
      </p:sp>
      <p:sp>
        <p:nvSpPr>
          <p:cNvPr id="4" name="Marcador de Posição da Data 3">
            <a:extLst>
              <a:ext uri="{FF2B5EF4-FFF2-40B4-BE49-F238E27FC236}">
                <a16:creationId xmlns:a16="http://schemas.microsoft.com/office/drawing/2014/main" id="{B31E9E3B-9574-64C1-88B4-C0E6037B58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5CF00BA-CECA-4F89-A4F4-411526F6F6B7}" type="datetime1">
              <a:rPr lang="pt-PT" smtClean="0"/>
              <a:t>03/02/2026</a:t>
            </a:fld>
            <a:endParaRPr lang="pt-PT"/>
          </a:p>
        </p:txBody>
      </p:sp>
      <p:sp>
        <p:nvSpPr>
          <p:cNvPr id="5" name="Marcador de Posição do Rodapé 4">
            <a:extLst>
              <a:ext uri="{FF2B5EF4-FFF2-40B4-BE49-F238E27FC236}">
                <a16:creationId xmlns:a16="http://schemas.microsoft.com/office/drawing/2014/main" id="{387B55C4-DB09-FAA2-57D0-1D2EE9087C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pt-PT"/>
          </a:p>
        </p:txBody>
      </p:sp>
      <p:sp>
        <p:nvSpPr>
          <p:cNvPr id="6" name="Marcador de Posição do Número do Diapositivo 5">
            <a:extLst>
              <a:ext uri="{FF2B5EF4-FFF2-40B4-BE49-F238E27FC236}">
                <a16:creationId xmlns:a16="http://schemas.microsoft.com/office/drawing/2014/main" id="{1342D1CD-A0C9-89E7-D917-E97ED02F79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A9F3AB-103B-42BD-8121-9F883A719849}" type="slidenum">
              <a:rPr lang="pt-PT" smtClean="0"/>
              <a:t>‹nº›</a:t>
            </a:fld>
            <a:endParaRPr lang="pt-PT"/>
          </a:p>
        </p:txBody>
      </p:sp>
    </p:spTree>
    <p:extLst>
      <p:ext uri="{BB962C8B-B14F-4D97-AF65-F5344CB8AC3E}">
        <p14:creationId xmlns:p14="http://schemas.microsoft.com/office/powerpoint/2010/main" val="3859589462"/>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0.png"/><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7.png"/><Relationship Id="rId7"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13.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13.xml"/><Relationship Id="rId5" Type="http://schemas.openxmlformats.org/officeDocument/2006/relationships/image" Target="../media/image48.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5.jpe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484829" y="1752839"/>
            <a:ext cx="9144000" cy="2387600"/>
          </a:xfrm>
        </p:spPr>
        <p:txBody>
          <a:bodyPr>
            <a:noAutofit/>
          </a:bodyPr>
          <a:lstStyle/>
          <a:p>
            <a:r>
              <a:rPr lang="en-US" sz="4400" cap="none" dirty="0">
                <a:latin typeface="+mn-lt"/>
                <a:ea typeface="+mj-lt"/>
                <a:cs typeface="+mj-lt"/>
              </a:rPr>
              <a:t>Exploratory Analysis of Segmentation Techniques for Multiphase Flow Experimental Images</a:t>
            </a:r>
            <a:endParaRPr lang="en-US" sz="4400" cap="none" dirty="0">
              <a:latin typeface="+mn-lt"/>
            </a:endParaRPr>
          </a:p>
        </p:txBody>
      </p:sp>
      <p:sp>
        <p:nvSpPr>
          <p:cNvPr id="3" name="Subtitle 2"/>
          <p:cNvSpPr>
            <a:spLocks noGrp="1"/>
          </p:cNvSpPr>
          <p:nvPr>
            <p:ph type="subTitle" idx="1"/>
          </p:nvPr>
        </p:nvSpPr>
        <p:spPr>
          <a:xfrm>
            <a:off x="1430055" y="5105161"/>
            <a:ext cx="9144000" cy="1655762"/>
          </a:xfrm>
        </p:spPr>
        <p:txBody>
          <a:bodyPr vert="horz" lIns="91440" tIns="45720" rIns="91440" bIns="45720" rtlCol="0" anchor="t">
            <a:normAutofit/>
          </a:bodyPr>
          <a:lstStyle/>
          <a:p>
            <a:r>
              <a:rPr lang="en-US" dirty="0"/>
              <a:t>Author: Jorge Costa</a:t>
            </a:r>
          </a:p>
          <a:p>
            <a:r>
              <a:rPr lang="en-US" dirty="0"/>
              <a:t>Supervisors: </a:t>
            </a:r>
            <a:r>
              <a:rPr lang="en-US" dirty="0">
                <a:ea typeface="+mn-lt"/>
                <a:cs typeface="+mn-lt"/>
              </a:rPr>
              <a:t>Mónica Silva, Zafeiris </a:t>
            </a:r>
            <a:r>
              <a:rPr lang="en-US" err="1">
                <a:ea typeface="+mn-lt"/>
                <a:cs typeface="+mn-lt"/>
              </a:rPr>
              <a:t>Kokkinogenis</a:t>
            </a:r>
            <a:endParaRPr lang="en-US">
              <a:ea typeface="+mn-lt"/>
              <a:cs typeface="+mn-lt"/>
            </a:endParaRPr>
          </a:p>
          <a:p>
            <a:r>
              <a:rPr lang="en-US" dirty="0"/>
              <a:t>04-02-2026</a:t>
            </a:r>
          </a:p>
        </p:txBody>
      </p:sp>
      <p:sp>
        <p:nvSpPr>
          <p:cNvPr id="7" name="Marcador de Posição do Número do Diapositivo 6">
            <a:extLst>
              <a:ext uri="{FF2B5EF4-FFF2-40B4-BE49-F238E27FC236}">
                <a16:creationId xmlns:a16="http://schemas.microsoft.com/office/drawing/2014/main" id="{5B24BEBE-95F8-C594-DC8D-8AB8F2286521}"/>
              </a:ext>
            </a:extLst>
          </p:cNvPr>
          <p:cNvSpPr>
            <a:spLocks noGrp="1"/>
          </p:cNvSpPr>
          <p:nvPr>
            <p:ph type="sldNum" sz="quarter" idx="12"/>
          </p:nvPr>
        </p:nvSpPr>
        <p:spPr/>
        <p:txBody>
          <a:bodyPr/>
          <a:lstStyle/>
          <a:p>
            <a:fld id="{13A9F3AB-103B-42BD-8121-9F883A719849}" type="slidenum">
              <a:rPr lang="pt-PT" smtClean="0"/>
              <a:t>1</a:t>
            </a:fld>
            <a:endParaRPr lang="pt-PT"/>
          </a:p>
        </p:txBody>
      </p:sp>
      <p:pic>
        <p:nvPicPr>
          <p:cNvPr id="5" name="Imagem 4" descr="Uma imagem com texto, captura de ecrã, Gráficos, preto&#10;&#10;Os conteúdos gerados por IA podem estar incorretos.">
            <a:extLst>
              <a:ext uri="{FF2B5EF4-FFF2-40B4-BE49-F238E27FC236}">
                <a16:creationId xmlns:a16="http://schemas.microsoft.com/office/drawing/2014/main" id="{3408BE02-9BE3-2D81-1215-DADD147AFD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8967" y="326460"/>
            <a:ext cx="2887783" cy="887746"/>
          </a:xfrm>
          <a:prstGeom prst="rect">
            <a:avLst/>
          </a:prstGeom>
        </p:spPr>
      </p:pic>
      <p:pic>
        <p:nvPicPr>
          <p:cNvPr id="8" name="Imagem 7" descr="Uma imagem com Tipo de letra, Gráficos, captura de ecrã, design&#10;&#10;Os conteúdos gerados por IA podem estar incorretos.">
            <a:extLst>
              <a:ext uri="{FF2B5EF4-FFF2-40B4-BE49-F238E27FC236}">
                <a16:creationId xmlns:a16="http://schemas.microsoft.com/office/drawing/2014/main" id="{545F01C0-CC0F-A145-2ECD-0C578C1832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508" y="229383"/>
            <a:ext cx="3174526" cy="984823"/>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FDCA53-12AD-4A08-0866-F09E24DA15C5}"/>
              </a:ext>
            </a:extLst>
          </p:cNvPr>
          <p:cNvSpPr>
            <a:spLocks noGrp="1"/>
          </p:cNvSpPr>
          <p:nvPr>
            <p:ph type="title"/>
          </p:nvPr>
        </p:nvSpPr>
        <p:spPr/>
        <p:txBody>
          <a:bodyPr/>
          <a:lstStyle/>
          <a:p>
            <a:r>
              <a:rPr lang="pt-PT" dirty="0" err="1"/>
              <a:t>Why</a:t>
            </a:r>
            <a:r>
              <a:rPr lang="pt-PT" dirty="0"/>
              <a:t> </a:t>
            </a:r>
            <a:r>
              <a:rPr lang="pt-PT" dirty="0" err="1"/>
              <a:t>segmentation</a:t>
            </a:r>
            <a:r>
              <a:rPr lang="pt-PT" dirty="0"/>
              <a:t> </a:t>
            </a:r>
            <a:r>
              <a:rPr lang="pt-PT" dirty="0" err="1"/>
              <a:t>matters</a:t>
            </a:r>
            <a:endParaRPr lang="pt-PT" dirty="0"/>
          </a:p>
        </p:txBody>
      </p:sp>
      <p:sp>
        <p:nvSpPr>
          <p:cNvPr id="3" name="Marcador de Posição de Conteúdo 2">
            <a:extLst>
              <a:ext uri="{FF2B5EF4-FFF2-40B4-BE49-F238E27FC236}">
                <a16:creationId xmlns:a16="http://schemas.microsoft.com/office/drawing/2014/main" id="{E8D79764-6F53-6518-DA85-6D6AFD9C55B3}"/>
              </a:ext>
            </a:extLst>
          </p:cNvPr>
          <p:cNvSpPr>
            <a:spLocks noGrp="1"/>
          </p:cNvSpPr>
          <p:nvPr>
            <p:ph idx="1"/>
          </p:nvPr>
        </p:nvSpPr>
        <p:spPr>
          <a:xfrm>
            <a:off x="1139872" y="1820862"/>
            <a:ext cx="4486834" cy="4351338"/>
          </a:xfrm>
        </p:spPr>
        <p:txBody>
          <a:bodyPr>
            <a:normAutofit/>
          </a:bodyPr>
          <a:lstStyle/>
          <a:p>
            <a:r>
              <a:rPr lang="en-US" sz="2400" b="1" dirty="0"/>
              <a:t>Measurements from images: </a:t>
            </a:r>
          </a:p>
          <a:p>
            <a:pPr lvl="1"/>
            <a:r>
              <a:rPr lang="en-US" sz="1800" dirty="0"/>
              <a:t>bubble count, size/area statistics</a:t>
            </a:r>
          </a:p>
          <a:p>
            <a:r>
              <a:rPr lang="en-US" sz="2400" b="1" dirty="0"/>
              <a:t>Experimental/industrial relevance: </a:t>
            </a:r>
          </a:p>
          <a:p>
            <a:pPr lvl="1"/>
            <a:r>
              <a:rPr lang="en-US" sz="1800" dirty="0"/>
              <a:t>monitoring and quantifying multiphase flows</a:t>
            </a:r>
          </a:p>
          <a:p>
            <a:r>
              <a:rPr lang="en-US" sz="2400" b="1" dirty="0"/>
              <a:t>Need instance segmentation: </a:t>
            </a:r>
          </a:p>
          <a:p>
            <a:pPr lvl="1"/>
            <a:r>
              <a:rPr lang="en-US" sz="1800" dirty="0"/>
              <a:t>one mask per bubble (not just foreground/background)</a:t>
            </a:r>
            <a:endParaRPr lang="pt-PT" sz="1800" dirty="0"/>
          </a:p>
        </p:txBody>
      </p:sp>
      <p:sp>
        <p:nvSpPr>
          <p:cNvPr id="4" name="Marcador de Posição do Número do Diapositivo 3">
            <a:extLst>
              <a:ext uri="{FF2B5EF4-FFF2-40B4-BE49-F238E27FC236}">
                <a16:creationId xmlns:a16="http://schemas.microsoft.com/office/drawing/2014/main" id="{EE8B6ADB-07F5-92BD-284E-4A54F4332B48}"/>
              </a:ext>
            </a:extLst>
          </p:cNvPr>
          <p:cNvSpPr>
            <a:spLocks noGrp="1"/>
          </p:cNvSpPr>
          <p:nvPr>
            <p:ph type="sldNum" sz="quarter" idx="12"/>
          </p:nvPr>
        </p:nvSpPr>
        <p:spPr/>
        <p:txBody>
          <a:bodyPr/>
          <a:lstStyle/>
          <a:p>
            <a:fld id="{13A9F3AB-103B-42BD-8121-9F883A719849}" type="slidenum">
              <a:rPr lang="pt-PT" smtClean="0"/>
              <a:t>2</a:t>
            </a:fld>
            <a:endParaRPr lang="pt-PT"/>
          </a:p>
        </p:txBody>
      </p:sp>
      <p:pic>
        <p:nvPicPr>
          <p:cNvPr id="6" name="Picture 3" descr="A close-up of a black and white photo of a cell&#10;&#10;AI-generated content may be incorrect.">
            <a:extLst>
              <a:ext uri="{FF2B5EF4-FFF2-40B4-BE49-F238E27FC236}">
                <a16:creationId xmlns:a16="http://schemas.microsoft.com/office/drawing/2014/main" id="{5902FE3C-7A07-E3CF-97E0-26CEE90DAE8E}"/>
              </a:ext>
            </a:extLst>
          </p:cNvPr>
          <p:cNvPicPr>
            <a:picLocks noChangeAspect="1"/>
          </p:cNvPicPr>
          <p:nvPr/>
        </p:nvPicPr>
        <p:blipFill>
          <a:blip r:embed="rId3"/>
          <a:stretch>
            <a:fillRect/>
          </a:stretch>
        </p:blipFill>
        <p:spPr>
          <a:xfrm>
            <a:off x="6565295" y="2468973"/>
            <a:ext cx="4788505" cy="1532321"/>
          </a:xfrm>
          <a:prstGeom prst="rect">
            <a:avLst/>
          </a:prstGeom>
        </p:spPr>
      </p:pic>
      <p:sp>
        <p:nvSpPr>
          <p:cNvPr id="7" name="TextBox 4">
            <a:extLst>
              <a:ext uri="{FF2B5EF4-FFF2-40B4-BE49-F238E27FC236}">
                <a16:creationId xmlns:a16="http://schemas.microsoft.com/office/drawing/2014/main" id="{D396EA00-4C83-2A03-69A4-9F4476A95C22}"/>
              </a:ext>
            </a:extLst>
          </p:cNvPr>
          <p:cNvSpPr txBox="1"/>
          <p:nvPr/>
        </p:nvSpPr>
        <p:spPr>
          <a:xfrm>
            <a:off x="6565295" y="4045744"/>
            <a:ext cx="479473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1: Experimental Image showing lighting variability and blur.</a:t>
            </a:r>
            <a:endParaRPr lang="en-US" dirty="0"/>
          </a:p>
        </p:txBody>
      </p:sp>
    </p:spTree>
    <p:extLst>
      <p:ext uri="{BB962C8B-B14F-4D97-AF65-F5344CB8AC3E}">
        <p14:creationId xmlns:p14="http://schemas.microsoft.com/office/powerpoint/2010/main" val="2265826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E96EDB-54F0-A596-583E-9778CB19AF40}"/>
              </a:ext>
            </a:extLst>
          </p:cNvPr>
          <p:cNvSpPr>
            <a:spLocks noGrp="1"/>
          </p:cNvSpPr>
          <p:nvPr>
            <p:ph type="title"/>
          </p:nvPr>
        </p:nvSpPr>
        <p:spPr/>
        <p:txBody>
          <a:bodyPr/>
          <a:lstStyle/>
          <a:p>
            <a:r>
              <a:rPr lang="en-US" dirty="0">
                <a:ea typeface="+mj-lt"/>
                <a:cs typeface="+mj-lt"/>
              </a:rPr>
              <a:t>Key challenges and motivation</a:t>
            </a:r>
            <a:endParaRPr lang="pt-PT" dirty="0"/>
          </a:p>
        </p:txBody>
      </p:sp>
      <p:sp>
        <p:nvSpPr>
          <p:cNvPr id="3" name="Marcador de Posição de Conteúdo 2">
            <a:extLst>
              <a:ext uri="{FF2B5EF4-FFF2-40B4-BE49-F238E27FC236}">
                <a16:creationId xmlns:a16="http://schemas.microsoft.com/office/drawing/2014/main" id="{A8AD17C3-1CAB-079E-E807-4588B371E1B7}"/>
              </a:ext>
            </a:extLst>
          </p:cNvPr>
          <p:cNvSpPr>
            <a:spLocks noGrp="1"/>
          </p:cNvSpPr>
          <p:nvPr>
            <p:ph idx="1"/>
          </p:nvPr>
        </p:nvSpPr>
        <p:spPr>
          <a:xfrm>
            <a:off x="1100827" y="1756727"/>
            <a:ext cx="10801574" cy="4351338"/>
          </a:xfrm>
        </p:spPr>
        <p:txBody>
          <a:bodyPr>
            <a:normAutofit/>
          </a:bodyPr>
          <a:lstStyle/>
          <a:p>
            <a:r>
              <a:rPr lang="pt-PT" sz="1800" b="1" dirty="0" err="1"/>
              <a:t>Annotation</a:t>
            </a:r>
            <a:r>
              <a:rPr lang="pt-PT" sz="1800" b="1" dirty="0"/>
              <a:t> </a:t>
            </a:r>
            <a:r>
              <a:rPr lang="pt-PT" sz="1800" b="1" dirty="0" err="1"/>
              <a:t>bottleneck</a:t>
            </a:r>
            <a:r>
              <a:rPr lang="pt-PT" sz="1800" b="1" dirty="0"/>
              <a:t>: </a:t>
            </a:r>
            <a:r>
              <a:rPr lang="pt-PT" sz="1800" dirty="0"/>
              <a:t>pixel-</a:t>
            </a:r>
            <a:r>
              <a:rPr lang="pt-PT" sz="1800" dirty="0" err="1"/>
              <a:t>accurate</a:t>
            </a:r>
            <a:r>
              <a:rPr lang="pt-PT" sz="1800" dirty="0"/>
              <a:t> </a:t>
            </a:r>
            <a:r>
              <a:rPr lang="pt-PT" sz="1800" dirty="0" err="1"/>
              <a:t>instance</a:t>
            </a:r>
            <a:r>
              <a:rPr lang="pt-PT" sz="1800" dirty="0"/>
              <a:t> </a:t>
            </a:r>
            <a:r>
              <a:rPr lang="pt-PT" sz="1800" dirty="0" err="1"/>
              <a:t>labels</a:t>
            </a:r>
            <a:r>
              <a:rPr lang="pt-PT" sz="1800" dirty="0"/>
              <a:t> are </a:t>
            </a:r>
            <a:r>
              <a:rPr lang="pt-PT" sz="1800" dirty="0" err="1"/>
              <a:t>expensive</a:t>
            </a:r>
            <a:endParaRPr lang="pt-PT" sz="1800" dirty="0"/>
          </a:p>
          <a:p>
            <a:r>
              <a:rPr lang="en-US" sz="1800" b="1" dirty="0"/>
              <a:t>Real-image difficulty:</a:t>
            </a:r>
            <a:r>
              <a:rPr lang="en-US" sz="1800" dirty="0"/>
              <a:t> overlap/occlusions, low contrast, lighting artifacts</a:t>
            </a:r>
            <a:endParaRPr lang="pt-PT" sz="1800" dirty="0"/>
          </a:p>
          <a:p>
            <a:r>
              <a:rPr lang="pt-PT" sz="1800" b="1" dirty="0" err="1"/>
              <a:t>Domain</a:t>
            </a:r>
            <a:r>
              <a:rPr lang="pt-PT" sz="1800" b="1" dirty="0"/>
              <a:t> gap: </a:t>
            </a:r>
            <a:r>
              <a:rPr lang="pt-PT" sz="1800" dirty="0" err="1"/>
              <a:t>synthetic-trained</a:t>
            </a:r>
            <a:r>
              <a:rPr lang="pt-PT" sz="1800" dirty="0"/>
              <a:t> </a:t>
            </a:r>
            <a:r>
              <a:rPr lang="pt-PT" sz="1800" dirty="0" err="1"/>
              <a:t>models</a:t>
            </a:r>
            <a:r>
              <a:rPr lang="pt-PT" sz="1800" dirty="0"/>
              <a:t> </a:t>
            </a:r>
            <a:r>
              <a:rPr lang="pt-PT" sz="1800" dirty="0" err="1"/>
              <a:t>don’t</a:t>
            </a:r>
            <a:r>
              <a:rPr lang="pt-PT" sz="1800" dirty="0"/>
              <a:t> </a:t>
            </a:r>
            <a:r>
              <a:rPr lang="pt-PT" sz="1800" dirty="0" err="1"/>
              <a:t>fully</a:t>
            </a:r>
            <a:r>
              <a:rPr lang="pt-PT" sz="1800" dirty="0"/>
              <a:t> generalize to real </a:t>
            </a:r>
            <a:r>
              <a:rPr lang="pt-PT" sz="1800" dirty="0" err="1"/>
              <a:t>experiments</a:t>
            </a:r>
            <a:endParaRPr lang="pt-PT" sz="1800" dirty="0"/>
          </a:p>
          <a:p>
            <a:r>
              <a:rPr lang="pt-PT" sz="1800" b="1" dirty="0" err="1"/>
              <a:t>My</a:t>
            </a:r>
            <a:r>
              <a:rPr lang="pt-PT" sz="1800" b="1" dirty="0"/>
              <a:t> </a:t>
            </a:r>
            <a:r>
              <a:rPr lang="pt-PT" sz="1800" b="1" dirty="0" err="1"/>
              <a:t>approach</a:t>
            </a:r>
            <a:r>
              <a:rPr lang="pt-PT" sz="1800" b="1" dirty="0"/>
              <a:t>: </a:t>
            </a:r>
            <a:r>
              <a:rPr lang="pt-PT" sz="1800" dirty="0" err="1"/>
              <a:t>controlled</a:t>
            </a:r>
            <a:r>
              <a:rPr lang="pt-PT" sz="1800" dirty="0"/>
              <a:t> </a:t>
            </a:r>
            <a:r>
              <a:rPr lang="pt-PT" sz="1800" dirty="0" err="1"/>
              <a:t>model</a:t>
            </a:r>
            <a:r>
              <a:rPr lang="pt-PT" sz="1800" dirty="0"/>
              <a:t> </a:t>
            </a:r>
            <a:r>
              <a:rPr lang="pt-PT" sz="1800" dirty="0" err="1"/>
              <a:t>comparison</a:t>
            </a:r>
            <a:r>
              <a:rPr lang="pt-PT" sz="1800" dirty="0"/>
              <a:t> + </a:t>
            </a:r>
            <a:r>
              <a:rPr lang="pt-PT" sz="1800" dirty="0" err="1"/>
              <a:t>synthetic→real</a:t>
            </a:r>
            <a:r>
              <a:rPr lang="pt-PT" sz="1800" dirty="0"/>
              <a:t> </a:t>
            </a:r>
            <a:r>
              <a:rPr lang="pt-PT" sz="1800" dirty="0" err="1"/>
              <a:t>transfer</a:t>
            </a:r>
            <a:r>
              <a:rPr lang="pt-PT" sz="1800" dirty="0"/>
              <a:t> + </a:t>
            </a:r>
            <a:r>
              <a:rPr lang="pt-PT" sz="1800" dirty="0" err="1"/>
              <a:t>annotation</a:t>
            </a:r>
            <a:r>
              <a:rPr lang="pt-PT" sz="1800" dirty="0"/>
              <a:t> </a:t>
            </a:r>
            <a:r>
              <a:rPr lang="pt-PT" sz="1800" dirty="0" err="1"/>
              <a:t>assistance</a:t>
            </a:r>
            <a:r>
              <a:rPr lang="pt-PT" sz="1800" dirty="0"/>
              <a:t> + </a:t>
            </a:r>
            <a:r>
              <a:rPr lang="pt-PT" sz="1800" dirty="0" err="1"/>
              <a:t>measurement-aligned</a:t>
            </a:r>
            <a:r>
              <a:rPr lang="pt-PT" sz="1800" dirty="0"/>
              <a:t> </a:t>
            </a:r>
            <a:r>
              <a:rPr lang="pt-PT" sz="1800" dirty="0" err="1"/>
              <a:t>metrics</a:t>
            </a:r>
            <a:endParaRPr lang="pt-PT" sz="1800" dirty="0"/>
          </a:p>
        </p:txBody>
      </p:sp>
      <p:sp>
        <p:nvSpPr>
          <p:cNvPr id="4" name="Marcador de Posição do Número do Diapositivo 3">
            <a:extLst>
              <a:ext uri="{FF2B5EF4-FFF2-40B4-BE49-F238E27FC236}">
                <a16:creationId xmlns:a16="http://schemas.microsoft.com/office/drawing/2014/main" id="{436F6D9B-1908-893B-85D4-6AD62AD652EE}"/>
              </a:ext>
            </a:extLst>
          </p:cNvPr>
          <p:cNvSpPr>
            <a:spLocks noGrp="1"/>
          </p:cNvSpPr>
          <p:nvPr>
            <p:ph type="sldNum" sz="quarter" idx="12"/>
          </p:nvPr>
        </p:nvSpPr>
        <p:spPr/>
        <p:txBody>
          <a:bodyPr/>
          <a:lstStyle/>
          <a:p>
            <a:fld id="{13A9F3AB-103B-42BD-8121-9F883A719849}" type="slidenum">
              <a:rPr lang="pt-PT" smtClean="0"/>
              <a:t>3</a:t>
            </a:fld>
            <a:endParaRPr lang="pt-PT"/>
          </a:p>
        </p:txBody>
      </p:sp>
      <p:pic>
        <p:nvPicPr>
          <p:cNvPr id="6" name="Picture 3" descr="A group of bubbles in water&#10;&#10;AI-generated content may be incorrect.">
            <a:extLst>
              <a:ext uri="{FF2B5EF4-FFF2-40B4-BE49-F238E27FC236}">
                <a16:creationId xmlns:a16="http://schemas.microsoft.com/office/drawing/2014/main" id="{3D434DA1-3A61-0C04-8C3B-2F8B2A5C9C24}"/>
              </a:ext>
            </a:extLst>
          </p:cNvPr>
          <p:cNvPicPr>
            <a:picLocks noChangeAspect="1"/>
          </p:cNvPicPr>
          <p:nvPr/>
        </p:nvPicPr>
        <p:blipFill>
          <a:blip r:embed="rId3"/>
          <a:stretch>
            <a:fillRect/>
          </a:stretch>
        </p:blipFill>
        <p:spPr>
          <a:xfrm>
            <a:off x="2286000" y="3899871"/>
            <a:ext cx="2343702" cy="2343702"/>
          </a:xfrm>
          <a:prstGeom prst="rect">
            <a:avLst/>
          </a:prstGeom>
        </p:spPr>
      </p:pic>
      <p:pic>
        <p:nvPicPr>
          <p:cNvPr id="7" name="Picture 4" descr="A close-up of a microscope&#10;&#10;AI-generated content may be incorrect.">
            <a:extLst>
              <a:ext uri="{FF2B5EF4-FFF2-40B4-BE49-F238E27FC236}">
                <a16:creationId xmlns:a16="http://schemas.microsoft.com/office/drawing/2014/main" id="{3CA6A1E5-1ADB-87C2-2C53-7A5AF86B45E4}"/>
              </a:ext>
            </a:extLst>
          </p:cNvPr>
          <p:cNvPicPr>
            <a:picLocks noChangeAspect="1"/>
          </p:cNvPicPr>
          <p:nvPr/>
        </p:nvPicPr>
        <p:blipFill>
          <a:blip r:embed="rId4"/>
          <a:stretch>
            <a:fillRect/>
          </a:stretch>
        </p:blipFill>
        <p:spPr>
          <a:xfrm>
            <a:off x="6504033" y="4164495"/>
            <a:ext cx="3995623" cy="1598249"/>
          </a:xfrm>
          <a:prstGeom prst="rect">
            <a:avLst/>
          </a:prstGeom>
        </p:spPr>
      </p:pic>
      <p:sp>
        <p:nvSpPr>
          <p:cNvPr id="8" name="TextBox 5">
            <a:extLst>
              <a:ext uri="{FF2B5EF4-FFF2-40B4-BE49-F238E27FC236}">
                <a16:creationId xmlns:a16="http://schemas.microsoft.com/office/drawing/2014/main" id="{65DE17FA-AD72-91AA-2849-FB5BCFF98818}"/>
              </a:ext>
            </a:extLst>
          </p:cNvPr>
          <p:cNvSpPr txBox="1"/>
          <p:nvPr/>
        </p:nvSpPr>
        <p:spPr>
          <a:xfrm>
            <a:off x="2089205" y="6243573"/>
            <a:ext cx="277836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2: Synthetic Image</a:t>
            </a:r>
            <a:endParaRPr lang="en-US" dirty="0"/>
          </a:p>
        </p:txBody>
      </p:sp>
      <p:sp>
        <p:nvSpPr>
          <p:cNvPr id="9" name="TextBox 6">
            <a:extLst>
              <a:ext uri="{FF2B5EF4-FFF2-40B4-BE49-F238E27FC236}">
                <a16:creationId xmlns:a16="http://schemas.microsoft.com/office/drawing/2014/main" id="{A01AEEFC-855E-045C-20EA-81243F550962}"/>
              </a:ext>
            </a:extLst>
          </p:cNvPr>
          <p:cNvSpPr txBox="1"/>
          <p:nvPr/>
        </p:nvSpPr>
        <p:spPr>
          <a:xfrm>
            <a:off x="6501614" y="5761299"/>
            <a:ext cx="399756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3: Real Experimental Image</a:t>
            </a:r>
            <a:endParaRPr lang="en-US" dirty="0"/>
          </a:p>
        </p:txBody>
      </p:sp>
    </p:spTree>
    <p:extLst>
      <p:ext uri="{BB962C8B-B14F-4D97-AF65-F5344CB8AC3E}">
        <p14:creationId xmlns:p14="http://schemas.microsoft.com/office/powerpoint/2010/main" val="336351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D8612-040F-DE53-87DE-16D2D8E7E4A9}"/>
              </a:ext>
            </a:extLst>
          </p:cNvPr>
          <p:cNvSpPr>
            <a:spLocks noGrp="1"/>
          </p:cNvSpPr>
          <p:nvPr>
            <p:ph type="title"/>
          </p:nvPr>
        </p:nvSpPr>
        <p:spPr>
          <a:xfrm>
            <a:off x="1629751" y="1059116"/>
            <a:ext cx="8924392" cy="933486"/>
          </a:xfrm>
        </p:spPr>
        <p:txBody>
          <a:bodyPr>
            <a:normAutofit/>
          </a:bodyPr>
          <a:lstStyle/>
          <a:p>
            <a:pPr algn="ctr"/>
            <a:r>
              <a:rPr lang="en-US" dirty="0">
                <a:ea typeface="+mj-lt"/>
                <a:cs typeface="+mj-lt"/>
              </a:rPr>
              <a:t>Research Questions</a:t>
            </a:r>
            <a:endParaRPr lang="en-US" dirty="0"/>
          </a:p>
        </p:txBody>
      </p:sp>
      <p:sp>
        <p:nvSpPr>
          <p:cNvPr id="19" name="Content Placeholder 2">
            <a:extLst>
              <a:ext uri="{FF2B5EF4-FFF2-40B4-BE49-F238E27FC236}">
                <a16:creationId xmlns:a16="http://schemas.microsoft.com/office/drawing/2014/main" id="{1ADA617D-6DEE-EDB9-F3CC-C36DD389AB1F}"/>
              </a:ext>
            </a:extLst>
          </p:cNvPr>
          <p:cNvSpPr>
            <a:spLocks noGrp="1"/>
          </p:cNvSpPr>
          <p:nvPr>
            <p:ph idx="1"/>
          </p:nvPr>
        </p:nvSpPr>
        <p:spPr>
          <a:xfrm>
            <a:off x="1306973" y="2292176"/>
            <a:ext cx="9924011" cy="3420135"/>
          </a:xfrm>
        </p:spPr>
        <p:txBody>
          <a:bodyPr vert="horz" lIns="91440" tIns="45720" rIns="91440" bIns="45720" rtlCol="0">
            <a:normAutofit/>
          </a:bodyPr>
          <a:lstStyle/>
          <a:p>
            <a:r>
              <a:rPr lang="en-US" sz="1800" b="1" dirty="0">
                <a:ea typeface="+mn-lt"/>
                <a:cs typeface="+mn-lt"/>
              </a:rPr>
              <a:t>RQ1 - Model performance:</a:t>
            </a:r>
            <a:br>
              <a:rPr lang="en-US" sz="1800" dirty="0">
                <a:ea typeface="+mn-lt"/>
                <a:cs typeface="+mn-lt"/>
              </a:rPr>
            </a:br>
            <a:r>
              <a:rPr lang="en-US" sz="1800" dirty="0"/>
              <a:t>How do the selected deep learning instance segmentation models compare when trained and evaluated on the real multiphase flow experimental dataset? </a:t>
            </a:r>
          </a:p>
          <a:p>
            <a:r>
              <a:rPr lang="en-US" sz="1800" b="1" dirty="0">
                <a:ea typeface="+mn-lt"/>
                <a:cs typeface="+mn-lt"/>
              </a:rPr>
              <a:t>RQ2 - Synthetic-to-real transfer:</a:t>
            </a:r>
            <a:br>
              <a:rPr lang="en-US" sz="1800" dirty="0">
                <a:ea typeface="+mn-lt"/>
                <a:cs typeface="+mn-lt"/>
              </a:rPr>
            </a:br>
            <a:r>
              <a:rPr lang="en-US" sz="1800" dirty="0"/>
              <a:t>What is the impact of training on synthetic bubble data and subsequent fine-tuning on real images on segmentation performance, particularly when real annotations are limited? </a:t>
            </a:r>
          </a:p>
          <a:p>
            <a:r>
              <a:rPr lang="en-US" sz="1800" b="1" dirty="0">
                <a:ea typeface="+mn-lt"/>
                <a:cs typeface="+mn-lt"/>
              </a:rPr>
              <a:t>RQ3 - Annotation efficiency:</a:t>
            </a:r>
            <a:br>
              <a:rPr lang="en-US" sz="1800" dirty="0">
                <a:ea typeface="+mn-lt"/>
                <a:cs typeface="+mn-lt"/>
              </a:rPr>
            </a:br>
            <a:r>
              <a:rPr lang="en-US" sz="1800" dirty="0"/>
              <a:t>How much can model-assisted annotation, using synthetic pre-annotations and SAM2-assisted interactive refinement in Label Studio, reduce annotation effort while preserving high-quality bubble masks?</a:t>
            </a:r>
          </a:p>
        </p:txBody>
      </p:sp>
      <p:sp>
        <p:nvSpPr>
          <p:cNvPr id="3" name="Marcador de Posição do Número do Diapositivo 2">
            <a:extLst>
              <a:ext uri="{FF2B5EF4-FFF2-40B4-BE49-F238E27FC236}">
                <a16:creationId xmlns:a16="http://schemas.microsoft.com/office/drawing/2014/main" id="{5312C669-674C-93E3-804F-23295FA72BE1}"/>
              </a:ext>
            </a:extLst>
          </p:cNvPr>
          <p:cNvSpPr>
            <a:spLocks noGrp="1"/>
          </p:cNvSpPr>
          <p:nvPr>
            <p:ph type="sldNum" sz="quarter" idx="12"/>
          </p:nvPr>
        </p:nvSpPr>
        <p:spPr/>
        <p:txBody>
          <a:bodyPr/>
          <a:lstStyle/>
          <a:p>
            <a:fld id="{13A9F3AB-103B-42BD-8121-9F883A719849}" type="slidenum">
              <a:rPr lang="pt-PT" smtClean="0"/>
              <a:t>4</a:t>
            </a:fld>
            <a:endParaRPr lang="pt-PT" dirty="0"/>
          </a:p>
        </p:txBody>
      </p:sp>
    </p:spTree>
    <p:extLst>
      <p:ext uri="{BB962C8B-B14F-4D97-AF65-F5344CB8AC3E}">
        <p14:creationId xmlns:p14="http://schemas.microsoft.com/office/powerpoint/2010/main" val="1655739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F6CE2-F6A9-D98C-0FE5-EE2AF22DB544}"/>
              </a:ext>
            </a:extLst>
          </p:cNvPr>
          <p:cNvSpPr>
            <a:spLocks noGrp="1"/>
          </p:cNvSpPr>
          <p:nvPr>
            <p:ph type="title"/>
          </p:nvPr>
        </p:nvSpPr>
        <p:spPr>
          <a:xfrm>
            <a:off x="1115568" y="548640"/>
            <a:ext cx="10168128" cy="1179576"/>
          </a:xfrm>
        </p:spPr>
        <p:txBody>
          <a:bodyPr>
            <a:normAutofit/>
          </a:bodyPr>
          <a:lstStyle/>
          <a:p>
            <a:r>
              <a:rPr lang="pt-PT" sz="4000" dirty="0" err="1"/>
              <a:t>Workflow</a:t>
            </a:r>
            <a:r>
              <a:rPr lang="pt-PT" sz="4000" dirty="0"/>
              <a:t> </a:t>
            </a:r>
            <a:r>
              <a:rPr lang="pt-PT" sz="4000" dirty="0" err="1"/>
              <a:t>map</a:t>
            </a:r>
            <a:endParaRPr lang="en-US" sz="4000" dirty="0"/>
          </a:p>
        </p:txBody>
      </p:sp>
      <p:sp>
        <p:nvSpPr>
          <p:cNvPr id="270" name="Content Placeholder 269">
            <a:extLst>
              <a:ext uri="{FF2B5EF4-FFF2-40B4-BE49-F238E27FC236}">
                <a16:creationId xmlns:a16="http://schemas.microsoft.com/office/drawing/2014/main" id="{D7B90B16-DEE7-BEEA-37D4-F52D2936FA80}"/>
              </a:ext>
            </a:extLst>
          </p:cNvPr>
          <p:cNvSpPr>
            <a:spLocks noGrp="1"/>
          </p:cNvSpPr>
          <p:nvPr>
            <p:ph idx="1"/>
          </p:nvPr>
        </p:nvSpPr>
        <p:spPr>
          <a:xfrm>
            <a:off x="976063" y="1999605"/>
            <a:ext cx="3089701" cy="3694176"/>
          </a:xfrm>
        </p:spPr>
        <p:txBody>
          <a:bodyPr vert="horz" lIns="91440" tIns="45720" rIns="91440" bIns="45720" rtlCol="0" anchor="ctr">
            <a:normAutofit/>
          </a:bodyPr>
          <a:lstStyle/>
          <a:p>
            <a:pPr marL="342900" indent="-342900">
              <a:buFont typeface="+mj-lt"/>
              <a:buAutoNum type="arabicPeriod"/>
            </a:pPr>
            <a:r>
              <a:rPr lang="en-US" sz="1800" b="1" dirty="0">
                <a:ea typeface="+mn-lt"/>
                <a:cs typeface="+mn-lt"/>
              </a:rPr>
              <a:t>Data</a:t>
            </a:r>
          </a:p>
          <a:p>
            <a:pPr marL="342900" indent="-342900">
              <a:buFont typeface="+mj-lt"/>
              <a:buAutoNum type="arabicPeriod"/>
            </a:pPr>
            <a:r>
              <a:rPr lang="en-US" sz="1800" b="1" dirty="0">
                <a:ea typeface="+mn-lt"/>
                <a:cs typeface="+mn-lt"/>
              </a:rPr>
              <a:t>Training regimes</a:t>
            </a:r>
          </a:p>
          <a:p>
            <a:pPr marL="342900" indent="-342900">
              <a:buFont typeface="+mj-lt"/>
              <a:buAutoNum type="arabicPeriod"/>
            </a:pPr>
            <a:r>
              <a:rPr lang="en-US" sz="1800" b="1" dirty="0">
                <a:ea typeface="+mn-lt"/>
                <a:cs typeface="+mn-lt"/>
              </a:rPr>
              <a:t>Evaluation</a:t>
            </a:r>
          </a:p>
          <a:p>
            <a:pPr marL="342900" indent="-342900">
              <a:buFont typeface="+mj-lt"/>
              <a:buAutoNum type="arabicPeriod"/>
            </a:pPr>
            <a:r>
              <a:rPr lang="en-US" sz="1800" b="1" dirty="0">
                <a:ea typeface="+mn-lt"/>
                <a:cs typeface="+mn-lt"/>
              </a:rPr>
              <a:t>Annotation study</a:t>
            </a:r>
            <a:endParaRPr lang="en-US" sz="1800" dirty="0"/>
          </a:p>
        </p:txBody>
      </p:sp>
      <p:sp>
        <p:nvSpPr>
          <p:cNvPr id="3" name="Marcador de Posição do Número do Diapositivo 2">
            <a:extLst>
              <a:ext uri="{FF2B5EF4-FFF2-40B4-BE49-F238E27FC236}">
                <a16:creationId xmlns:a16="http://schemas.microsoft.com/office/drawing/2014/main" id="{3E844F37-F584-3A07-F843-BC337AC2F647}"/>
              </a:ext>
            </a:extLst>
          </p:cNvPr>
          <p:cNvSpPr>
            <a:spLocks noGrp="1"/>
          </p:cNvSpPr>
          <p:nvPr>
            <p:ph type="sldNum" sz="quarter" idx="12"/>
          </p:nvPr>
        </p:nvSpPr>
        <p:spPr/>
        <p:txBody>
          <a:bodyPr/>
          <a:lstStyle/>
          <a:p>
            <a:fld id="{13A9F3AB-103B-42BD-8121-9F883A719849}" type="slidenum">
              <a:rPr lang="pt-PT" smtClean="0"/>
              <a:t>5</a:t>
            </a:fld>
            <a:endParaRPr lang="pt-PT"/>
          </a:p>
        </p:txBody>
      </p:sp>
      <p:pic>
        <p:nvPicPr>
          <p:cNvPr id="271" name="Picture 270" descr="A diagram of a model&#10;&#10;AI-generated content may be incorrect.">
            <a:extLst>
              <a:ext uri="{FF2B5EF4-FFF2-40B4-BE49-F238E27FC236}">
                <a16:creationId xmlns:a16="http://schemas.microsoft.com/office/drawing/2014/main" id="{321F2615-A49D-0F02-AA7A-48084F4B7DB1}"/>
              </a:ext>
            </a:extLst>
          </p:cNvPr>
          <p:cNvPicPr>
            <a:picLocks noChangeAspect="1"/>
          </p:cNvPicPr>
          <p:nvPr/>
        </p:nvPicPr>
        <p:blipFill>
          <a:blip r:embed="rId3"/>
          <a:srcRect r="129" b="1592"/>
          <a:stretch>
            <a:fillRect/>
          </a:stretch>
        </p:blipFill>
        <p:spPr>
          <a:xfrm>
            <a:off x="3452457" y="1999605"/>
            <a:ext cx="7923166" cy="3808357"/>
          </a:xfrm>
          <a:prstGeom prst="rect">
            <a:avLst/>
          </a:prstGeom>
        </p:spPr>
      </p:pic>
      <p:sp>
        <p:nvSpPr>
          <p:cNvPr id="282" name="TextBox 281">
            <a:extLst>
              <a:ext uri="{FF2B5EF4-FFF2-40B4-BE49-F238E27FC236}">
                <a16:creationId xmlns:a16="http://schemas.microsoft.com/office/drawing/2014/main" id="{A094319A-919D-2E9B-89FD-0AA178A8F6F3}"/>
              </a:ext>
            </a:extLst>
          </p:cNvPr>
          <p:cNvSpPr txBox="1"/>
          <p:nvPr/>
        </p:nvSpPr>
        <p:spPr>
          <a:xfrm>
            <a:off x="3868304" y="5807962"/>
            <a:ext cx="709147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4: </a:t>
            </a:r>
            <a:r>
              <a:rPr lang="en-US" sz="1200" dirty="0">
                <a:ea typeface="+mn-lt"/>
                <a:cs typeface="+mn-lt"/>
              </a:rPr>
              <a:t>End-to-end research workflow adopted</a:t>
            </a:r>
            <a:endParaRPr lang="en-US" dirty="0"/>
          </a:p>
        </p:txBody>
      </p:sp>
    </p:spTree>
    <p:extLst>
      <p:ext uri="{BB962C8B-B14F-4D97-AF65-F5344CB8AC3E}">
        <p14:creationId xmlns:p14="http://schemas.microsoft.com/office/powerpoint/2010/main" val="1654058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3A04DB-311C-3D74-3F7D-5DD3CB496934}"/>
              </a:ext>
            </a:extLst>
          </p:cNvPr>
          <p:cNvSpPr>
            <a:spLocks noGrp="1"/>
          </p:cNvSpPr>
          <p:nvPr>
            <p:ph type="title"/>
          </p:nvPr>
        </p:nvSpPr>
        <p:spPr/>
        <p:txBody>
          <a:bodyPr/>
          <a:lstStyle/>
          <a:p>
            <a:r>
              <a:rPr lang="pt-PT" dirty="0"/>
              <a:t>Data &amp; </a:t>
            </a:r>
            <a:r>
              <a:rPr lang="pt-PT" dirty="0" err="1"/>
              <a:t>labels</a:t>
            </a:r>
            <a:endParaRPr lang="en-US" dirty="0"/>
          </a:p>
        </p:txBody>
      </p:sp>
      <p:sp>
        <p:nvSpPr>
          <p:cNvPr id="3" name="Content Placeholder 2">
            <a:extLst>
              <a:ext uri="{FF2B5EF4-FFF2-40B4-BE49-F238E27FC236}">
                <a16:creationId xmlns:a16="http://schemas.microsoft.com/office/drawing/2014/main" id="{0F063269-70C5-4026-3D14-C28EE7DD3DEC}"/>
              </a:ext>
            </a:extLst>
          </p:cNvPr>
          <p:cNvSpPr>
            <a:spLocks noGrp="1"/>
          </p:cNvSpPr>
          <p:nvPr>
            <p:ph idx="1"/>
          </p:nvPr>
        </p:nvSpPr>
        <p:spPr>
          <a:xfrm>
            <a:off x="1042595" y="1820862"/>
            <a:ext cx="4700954" cy="4351338"/>
          </a:xfrm>
        </p:spPr>
        <p:txBody>
          <a:bodyPr vert="horz" lIns="91440" tIns="45720" rIns="91440" bIns="45720" rtlCol="0" anchor="t">
            <a:normAutofit/>
          </a:bodyPr>
          <a:lstStyle/>
          <a:p>
            <a:r>
              <a:rPr lang="en-US" sz="1800" b="1" dirty="0">
                <a:ea typeface="+mn-lt"/>
                <a:cs typeface="+mn-lt"/>
              </a:rPr>
              <a:t>Real experimental dataset: </a:t>
            </a:r>
            <a:r>
              <a:rPr lang="en-US" sz="1800" dirty="0">
                <a:ea typeface="+mn-lt"/>
                <a:cs typeface="+mn-lt"/>
              </a:rPr>
              <a:t>243 annotated images</a:t>
            </a:r>
          </a:p>
          <a:p>
            <a:pPr lvl="1"/>
            <a:r>
              <a:rPr lang="en-US" sz="1800" dirty="0">
                <a:ea typeface="+mn-lt"/>
                <a:cs typeface="+mn-lt"/>
              </a:rPr>
              <a:t>fixed test set: 25 images (held out for final evaluation)</a:t>
            </a:r>
            <a:endParaRPr lang="en-US" sz="1800" dirty="0"/>
          </a:p>
          <a:p>
            <a:r>
              <a:rPr lang="en-US" sz="1800" b="1" dirty="0">
                <a:ea typeface="+mn-lt"/>
                <a:cs typeface="+mn-lt"/>
              </a:rPr>
              <a:t>Synthetic dataset:</a:t>
            </a:r>
            <a:r>
              <a:rPr lang="en-US" sz="1800" dirty="0">
                <a:ea typeface="+mn-lt"/>
                <a:cs typeface="+mn-lt"/>
              </a:rPr>
              <a:t> </a:t>
            </a:r>
            <a:r>
              <a:rPr lang="en-US" sz="1800" dirty="0" err="1">
                <a:ea typeface="+mn-lt"/>
                <a:cs typeface="+mn-lt"/>
              </a:rPr>
              <a:t>BubANN_GAN</a:t>
            </a:r>
            <a:r>
              <a:rPr lang="en-US" sz="1800" dirty="0">
                <a:ea typeface="+mn-lt"/>
                <a:cs typeface="+mn-lt"/>
              </a:rPr>
              <a:t> used for pretraining</a:t>
            </a:r>
            <a:endParaRPr lang="en-US" sz="1800" dirty="0"/>
          </a:p>
          <a:p>
            <a:r>
              <a:rPr lang="en-US" sz="1800" b="1" dirty="0">
                <a:ea typeface="+mn-lt"/>
                <a:cs typeface="+mn-lt"/>
              </a:rPr>
              <a:t>Supervision: </a:t>
            </a:r>
            <a:r>
              <a:rPr lang="en-US" sz="1800" dirty="0">
                <a:ea typeface="+mn-lt"/>
                <a:cs typeface="+mn-lt"/>
              </a:rPr>
              <a:t>instance masks (one mask per bubble), exported to COCO-style format</a:t>
            </a:r>
            <a:endParaRPr lang="en-US" sz="1800" dirty="0"/>
          </a:p>
          <a:p>
            <a:r>
              <a:rPr lang="en-US" sz="1800" b="1" dirty="0">
                <a:ea typeface="+mn-lt"/>
                <a:cs typeface="+mn-lt"/>
              </a:rPr>
              <a:t>Standardization: </a:t>
            </a:r>
            <a:r>
              <a:rPr lang="en-US" sz="1800" dirty="0">
                <a:ea typeface="+mn-lt"/>
                <a:cs typeface="+mn-lt"/>
              </a:rPr>
              <a:t>all images resized to a common input resolution (e.g., 512×512) for fair comparisons</a:t>
            </a:r>
            <a:endParaRPr lang="en-US" sz="1800" dirty="0"/>
          </a:p>
        </p:txBody>
      </p:sp>
      <p:sp>
        <p:nvSpPr>
          <p:cNvPr id="5" name="Marcador de Posição do Número do Diapositivo 4">
            <a:extLst>
              <a:ext uri="{FF2B5EF4-FFF2-40B4-BE49-F238E27FC236}">
                <a16:creationId xmlns:a16="http://schemas.microsoft.com/office/drawing/2014/main" id="{3B8ACCBF-2F5B-EEFB-C025-58F40815F952}"/>
              </a:ext>
            </a:extLst>
          </p:cNvPr>
          <p:cNvSpPr>
            <a:spLocks noGrp="1"/>
          </p:cNvSpPr>
          <p:nvPr>
            <p:ph type="sldNum" sz="quarter" idx="12"/>
          </p:nvPr>
        </p:nvSpPr>
        <p:spPr/>
        <p:txBody>
          <a:bodyPr/>
          <a:lstStyle/>
          <a:p>
            <a:fld id="{13A9F3AB-103B-42BD-8121-9F883A719849}" type="slidenum">
              <a:rPr lang="pt-PT" smtClean="0"/>
              <a:t>6</a:t>
            </a:fld>
            <a:endParaRPr lang="pt-PT"/>
          </a:p>
        </p:txBody>
      </p:sp>
      <p:pic>
        <p:nvPicPr>
          <p:cNvPr id="4" name="Picture 3" descr="A close-up of a microscope&#10;&#10;AI-generated content may be incorrect.">
            <a:extLst>
              <a:ext uri="{FF2B5EF4-FFF2-40B4-BE49-F238E27FC236}">
                <a16:creationId xmlns:a16="http://schemas.microsoft.com/office/drawing/2014/main" id="{4C950C4D-FA6A-CC17-C240-23A56DEF9DFE}"/>
              </a:ext>
            </a:extLst>
          </p:cNvPr>
          <p:cNvPicPr>
            <a:picLocks noChangeAspect="1"/>
          </p:cNvPicPr>
          <p:nvPr/>
        </p:nvPicPr>
        <p:blipFill>
          <a:blip r:embed="rId3"/>
          <a:stretch>
            <a:fillRect/>
          </a:stretch>
        </p:blipFill>
        <p:spPr>
          <a:xfrm>
            <a:off x="6226785" y="1828800"/>
            <a:ext cx="5412399" cy="2954216"/>
          </a:xfrm>
          <a:prstGeom prst="rect">
            <a:avLst/>
          </a:prstGeom>
        </p:spPr>
      </p:pic>
      <p:sp>
        <p:nvSpPr>
          <p:cNvPr id="6" name="TextBox 5">
            <a:extLst>
              <a:ext uri="{FF2B5EF4-FFF2-40B4-BE49-F238E27FC236}">
                <a16:creationId xmlns:a16="http://schemas.microsoft.com/office/drawing/2014/main" id="{FC76BE3F-A903-031A-6FA1-76A554394F0E}"/>
              </a:ext>
            </a:extLst>
          </p:cNvPr>
          <p:cNvSpPr txBox="1"/>
          <p:nvPr/>
        </p:nvSpPr>
        <p:spPr>
          <a:xfrm>
            <a:off x="6231732" y="4783013"/>
            <a:ext cx="542679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5:</a:t>
            </a:r>
            <a:r>
              <a:rPr lang="en-US" sz="1200" dirty="0">
                <a:ea typeface="+mn-lt"/>
                <a:cs typeface="+mn-lt"/>
              </a:rPr>
              <a:t> Real image with Ground Truth instance mask overlay</a:t>
            </a:r>
            <a:endParaRPr lang="en-US" dirty="0"/>
          </a:p>
        </p:txBody>
      </p:sp>
    </p:spTree>
    <p:extLst>
      <p:ext uri="{BB962C8B-B14F-4D97-AF65-F5344CB8AC3E}">
        <p14:creationId xmlns:p14="http://schemas.microsoft.com/office/powerpoint/2010/main" val="1688952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637565-ABEC-2C27-2E41-15CE91269312}"/>
              </a:ext>
            </a:extLst>
          </p:cNvPr>
          <p:cNvSpPr>
            <a:spLocks noGrp="1"/>
          </p:cNvSpPr>
          <p:nvPr>
            <p:ph type="title"/>
          </p:nvPr>
        </p:nvSpPr>
        <p:spPr/>
        <p:txBody>
          <a:bodyPr/>
          <a:lstStyle/>
          <a:p>
            <a:r>
              <a:rPr lang="en-US" dirty="0"/>
              <a:t>Experimental design: 12 runs</a:t>
            </a:r>
            <a:endParaRPr lang="pt-PT" dirty="0"/>
          </a:p>
        </p:txBody>
      </p:sp>
      <p:sp>
        <p:nvSpPr>
          <p:cNvPr id="3" name="Marcador de Posição de Conteúdo 2">
            <a:extLst>
              <a:ext uri="{FF2B5EF4-FFF2-40B4-BE49-F238E27FC236}">
                <a16:creationId xmlns:a16="http://schemas.microsoft.com/office/drawing/2014/main" id="{E1D583EE-DEB7-3AB7-7F4F-3900282B46B4}"/>
              </a:ext>
            </a:extLst>
          </p:cNvPr>
          <p:cNvSpPr>
            <a:spLocks noGrp="1"/>
          </p:cNvSpPr>
          <p:nvPr>
            <p:ph idx="1"/>
          </p:nvPr>
        </p:nvSpPr>
        <p:spPr>
          <a:xfrm>
            <a:off x="1295400" y="1628581"/>
            <a:ext cx="9601200" cy="4824805"/>
          </a:xfrm>
        </p:spPr>
        <p:txBody>
          <a:bodyPr>
            <a:noAutofit/>
          </a:bodyPr>
          <a:lstStyle/>
          <a:p>
            <a:r>
              <a:rPr lang="pt-PT" sz="1800" b="1" dirty="0" err="1"/>
              <a:t>Model</a:t>
            </a:r>
            <a:r>
              <a:rPr lang="pt-PT" sz="1800" b="1" dirty="0"/>
              <a:t> </a:t>
            </a:r>
            <a:r>
              <a:rPr lang="pt-PT" sz="1800" b="1" dirty="0" err="1"/>
              <a:t>family</a:t>
            </a:r>
            <a:r>
              <a:rPr lang="pt-PT" sz="1800" b="1" dirty="0"/>
              <a:t>: </a:t>
            </a:r>
            <a:r>
              <a:rPr lang="pt-PT" sz="1800" dirty="0" err="1"/>
              <a:t>Mask</a:t>
            </a:r>
            <a:r>
              <a:rPr lang="pt-PT" sz="1800" dirty="0"/>
              <a:t> R-CNN (</a:t>
            </a:r>
            <a:r>
              <a:rPr lang="pt-PT" sz="1800" dirty="0" err="1"/>
              <a:t>instance</a:t>
            </a:r>
            <a:r>
              <a:rPr lang="pt-PT" sz="1800" dirty="0"/>
              <a:t> </a:t>
            </a:r>
            <a:r>
              <a:rPr lang="pt-PT" sz="1800" dirty="0" err="1"/>
              <a:t>segmentation</a:t>
            </a:r>
            <a:r>
              <a:rPr lang="pt-PT" sz="1800" dirty="0"/>
              <a:t>, FPN)</a:t>
            </a:r>
          </a:p>
          <a:p>
            <a:r>
              <a:rPr lang="pt-PT" sz="1800" b="1" dirty="0" err="1"/>
              <a:t>Backbones</a:t>
            </a:r>
            <a:r>
              <a:rPr lang="pt-PT" sz="1800" b="1" dirty="0"/>
              <a:t> </a:t>
            </a:r>
            <a:r>
              <a:rPr lang="pt-PT" sz="1800" b="1" dirty="0" err="1"/>
              <a:t>compared</a:t>
            </a:r>
            <a:r>
              <a:rPr lang="pt-PT" sz="1800" b="1" dirty="0"/>
              <a:t> (×3):</a:t>
            </a:r>
          </a:p>
          <a:p>
            <a:pPr lvl="1"/>
            <a:r>
              <a:rPr lang="pt-PT" sz="1800" dirty="0"/>
              <a:t>ResNet-50 + FPN</a:t>
            </a:r>
          </a:p>
          <a:p>
            <a:pPr lvl="1"/>
            <a:r>
              <a:rPr lang="pt-PT" sz="1800" dirty="0"/>
              <a:t>ResNet-50 + FPN v2</a:t>
            </a:r>
          </a:p>
          <a:p>
            <a:pPr lvl="1"/>
            <a:r>
              <a:rPr lang="pt-PT" sz="1800" dirty="0"/>
              <a:t>ResNet-101 + FPN</a:t>
            </a:r>
          </a:p>
          <a:p>
            <a:r>
              <a:rPr lang="pt-PT" sz="1800" b="1" dirty="0"/>
              <a:t>Training regimes (×4):</a:t>
            </a:r>
          </a:p>
          <a:p>
            <a:pPr lvl="1"/>
            <a:r>
              <a:rPr lang="pt-PT" sz="1800" dirty="0" err="1"/>
              <a:t>Synthetic-only</a:t>
            </a:r>
            <a:endParaRPr lang="pt-PT" sz="1800" dirty="0"/>
          </a:p>
          <a:p>
            <a:pPr lvl="1"/>
            <a:r>
              <a:rPr lang="pt-PT" sz="1800" dirty="0"/>
              <a:t>Real-</a:t>
            </a:r>
            <a:r>
              <a:rPr lang="pt-PT" sz="1800" dirty="0" err="1"/>
              <a:t>only</a:t>
            </a:r>
            <a:endParaRPr lang="pt-PT" sz="1800" dirty="0"/>
          </a:p>
          <a:p>
            <a:pPr lvl="1"/>
            <a:r>
              <a:rPr lang="pt-PT" sz="1800" dirty="0" err="1"/>
              <a:t>Transfer</a:t>
            </a:r>
            <a:r>
              <a:rPr lang="pt-PT" sz="1800" dirty="0"/>
              <a:t>: </a:t>
            </a:r>
            <a:r>
              <a:rPr lang="pt-PT" sz="1800" dirty="0" err="1"/>
              <a:t>Synthetic</a:t>
            </a:r>
            <a:r>
              <a:rPr lang="pt-PT" sz="1800" dirty="0"/>
              <a:t> → Real fine-</a:t>
            </a:r>
            <a:r>
              <a:rPr lang="pt-PT" sz="1800" dirty="0" err="1"/>
              <a:t>tuning</a:t>
            </a:r>
            <a:endParaRPr lang="pt-PT" sz="1800" dirty="0"/>
          </a:p>
          <a:p>
            <a:pPr lvl="1"/>
            <a:r>
              <a:rPr lang="pt-PT" sz="1800" dirty="0" err="1"/>
              <a:t>Transfer</a:t>
            </a:r>
            <a:r>
              <a:rPr lang="pt-PT" sz="1800" dirty="0"/>
              <a:t> + </a:t>
            </a:r>
            <a:r>
              <a:rPr lang="pt-PT" sz="1800" dirty="0" err="1"/>
              <a:t>Augmentation</a:t>
            </a:r>
            <a:endParaRPr lang="pt-PT" sz="1800" dirty="0"/>
          </a:p>
          <a:p>
            <a:r>
              <a:rPr lang="pt-PT" sz="1800" b="1" dirty="0"/>
              <a:t>Total: </a:t>
            </a:r>
            <a:r>
              <a:rPr lang="pt-PT" sz="1800" dirty="0"/>
              <a:t>3 × 4 = 12 </a:t>
            </a:r>
            <a:r>
              <a:rPr lang="pt-PT" sz="1800" dirty="0" err="1"/>
              <a:t>experiments</a:t>
            </a:r>
            <a:r>
              <a:rPr lang="pt-PT" sz="1800" dirty="0"/>
              <a:t>, </a:t>
            </a:r>
            <a:r>
              <a:rPr lang="pt-PT" sz="1800" dirty="0" err="1"/>
              <a:t>same</a:t>
            </a:r>
            <a:r>
              <a:rPr lang="pt-PT" sz="1800" dirty="0"/>
              <a:t> </a:t>
            </a:r>
            <a:r>
              <a:rPr lang="pt-PT" sz="1800" dirty="0" err="1"/>
              <a:t>preprocessing</a:t>
            </a:r>
            <a:r>
              <a:rPr lang="pt-PT" sz="1800" dirty="0"/>
              <a:t> </a:t>
            </a:r>
            <a:r>
              <a:rPr lang="pt-PT" sz="1800" dirty="0" err="1"/>
              <a:t>and</a:t>
            </a:r>
            <a:r>
              <a:rPr lang="pt-PT" sz="1800" dirty="0"/>
              <a:t> </a:t>
            </a:r>
            <a:r>
              <a:rPr lang="pt-PT" sz="1800" dirty="0" err="1"/>
              <a:t>evaluation</a:t>
            </a:r>
            <a:r>
              <a:rPr lang="pt-PT" sz="1800" dirty="0"/>
              <a:t> </a:t>
            </a:r>
            <a:r>
              <a:rPr lang="pt-PT" sz="1800" dirty="0" err="1"/>
              <a:t>protocol</a:t>
            </a:r>
            <a:endParaRPr lang="pt-PT" sz="1800" dirty="0"/>
          </a:p>
          <a:p>
            <a:r>
              <a:rPr lang="pt-PT" sz="1800" b="1" dirty="0" err="1"/>
              <a:t>Reproducible</a:t>
            </a:r>
            <a:r>
              <a:rPr lang="pt-PT" sz="1800" b="1" dirty="0"/>
              <a:t> </a:t>
            </a:r>
            <a:r>
              <a:rPr lang="pt-PT" sz="1800" b="1" dirty="0" err="1"/>
              <a:t>runner</a:t>
            </a:r>
            <a:r>
              <a:rPr lang="pt-PT" sz="1800" b="1" dirty="0"/>
              <a:t>:</a:t>
            </a:r>
            <a:r>
              <a:rPr lang="pt-PT" sz="1800" dirty="0"/>
              <a:t> YAML </a:t>
            </a:r>
            <a:r>
              <a:rPr lang="pt-PT" sz="1800" dirty="0" err="1"/>
              <a:t>configs</a:t>
            </a:r>
            <a:r>
              <a:rPr lang="pt-PT" sz="1800" dirty="0"/>
              <a:t> → </a:t>
            </a:r>
            <a:r>
              <a:rPr lang="pt-PT" sz="1800" dirty="0" err="1"/>
              <a:t>same</a:t>
            </a:r>
            <a:r>
              <a:rPr lang="pt-PT" sz="1800" dirty="0"/>
              <a:t> pipeline for </a:t>
            </a:r>
            <a:r>
              <a:rPr lang="pt-PT" sz="1800" dirty="0" err="1"/>
              <a:t>all</a:t>
            </a:r>
            <a:r>
              <a:rPr lang="pt-PT" sz="1800" dirty="0"/>
              <a:t> runs</a:t>
            </a:r>
          </a:p>
          <a:p>
            <a:r>
              <a:rPr lang="en-US" sz="1800" b="1" dirty="0"/>
              <a:t>Training control:</a:t>
            </a:r>
            <a:r>
              <a:rPr lang="en-US" sz="1800" dirty="0"/>
              <a:t> max </a:t>
            </a:r>
            <a:r>
              <a:rPr lang="en-US" sz="1800" b="1" dirty="0"/>
              <a:t>50 epochs</a:t>
            </a:r>
            <a:r>
              <a:rPr lang="en-US" sz="1800" dirty="0"/>
              <a:t>, </a:t>
            </a:r>
            <a:r>
              <a:rPr lang="en-US" sz="1800" b="1" dirty="0"/>
              <a:t>early stopping patience = 7</a:t>
            </a:r>
            <a:endParaRPr lang="pt-PT" sz="1800" dirty="0"/>
          </a:p>
        </p:txBody>
      </p:sp>
      <p:sp>
        <p:nvSpPr>
          <p:cNvPr id="4" name="Marcador de Posição do Número do Diapositivo 3">
            <a:extLst>
              <a:ext uri="{FF2B5EF4-FFF2-40B4-BE49-F238E27FC236}">
                <a16:creationId xmlns:a16="http://schemas.microsoft.com/office/drawing/2014/main" id="{32D8A630-7C26-F40C-77E9-F4EB9B6CA8A0}"/>
              </a:ext>
            </a:extLst>
          </p:cNvPr>
          <p:cNvSpPr>
            <a:spLocks noGrp="1"/>
          </p:cNvSpPr>
          <p:nvPr>
            <p:ph type="sldNum" sz="quarter" idx="12"/>
          </p:nvPr>
        </p:nvSpPr>
        <p:spPr/>
        <p:txBody>
          <a:bodyPr/>
          <a:lstStyle/>
          <a:p>
            <a:fld id="{13A9F3AB-103B-42BD-8121-9F883A719849}" type="slidenum">
              <a:rPr lang="pt-PT" smtClean="0"/>
              <a:t>7</a:t>
            </a:fld>
            <a:endParaRPr lang="pt-PT"/>
          </a:p>
        </p:txBody>
      </p:sp>
    </p:spTree>
    <p:extLst>
      <p:ext uri="{BB962C8B-B14F-4D97-AF65-F5344CB8AC3E}">
        <p14:creationId xmlns:p14="http://schemas.microsoft.com/office/powerpoint/2010/main" val="787718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936561-AB1C-F6B9-2869-C25908C20C9E}"/>
              </a:ext>
            </a:extLst>
          </p:cNvPr>
          <p:cNvSpPr>
            <a:spLocks noGrp="1"/>
          </p:cNvSpPr>
          <p:nvPr>
            <p:ph type="title"/>
          </p:nvPr>
        </p:nvSpPr>
        <p:spPr/>
        <p:txBody>
          <a:bodyPr/>
          <a:lstStyle/>
          <a:p>
            <a:r>
              <a:rPr lang="en-US" dirty="0"/>
              <a:t>Synthetic → Real transfer learning</a:t>
            </a:r>
            <a:endParaRPr lang="pt-PT" dirty="0"/>
          </a:p>
        </p:txBody>
      </p:sp>
      <p:sp>
        <p:nvSpPr>
          <p:cNvPr id="3" name="Marcador de Posição de Conteúdo 2">
            <a:extLst>
              <a:ext uri="{FF2B5EF4-FFF2-40B4-BE49-F238E27FC236}">
                <a16:creationId xmlns:a16="http://schemas.microsoft.com/office/drawing/2014/main" id="{2D3ED1C3-2F1A-6759-11FC-631DCE18B4BA}"/>
              </a:ext>
            </a:extLst>
          </p:cNvPr>
          <p:cNvSpPr>
            <a:spLocks noGrp="1"/>
          </p:cNvSpPr>
          <p:nvPr>
            <p:ph idx="1"/>
          </p:nvPr>
        </p:nvSpPr>
        <p:spPr>
          <a:xfrm>
            <a:off x="1295400" y="2171700"/>
            <a:ext cx="9601200" cy="3581400"/>
          </a:xfrm>
        </p:spPr>
        <p:txBody>
          <a:bodyPr>
            <a:normAutofit/>
          </a:bodyPr>
          <a:lstStyle/>
          <a:p>
            <a:r>
              <a:rPr lang="pt-PT" sz="1800" b="1" dirty="0"/>
              <a:t>Step 1 - </a:t>
            </a:r>
            <a:r>
              <a:rPr lang="pt-PT" sz="1800" dirty="0" err="1"/>
              <a:t>Pretrain</a:t>
            </a:r>
            <a:r>
              <a:rPr lang="pt-PT" sz="1800" dirty="0"/>
              <a:t> </a:t>
            </a:r>
            <a:r>
              <a:rPr lang="pt-PT" sz="1800" dirty="0" err="1"/>
              <a:t>on</a:t>
            </a:r>
            <a:r>
              <a:rPr lang="pt-PT" sz="1800" dirty="0"/>
              <a:t> </a:t>
            </a:r>
            <a:r>
              <a:rPr lang="pt-PT" sz="1800" dirty="0" err="1"/>
              <a:t>synthetic</a:t>
            </a:r>
            <a:r>
              <a:rPr lang="pt-PT" sz="1800" dirty="0"/>
              <a:t>: </a:t>
            </a:r>
            <a:r>
              <a:rPr lang="pt-PT" sz="1800" dirty="0" err="1"/>
              <a:t>learn</a:t>
            </a:r>
            <a:r>
              <a:rPr lang="pt-PT" sz="1800" dirty="0"/>
              <a:t> </a:t>
            </a:r>
            <a:r>
              <a:rPr lang="pt-PT" sz="1800" dirty="0" err="1"/>
              <a:t>generic</a:t>
            </a:r>
            <a:r>
              <a:rPr lang="pt-PT" sz="1800" dirty="0"/>
              <a:t> “</a:t>
            </a:r>
            <a:r>
              <a:rPr lang="pt-PT" sz="1800" dirty="0" err="1"/>
              <a:t>bubble-like</a:t>
            </a:r>
            <a:r>
              <a:rPr lang="pt-PT" sz="1800" dirty="0"/>
              <a:t>” </a:t>
            </a:r>
            <a:r>
              <a:rPr lang="pt-PT" sz="1800" dirty="0" err="1"/>
              <a:t>features</a:t>
            </a:r>
            <a:r>
              <a:rPr lang="pt-PT" sz="1800" dirty="0"/>
              <a:t> </a:t>
            </a:r>
            <a:r>
              <a:rPr lang="pt-PT" sz="1800" dirty="0" err="1"/>
              <a:t>from</a:t>
            </a:r>
            <a:r>
              <a:rPr lang="pt-PT" sz="1800" dirty="0"/>
              <a:t> </a:t>
            </a:r>
            <a:r>
              <a:rPr lang="pt-PT" sz="1800" dirty="0" err="1"/>
              <a:t>BubANN_GAN</a:t>
            </a:r>
            <a:endParaRPr lang="pt-PT" sz="1800" dirty="0"/>
          </a:p>
          <a:p>
            <a:r>
              <a:rPr lang="pt-PT" sz="1800" b="1" dirty="0"/>
              <a:t>Step 2 - </a:t>
            </a:r>
            <a:r>
              <a:rPr lang="pt-PT" sz="1800" dirty="0"/>
              <a:t>Fine-tune </a:t>
            </a:r>
            <a:r>
              <a:rPr lang="pt-PT" sz="1800" dirty="0" err="1"/>
              <a:t>on</a:t>
            </a:r>
            <a:r>
              <a:rPr lang="pt-PT" sz="1800" dirty="0"/>
              <a:t> real: </a:t>
            </a:r>
            <a:r>
              <a:rPr lang="pt-PT" sz="1800" dirty="0" err="1"/>
              <a:t>adapt</a:t>
            </a:r>
            <a:r>
              <a:rPr lang="pt-PT" sz="1800" dirty="0"/>
              <a:t> to experimental </a:t>
            </a:r>
            <a:r>
              <a:rPr lang="pt-PT" sz="1800" dirty="0" err="1"/>
              <a:t>imaging</a:t>
            </a:r>
            <a:r>
              <a:rPr lang="pt-PT" sz="1800" dirty="0"/>
              <a:t> </a:t>
            </a:r>
            <a:r>
              <a:rPr lang="pt-PT" sz="1800" dirty="0" err="1"/>
              <a:t>conditions</a:t>
            </a:r>
            <a:r>
              <a:rPr lang="pt-PT" sz="1800" dirty="0"/>
              <a:t> (noise, </a:t>
            </a:r>
            <a:r>
              <a:rPr lang="pt-PT" sz="1800" dirty="0" err="1"/>
              <a:t>blur</a:t>
            </a:r>
            <a:r>
              <a:rPr lang="pt-PT" sz="1800" dirty="0"/>
              <a:t>, </a:t>
            </a:r>
            <a:r>
              <a:rPr lang="pt-PT" sz="1800" dirty="0" err="1"/>
              <a:t>illumination</a:t>
            </a:r>
            <a:r>
              <a:rPr lang="pt-PT" sz="1800" dirty="0"/>
              <a:t>)</a:t>
            </a:r>
          </a:p>
          <a:p>
            <a:r>
              <a:rPr lang="pt-PT" sz="1800" b="1" dirty="0" err="1"/>
              <a:t>Stabilization</a:t>
            </a:r>
            <a:r>
              <a:rPr lang="pt-PT" sz="1800" b="1" dirty="0"/>
              <a:t> </a:t>
            </a:r>
            <a:r>
              <a:rPr lang="pt-PT" sz="1800" b="1" dirty="0" err="1"/>
              <a:t>tricks</a:t>
            </a:r>
            <a:r>
              <a:rPr lang="pt-PT" sz="1800" b="1" dirty="0"/>
              <a:t> (to </a:t>
            </a:r>
            <a:r>
              <a:rPr lang="pt-PT" sz="1800" b="1" dirty="0" err="1"/>
              <a:t>avoid</a:t>
            </a:r>
            <a:r>
              <a:rPr lang="pt-PT" sz="1800" b="1" dirty="0"/>
              <a:t> </a:t>
            </a:r>
            <a:r>
              <a:rPr lang="pt-PT" sz="1800" b="1" dirty="0" err="1"/>
              <a:t>overfitting</a:t>
            </a:r>
            <a:r>
              <a:rPr lang="pt-PT" sz="1800" b="1" dirty="0"/>
              <a:t> / </a:t>
            </a:r>
            <a:r>
              <a:rPr lang="pt-PT" sz="1800" b="1" dirty="0" err="1"/>
              <a:t>forgetting</a:t>
            </a:r>
            <a:r>
              <a:rPr lang="pt-PT" sz="1800" b="1" dirty="0"/>
              <a:t>):</a:t>
            </a:r>
          </a:p>
          <a:p>
            <a:pPr lvl="1"/>
            <a:r>
              <a:rPr lang="en-US" sz="1800" dirty="0"/>
              <a:t>Backbone freeze (3 epochs): warm-start to stabilize transfer and align heads before full fine-tuning.</a:t>
            </a:r>
          </a:p>
          <a:p>
            <a:pPr lvl="1"/>
            <a:r>
              <a:rPr lang="pt-PT" sz="1800" dirty="0" err="1"/>
              <a:t>Then</a:t>
            </a:r>
            <a:r>
              <a:rPr lang="pt-PT" sz="1800" dirty="0"/>
              <a:t> </a:t>
            </a:r>
            <a:r>
              <a:rPr lang="pt-PT" sz="1800" dirty="0" err="1"/>
              <a:t>unfreeze</a:t>
            </a:r>
            <a:r>
              <a:rPr lang="pt-PT" sz="1800" dirty="0"/>
              <a:t> </a:t>
            </a:r>
            <a:r>
              <a:rPr lang="pt-PT" sz="1800" dirty="0" err="1"/>
              <a:t>with</a:t>
            </a:r>
            <a:r>
              <a:rPr lang="pt-PT" sz="1800" dirty="0"/>
              <a:t> a </a:t>
            </a:r>
            <a:r>
              <a:rPr lang="pt-PT" sz="1800" dirty="0" err="1"/>
              <a:t>smaller</a:t>
            </a:r>
            <a:r>
              <a:rPr lang="pt-PT" sz="1800" dirty="0"/>
              <a:t> </a:t>
            </a:r>
            <a:r>
              <a:rPr lang="pt-PT" sz="1800" dirty="0" err="1"/>
              <a:t>backbone</a:t>
            </a:r>
            <a:r>
              <a:rPr lang="pt-PT" sz="1800" dirty="0"/>
              <a:t> </a:t>
            </a:r>
            <a:r>
              <a:rPr lang="pt-PT" sz="1800" dirty="0" err="1"/>
              <a:t>learning</a:t>
            </a:r>
            <a:r>
              <a:rPr lang="pt-PT" sz="1800" dirty="0"/>
              <a:t> rate (</a:t>
            </a:r>
            <a:r>
              <a:rPr lang="pt-PT" sz="1800" dirty="0" err="1"/>
              <a:t>backbone</a:t>
            </a:r>
            <a:r>
              <a:rPr lang="pt-PT" sz="1800" dirty="0"/>
              <a:t> LR </a:t>
            </a:r>
            <a:r>
              <a:rPr lang="pt-PT" sz="1800" dirty="0" err="1"/>
              <a:t>factor</a:t>
            </a:r>
            <a:r>
              <a:rPr lang="pt-PT" sz="1800" dirty="0"/>
              <a:t>)</a:t>
            </a:r>
          </a:p>
          <a:p>
            <a:r>
              <a:rPr lang="pt-PT" sz="1800" b="1" dirty="0" err="1"/>
              <a:t>Controlled</a:t>
            </a:r>
            <a:r>
              <a:rPr lang="pt-PT" sz="1800" b="1" dirty="0"/>
              <a:t> </a:t>
            </a:r>
            <a:r>
              <a:rPr lang="pt-PT" sz="1800" b="1" dirty="0" err="1"/>
              <a:t>comparison</a:t>
            </a:r>
            <a:r>
              <a:rPr lang="pt-PT" sz="1800" b="1" dirty="0"/>
              <a:t>: </a:t>
            </a:r>
            <a:r>
              <a:rPr lang="pt-PT" sz="1800" dirty="0" err="1"/>
              <a:t>same</a:t>
            </a:r>
            <a:r>
              <a:rPr lang="pt-PT" sz="1800" dirty="0"/>
              <a:t> input </a:t>
            </a:r>
            <a:r>
              <a:rPr lang="pt-PT" sz="1800" dirty="0" err="1"/>
              <a:t>resolution</a:t>
            </a:r>
            <a:r>
              <a:rPr lang="pt-PT" sz="1800" dirty="0"/>
              <a:t> </a:t>
            </a:r>
            <a:r>
              <a:rPr lang="pt-PT" sz="1800" dirty="0" err="1"/>
              <a:t>and</a:t>
            </a:r>
            <a:r>
              <a:rPr lang="pt-PT" sz="1800" dirty="0"/>
              <a:t> </a:t>
            </a:r>
            <a:r>
              <a:rPr lang="pt-PT" sz="1800" dirty="0" err="1"/>
              <a:t>evaluation</a:t>
            </a:r>
            <a:r>
              <a:rPr lang="pt-PT" sz="1800" dirty="0"/>
              <a:t> </a:t>
            </a:r>
            <a:r>
              <a:rPr lang="pt-PT" sz="1800" dirty="0" err="1"/>
              <a:t>across</a:t>
            </a:r>
            <a:r>
              <a:rPr lang="pt-PT" sz="1800" dirty="0"/>
              <a:t> regimes</a:t>
            </a:r>
          </a:p>
        </p:txBody>
      </p:sp>
      <p:sp>
        <p:nvSpPr>
          <p:cNvPr id="4" name="Marcador de Posição do Número do Diapositivo 3">
            <a:extLst>
              <a:ext uri="{FF2B5EF4-FFF2-40B4-BE49-F238E27FC236}">
                <a16:creationId xmlns:a16="http://schemas.microsoft.com/office/drawing/2014/main" id="{77474150-55BB-ED37-E303-FB65AB77B305}"/>
              </a:ext>
            </a:extLst>
          </p:cNvPr>
          <p:cNvSpPr>
            <a:spLocks noGrp="1"/>
          </p:cNvSpPr>
          <p:nvPr>
            <p:ph type="sldNum" sz="quarter" idx="12"/>
          </p:nvPr>
        </p:nvSpPr>
        <p:spPr/>
        <p:txBody>
          <a:bodyPr/>
          <a:lstStyle/>
          <a:p>
            <a:fld id="{13A9F3AB-103B-42BD-8121-9F883A719849}" type="slidenum">
              <a:rPr lang="pt-PT" smtClean="0"/>
              <a:t>8</a:t>
            </a:fld>
            <a:endParaRPr lang="pt-PT"/>
          </a:p>
        </p:txBody>
      </p:sp>
    </p:spTree>
    <p:extLst>
      <p:ext uri="{BB962C8B-B14F-4D97-AF65-F5344CB8AC3E}">
        <p14:creationId xmlns:p14="http://schemas.microsoft.com/office/powerpoint/2010/main" val="22223684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C16468-2688-B530-E0D4-083448AA53F4}"/>
              </a:ext>
            </a:extLst>
          </p:cNvPr>
          <p:cNvSpPr>
            <a:spLocks noGrp="1"/>
          </p:cNvSpPr>
          <p:nvPr>
            <p:ph type="title"/>
          </p:nvPr>
        </p:nvSpPr>
        <p:spPr/>
        <p:txBody>
          <a:bodyPr/>
          <a:lstStyle/>
          <a:p>
            <a:r>
              <a:rPr lang="en-US" dirty="0"/>
              <a:t>Evaluation</a:t>
            </a:r>
            <a:endParaRPr lang="pt-PT" dirty="0"/>
          </a:p>
        </p:txBody>
      </p:sp>
      <p:sp>
        <p:nvSpPr>
          <p:cNvPr id="3" name="Marcador de Posição de Conteúdo 2">
            <a:extLst>
              <a:ext uri="{FF2B5EF4-FFF2-40B4-BE49-F238E27FC236}">
                <a16:creationId xmlns:a16="http://schemas.microsoft.com/office/drawing/2014/main" id="{84515BF9-62F8-06F7-2D0A-42FDB4D32D00}"/>
              </a:ext>
            </a:extLst>
          </p:cNvPr>
          <p:cNvSpPr>
            <a:spLocks noGrp="1"/>
          </p:cNvSpPr>
          <p:nvPr>
            <p:ph idx="1"/>
          </p:nvPr>
        </p:nvSpPr>
        <p:spPr>
          <a:xfrm>
            <a:off x="1295400" y="2171700"/>
            <a:ext cx="9601200" cy="3581400"/>
          </a:xfrm>
        </p:spPr>
        <p:txBody>
          <a:bodyPr>
            <a:normAutofit/>
          </a:bodyPr>
          <a:lstStyle/>
          <a:p>
            <a:r>
              <a:rPr lang="en-US" sz="1800" b="1" dirty="0"/>
              <a:t>Train / Val (model selection)</a:t>
            </a:r>
          </a:p>
          <a:p>
            <a:pPr lvl="1"/>
            <a:r>
              <a:rPr lang="en-US" sz="1800" dirty="0" err="1"/>
              <a:t>mAP</a:t>
            </a:r>
            <a:r>
              <a:rPr lang="en-US" sz="1800" dirty="0"/>
              <a:t>@[0.50:0.95] (COCO AP)</a:t>
            </a:r>
          </a:p>
          <a:p>
            <a:pPr lvl="1"/>
            <a:r>
              <a:rPr lang="en-US" sz="1800" dirty="0"/>
              <a:t>used to pick best checkpoint</a:t>
            </a:r>
          </a:p>
          <a:p>
            <a:r>
              <a:rPr lang="en-US" sz="1800" b="1" dirty="0"/>
              <a:t>Test (final reporting)</a:t>
            </a:r>
          </a:p>
          <a:p>
            <a:pPr lvl="1"/>
            <a:r>
              <a:rPr lang="en-US" sz="1800" dirty="0"/>
              <a:t>Union-mask overlap: Dice / </a:t>
            </a:r>
            <a:r>
              <a:rPr lang="en-US" sz="1800" dirty="0" err="1"/>
              <a:t>IoU</a:t>
            </a:r>
            <a:r>
              <a:rPr lang="en-US" sz="1800" dirty="0"/>
              <a:t> / Precision / Recall / F1</a:t>
            </a:r>
          </a:p>
          <a:p>
            <a:pPr lvl="1"/>
            <a:r>
              <a:rPr lang="en-US" sz="1800" dirty="0"/>
              <a:t>Measurement indicators: </a:t>
            </a:r>
            <a:r>
              <a:rPr lang="el-GR" sz="1800" dirty="0"/>
              <a:t>Δ</a:t>
            </a:r>
            <a:r>
              <a:rPr lang="en-US" sz="1800" dirty="0"/>
              <a:t>N and |</a:t>
            </a:r>
            <a:r>
              <a:rPr lang="el-GR" sz="1800" dirty="0"/>
              <a:t>Δ</a:t>
            </a:r>
            <a:r>
              <a:rPr lang="en-US" sz="1800" dirty="0"/>
              <a:t>N|, mean/median area</a:t>
            </a:r>
          </a:p>
          <a:p>
            <a:pPr lvl="1"/>
            <a:r>
              <a:rPr lang="en-US" sz="1800" dirty="0"/>
              <a:t>Runtime: FPS</a:t>
            </a:r>
          </a:p>
          <a:p>
            <a:r>
              <a:rPr lang="en-US" sz="1800" b="1" dirty="0"/>
              <a:t>Why dual-view: </a:t>
            </a:r>
            <a:r>
              <a:rPr lang="en-US" sz="1800" dirty="0"/>
              <a:t>good overlap can still mean wrong count (split/merge).</a:t>
            </a:r>
          </a:p>
        </p:txBody>
      </p:sp>
      <p:sp>
        <p:nvSpPr>
          <p:cNvPr id="4" name="Marcador de Posição do Número do Diapositivo 3">
            <a:extLst>
              <a:ext uri="{FF2B5EF4-FFF2-40B4-BE49-F238E27FC236}">
                <a16:creationId xmlns:a16="http://schemas.microsoft.com/office/drawing/2014/main" id="{C4CDCE06-9807-9BC7-23ED-B1772D3605BA}"/>
              </a:ext>
            </a:extLst>
          </p:cNvPr>
          <p:cNvSpPr>
            <a:spLocks noGrp="1"/>
          </p:cNvSpPr>
          <p:nvPr>
            <p:ph type="sldNum" sz="quarter" idx="12"/>
          </p:nvPr>
        </p:nvSpPr>
        <p:spPr/>
        <p:txBody>
          <a:bodyPr/>
          <a:lstStyle/>
          <a:p>
            <a:fld id="{13A9F3AB-103B-42BD-8121-9F883A719849}" type="slidenum">
              <a:rPr lang="pt-PT" smtClean="0"/>
              <a:t>9</a:t>
            </a:fld>
            <a:endParaRPr lang="pt-PT"/>
          </a:p>
        </p:txBody>
      </p:sp>
    </p:spTree>
    <p:extLst>
      <p:ext uri="{BB962C8B-B14F-4D97-AF65-F5344CB8AC3E}">
        <p14:creationId xmlns:p14="http://schemas.microsoft.com/office/powerpoint/2010/main" val="1671979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2008B2-B2AD-B5DA-490A-7877E59F114F}"/>
              </a:ext>
            </a:extLst>
          </p:cNvPr>
          <p:cNvSpPr>
            <a:spLocks noGrp="1"/>
          </p:cNvSpPr>
          <p:nvPr>
            <p:ph type="title"/>
          </p:nvPr>
        </p:nvSpPr>
        <p:spPr/>
        <p:txBody>
          <a:bodyPr/>
          <a:lstStyle/>
          <a:p>
            <a:r>
              <a:rPr lang="en-US" dirty="0"/>
              <a:t>Results overview</a:t>
            </a:r>
            <a:endParaRPr lang="pt-PT" dirty="0"/>
          </a:p>
        </p:txBody>
      </p:sp>
      <p:sp>
        <p:nvSpPr>
          <p:cNvPr id="3" name="Marcador de Posição de Conteúdo 2">
            <a:extLst>
              <a:ext uri="{FF2B5EF4-FFF2-40B4-BE49-F238E27FC236}">
                <a16:creationId xmlns:a16="http://schemas.microsoft.com/office/drawing/2014/main" id="{482CC2C7-7313-5580-C278-1ED34D59251D}"/>
              </a:ext>
            </a:extLst>
          </p:cNvPr>
          <p:cNvSpPr>
            <a:spLocks noGrp="1"/>
          </p:cNvSpPr>
          <p:nvPr>
            <p:ph idx="1"/>
          </p:nvPr>
        </p:nvSpPr>
        <p:spPr>
          <a:xfrm>
            <a:off x="838200" y="4997450"/>
            <a:ext cx="10515600" cy="1736725"/>
          </a:xfrm>
        </p:spPr>
        <p:txBody>
          <a:bodyPr>
            <a:normAutofit/>
          </a:bodyPr>
          <a:lstStyle/>
          <a:p>
            <a:r>
              <a:rPr lang="pt-PT" sz="1800" dirty="0"/>
              <a:t>Real-</a:t>
            </a:r>
            <a:r>
              <a:rPr lang="pt-PT" sz="1800" dirty="0" err="1"/>
              <a:t>only</a:t>
            </a:r>
            <a:r>
              <a:rPr lang="pt-PT" sz="1800" dirty="0"/>
              <a:t> training </a:t>
            </a:r>
            <a:r>
              <a:rPr lang="pt-PT" sz="1800" dirty="0" err="1"/>
              <a:t>already</a:t>
            </a:r>
            <a:r>
              <a:rPr lang="pt-PT" sz="1800" dirty="0"/>
              <a:t> </a:t>
            </a:r>
            <a:r>
              <a:rPr lang="pt-PT" sz="1800" dirty="0" err="1"/>
              <a:t>achieves</a:t>
            </a:r>
            <a:r>
              <a:rPr lang="pt-PT" sz="1800" dirty="0"/>
              <a:t> </a:t>
            </a:r>
            <a:r>
              <a:rPr lang="pt-PT" sz="1800" dirty="0" err="1"/>
              <a:t>high</a:t>
            </a:r>
            <a:r>
              <a:rPr lang="pt-PT" sz="1800" dirty="0"/>
              <a:t> </a:t>
            </a:r>
            <a:r>
              <a:rPr lang="pt-PT" sz="1800" dirty="0" err="1"/>
              <a:t>overlap</a:t>
            </a:r>
            <a:r>
              <a:rPr lang="pt-PT" sz="1800" dirty="0"/>
              <a:t>, </a:t>
            </a:r>
            <a:r>
              <a:rPr lang="pt-PT" sz="1800" dirty="0" err="1"/>
              <a:t>but</a:t>
            </a:r>
            <a:r>
              <a:rPr lang="pt-PT" sz="1800" dirty="0"/>
              <a:t> </a:t>
            </a:r>
            <a:r>
              <a:rPr lang="pt-PT" sz="1800" dirty="0" err="1"/>
              <a:t>instance</a:t>
            </a:r>
            <a:r>
              <a:rPr lang="pt-PT" sz="1800" dirty="0"/>
              <a:t> </a:t>
            </a:r>
            <a:r>
              <a:rPr lang="pt-PT" sz="1800" dirty="0" err="1"/>
              <a:t>stability</a:t>
            </a:r>
            <a:r>
              <a:rPr lang="pt-PT" sz="1800" dirty="0"/>
              <a:t> </a:t>
            </a:r>
            <a:r>
              <a:rPr lang="pt-PT" sz="1800" dirty="0" err="1"/>
              <a:t>differs</a:t>
            </a:r>
            <a:r>
              <a:rPr lang="pt-PT" sz="1800" dirty="0"/>
              <a:t> </a:t>
            </a:r>
            <a:r>
              <a:rPr lang="pt-PT" sz="1800" dirty="0" err="1"/>
              <a:t>across</a:t>
            </a:r>
            <a:r>
              <a:rPr lang="pt-PT" sz="1800" dirty="0"/>
              <a:t> </a:t>
            </a:r>
            <a:r>
              <a:rPr lang="pt-PT" sz="1800" dirty="0" err="1"/>
              <a:t>backbones</a:t>
            </a:r>
            <a:r>
              <a:rPr lang="pt-PT" sz="1800" dirty="0"/>
              <a:t>. </a:t>
            </a:r>
          </a:p>
          <a:p>
            <a:r>
              <a:rPr lang="pt-PT" sz="1800" dirty="0" err="1"/>
              <a:t>Synthetic-only</a:t>
            </a:r>
            <a:r>
              <a:rPr lang="pt-PT" sz="1800" dirty="0"/>
              <a:t> </a:t>
            </a:r>
            <a:r>
              <a:rPr lang="pt-PT" sz="1800" dirty="0" err="1"/>
              <a:t>underperforms</a:t>
            </a:r>
            <a:r>
              <a:rPr lang="pt-PT" sz="1800" dirty="0"/>
              <a:t> </a:t>
            </a:r>
            <a:r>
              <a:rPr lang="pt-PT" sz="1800" dirty="0" err="1"/>
              <a:t>on</a:t>
            </a:r>
            <a:r>
              <a:rPr lang="pt-PT" sz="1800" dirty="0"/>
              <a:t> real </a:t>
            </a:r>
            <a:r>
              <a:rPr lang="pt-PT" sz="1800" dirty="0" err="1"/>
              <a:t>images</a:t>
            </a:r>
            <a:r>
              <a:rPr lang="pt-PT" sz="1800" dirty="0"/>
              <a:t> (</a:t>
            </a:r>
            <a:r>
              <a:rPr lang="pt-PT" sz="1800" dirty="0" err="1"/>
              <a:t>domain</a:t>
            </a:r>
            <a:r>
              <a:rPr lang="pt-PT" sz="1800" dirty="0"/>
              <a:t> gap), </a:t>
            </a:r>
            <a:r>
              <a:rPr lang="pt-PT" sz="1800" dirty="0" err="1"/>
              <a:t>especially</a:t>
            </a:r>
            <a:r>
              <a:rPr lang="pt-PT" sz="1800" dirty="0"/>
              <a:t> for ResNet-101.</a:t>
            </a:r>
          </a:p>
          <a:p>
            <a:r>
              <a:rPr lang="pt-PT" sz="1800" dirty="0" err="1"/>
              <a:t>Best</a:t>
            </a:r>
            <a:r>
              <a:rPr lang="pt-PT" sz="1800" dirty="0"/>
              <a:t> </a:t>
            </a:r>
            <a:r>
              <a:rPr lang="pt-PT" sz="1800" dirty="0" err="1"/>
              <a:t>overall</a:t>
            </a:r>
            <a:r>
              <a:rPr lang="pt-PT" sz="1800" dirty="0"/>
              <a:t> in </a:t>
            </a:r>
            <a:r>
              <a:rPr lang="pt-PT" sz="1800" dirty="0" err="1"/>
              <a:t>this</a:t>
            </a:r>
            <a:r>
              <a:rPr lang="pt-PT" sz="1800" dirty="0"/>
              <a:t> </a:t>
            </a:r>
            <a:r>
              <a:rPr lang="pt-PT" sz="1800" dirty="0" err="1"/>
              <a:t>grid</a:t>
            </a:r>
            <a:r>
              <a:rPr lang="pt-PT" sz="1800" dirty="0"/>
              <a:t>: ResNet-50-FPN v2 + </a:t>
            </a:r>
            <a:r>
              <a:rPr lang="pt-PT" sz="1800" dirty="0" err="1"/>
              <a:t>Transfer</a:t>
            </a:r>
            <a:r>
              <a:rPr lang="pt-PT" sz="1800" dirty="0"/>
              <a:t> → Dice 0.963, </a:t>
            </a:r>
            <a:r>
              <a:rPr lang="pt-PT" sz="1800" dirty="0" err="1"/>
              <a:t>IoU</a:t>
            </a:r>
            <a:r>
              <a:rPr lang="pt-PT" sz="1800" dirty="0"/>
              <a:t> 0.930, |</a:t>
            </a:r>
            <a:r>
              <a:rPr lang="el-GR" sz="1800" dirty="0"/>
              <a:t>Δ</a:t>
            </a:r>
            <a:r>
              <a:rPr lang="pt-PT" sz="1800" dirty="0"/>
              <a:t>N| 0.40.</a:t>
            </a:r>
          </a:p>
        </p:txBody>
      </p:sp>
      <p:sp>
        <p:nvSpPr>
          <p:cNvPr id="4" name="Marcador de Posição do Número do Diapositivo 3">
            <a:extLst>
              <a:ext uri="{FF2B5EF4-FFF2-40B4-BE49-F238E27FC236}">
                <a16:creationId xmlns:a16="http://schemas.microsoft.com/office/drawing/2014/main" id="{2114C20E-23FE-2647-F919-47A041C5C2AB}"/>
              </a:ext>
            </a:extLst>
          </p:cNvPr>
          <p:cNvSpPr>
            <a:spLocks noGrp="1"/>
          </p:cNvSpPr>
          <p:nvPr>
            <p:ph type="sldNum" sz="quarter" idx="12"/>
          </p:nvPr>
        </p:nvSpPr>
        <p:spPr/>
        <p:txBody>
          <a:bodyPr/>
          <a:lstStyle/>
          <a:p>
            <a:fld id="{13A9F3AB-103B-42BD-8121-9F883A719849}" type="slidenum">
              <a:rPr lang="pt-PT" smtClean="0"/>
              <a:t>10</a:t>
            </a:fld>
            <a:endParaRPr lang="pt-PT"/>
          </a:p>
        </p:txBody>
      </p:sp>
      <p:pic>
        <p:nvPicPr>
          <p:cNvPr id="12" name="Imagem 11" descr="Uma imagem com texto, captura de ecrã, número&#10;&#10;Os conteúdos gerados por IA podem estar incorretos.">
            <a:extLst>
              <a:ext uri="{FF2B5EF4-FFF2-40B4-BE49-F238E27FC236}">
                <a16:creationId xmlns:a16="http://schemas.microsoft.com/office/drawing/2014/main" id="{FCFF0A67-60BE-B44B-DD31-47E8B5C280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7561" y="1500521"/>
            <a:ext cx="7416877" cy="2879098"/>
          </a:xfrm>
          <a:prstGeom prst="rect">
            <a:avLst/>
          </a:prstGeom>
        </p:spPr>
      </p:pic>
      <p:sp>
        <p:nvSpPr>
          <p:cNvPr id="13" name="TextBox 5">
            <a:extLst>
              <a:ext uri="{FF2B5EF4-FFF2-40B4-BE49-F238E27FC236}">
                <a16:creationId xmlns:a16="http://schemas.microsoft.com/office/drawing/2014/main" id="{14163E16-5B5A-1F31-6E6F-5E51D0157392}"/>
              </a:ext>
            </a:extLst>
          </p:cNvPr>
          <p:cNvSpPr txBox="1"/>
          <p:nvPr/>
        </p:nvSpPr>
        <p:spPr>
          <a:xfrm>
            <a:off x="2146223" y="4417719"/>
            <a:ext cx="789955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Table 1:</a:t>
            </a:r>
            <a:r>
              <a:rPr lang="en-US" sz="1200" dirty="0">
                <a:ea typeface="+mn-lt"/>
                <a:cs typeface="+mn-lt"/>
              </a:rPr>
              <a:t> </a:t>
            </a:r>
            <a:r>
              <a:rPr lang="en-US" sz="1200" dirty="0"/>
              <a:t>Main comparison of the 12 experiments on the held-out real experimental test split (25 images)</a:t>
            </a:r>
            <a:endParaRPr lang="en-US" dirty="0"/>
          </a:p>
        </p:txBody>
      </p:sp>
    </p:spTree>
    <p:extLst>
      <p:ext uri="{BB962C8B-B14F-4D97-AF65-F5344CB8AC3E}">
        <p14:creationId xmlns:p14="http://schemas.microsoft.com/office/powerpoint/2010/main" val="4211734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2E40FA-DC05-C78D-E375-9B70A957023A}"/>
              </a:ext>
            </a:extLst>
          </p:cNvPr>
          <p:cNvSpPr>
            <a:spLocks noGrp="1"/>
          </p:cNvSpPr>
          <p:nvPr>
            <p:ph type="title"/>
          </p:nvPr>
        </p:nvSpPr>
        <p:spPr>
          <a:xfrm>
            <a:off x="838200" y="365126"/>
            <a:ext cx="10515600" cy="735348"/>
          </a:xfrm>
        </p:spPr>
        <p:txBody>
          <a:bodyPr/>
          <a:lstStyle/>
          <a:p>
            <a:r>
              <a:rPr lang="en-US" dirty="0"/>
              <a:t>Transfer learning impact</a:t>
            </a:r>
            <a:endParaRPr lang="pt-PT" dirty="0"/>
          </a:p>
        </p:txBody>
      </p:sp>
      <p:sp>
        <p:nvSpPr>
          <p:cNvPr id="3" name="Marcador de Posição de Conteúdo 2">
            <a:extLst>
              <a:ext uri="{FF2B5EF4-FFF2-40B4-BE49-F238E27FC236}">
                <a16:creationId xmlns:a16="http://schemas.microsoft.com/office/drawing/2014/main" id="{DEC266DF-D42E-385D-917F-69BCC094C8DE}"/>
              </a:ext>
            </a:extLst>
          </p:cNvPr>
          <p:cNvSpPr>
            <a:spLocks noGrp="1"/>
          </p:cNvSpPr>
          <p:nvPr>
            <p:ph idx="1"/>
          </p:nvPr>
        </p:nvSpPr>
        <p:spPr>
          <a:xfrm>
            <a:off x="6706262" y="1100474"/>
            <a:ext cx="4772244" cy="4802385"/>
          </a:xfrm>
        </p:spPr>
        <p:txBody>
          <a:bodyPr>
            <a:noAutofit/>
          </a:bodyPr>
          <a:lstStyle/>
          <a:p>
            <a:r>
              <a:rPr lang="pt-PT" sz="1800" b="1" dirty="0"/>
              <a:t>ResNet-50 </a:t>
            </a:r>
            <a:r>
              <a:rPr lang="pt-PT" sz="1800" b="1" dirty="0" err="1"/>
              <a:t>backbones</a:t>
            </a:r>
            <a:r>
              <a:rPr lang="pt-PT" sz="1800" b="1" dirty="0"/>
              <a:t>: </a:t>
            </a:r>
            <a:r>
              <a:rPr lang="pt-PT" sz="1800" dirty="0" err="1"/>
              <a:t>small</a:t>
            </a:r>
            <a:r>
              <a:rPr lang="pt-PT" sz="1800" dirty="0"/>
              <a:t> </a:t>
            </a:r>
            <a:r>
              <a:rPr lang="pt-PT" sz="1800" dirty="0" err="1"/>
              <a:t>overlap</a:t>
            </a:r>
            <a:r>
              <a:rPr lang="pt-PT" sz="1800" dirty="0"/>
              <a:t> </a:t>
            </a:r>
            <a:r>
              <a:rPr lang="pt-PT" sz="1800" dirty="0" err="1"/>
              <a:t>gains</a:t>
            </a:r>
            <a:r>
              <a:rPr lang="pt-PT" sz="1800" dirty="0"/>
              <a:t>, </a:t>
            </a:r>
            <a:r>
              <a:rPr lang="pt-PT" sz="1800" dirty="0" err="1"/>
              <a:t>clearer</a:t>
            </a:r>
            <a:r>
              <a:rPr lang="pt-PT" sz="1800" dirty="0"/>
              <a:t> </a:t>
            </a:r>
            <a:r>
              <a:rPr lang="pt-PT" sz="1800" dirty="0" err="1"/>
              <a:t>improvement</a:t>
            </a:r>
            <a:r>
              <a:rPr lang="pt-PT" sz="1800" dirty="0"/>
              <a:t> in </a:t>
            </a:r>
            <a:r>
              <a:rPr lang="pt-PT" sz="1800" dirty="0" err="1"/>
              <a:t>counting</a:t>
            </a:r>
            <a:r>
              <a:rPr lang="pt-PT" sz="1800" dirty="0"/>
              <a:t> </a:t>
            </a:r>
            <a:r>
              <a:rPr lang="pt-PT" sz="1800" dirty="0" err="1"/>
              <a:t>stability</a:t>
            </a:r>
            <a:endParaRPr lang="pt-PT" sz="1800" dirty="0"/>
          </a:p>
          <a:p>
            <a:pPr lvl="1"/>
            <a:r>
              <a:rPr lang="pt-PT" sz="1800" dirty="0"/>
              <a:t>R50: Dice 0.9530 → 0.9544, |</a:t>
            </a:r>
            <a:r>
              <a:rPr lang="el-GR" sz="1800" dirty="0"/>
              <a:t>Δ</a:t>
            </a:r>
            <a:r>
              <a:rPr lang="pt-PT" sz="1800" dirty="0"/>
              <a:t>N| 0.60 → 0.44</a:t>
            </a:r>
          </a:p>
          <a:p>
            <a:pPr lvl="1"/>
            <a:r>
              <a:rPr lang="pt-PT" sz="1800" dirty="0"/>
              <a:t>R50 v2: Dice 0.9602 → 0.9628, |</a:t>
            </a:r>
            <a:r>
              <a:rPr lang="el-GR" sz="1800" dirty="0"/>
              <a:t>Δ</a:t>
            </a:r>
            <a:r>
              <a:rPr lang="pt-PT" sz="1800" dirty="0"/>
              <a:t>N| 0.48 → 0.40</a:t>
            </a:r>
          </a:p>
          <a:p>
            <a:r>
              <a:rPr lang="pt-PT" sz="1800" b="1" dirty="0" err="1"/>
              <a:t>Largest</a:t>
            </a:r>
            <a:r>
              <a:rPr lang="pt-PT" sz="1800" b="1" dirty="0"/>
              <a:t> </a:t>
            </a:r>
            <a:r>
              <a:rPr lang="pt-PT" sz="1800" b="1" dirty="0" err="1"/>
              <a:t>benefit</a:t>
            </a:r>
            <a:r>
              <a:rPr lang="pt-PT" sz="1800" b="1" dirty="0"/>
              <a:t> </a:t>
            </a:r>
            <a:r>
              <a:rPr lang="pt-PT" sz="1800" b="1" dirty="0" err="1"/>
              <a:t>on</a:t>
            </a:r>
            <a:r>
              <a:rPr lang="pt-PT" sz="1800" b="1" dirty="0"/>
              <a:t> ResNet-101: </a:t>
            </a:r>
            <a:r>
              <a:rPr lang="pt-PT" sz="1800" dirty="0" err="1"/>
              <a:t>transfer</a:t>
            </a:r>
            <a:r>
              <a:rPr lang="pt-PT" sz="1800" dirty="0"/>
              <a:t> fixes </a:t>
            </a:r>
            <a:r>
              <a:rPr lang="pt-PT" sz="1800" dirty="0" err="1"/>
              <a:t>unstable</a:t>
            </a:r>
            <a:r>
              <a:rPr lang="pt-PT" sz="1800" dirty="0"/>
              <a:t> </a:t>
            </a:r>
            <a:r>
              <a:rPr lang="pt-PT" sz="1800" dirty="0" err="1"/>
              <a:t>instance</a:t>
            </a:r>
            <a:r>
              <a:rPr lang="pt-PT" sz="1800" dirty="0"/>
              <a:t> </a:t>
            </a:r>
            <a:r>
              <a:rPr lang="pt-PT" sz="1800" dirty="0" err="1"/>
              <a:t>predictions</a:t>
            </a:r>
            <a:endParaRPr lang="pt-PT" sz="1800" dirty="0"/>
          </a:p>
          <a:p>
            <a:pPr lvl="1"/>
            <a:r>
              <a:rPr lang="pt-PT" sz="1800" dirty="0"/>
              <a:t>Dice 0.9207 → 0.9552</a:t>
            </a:r>
          </a:p>
          <a:p>
            <a:pPr lvl="1"/>
            <a:r>
              <a:rPr lang="pt-PT" sz="1800" dirty="0"/>
              <a:t>|</a:t>
            </a:r>
            <a:r>
              <a:rPr lang="el-GR" sz="1800" dirty="0"/>
              <a:t>Δ</a:t>
            </a:r>
            <a:r>
              <a:rPr lang="pt-PT" sz="1800" dirty="0"/>
              <a:t>N| 3.52 → 0.96</a:t>
            </a:r>
          </a:p>
          <a:p>
            <a:r>
              <a:rPr lang="pt-PT" sz="1800" b="1" dirty="0"/>
              <a:t>Bias </a:t>
            </a:r>
            <a:r>
              <a:rPr lang="pt-PT" sz="1800" b="1" dirty="0" err="1"/>
              <a:t>reduction</a:t>
            </a:r>
            <a:r>
              <a:rPr lang="pt-PT" sz="1800" b="1" dirty="0"/>
              <a:t> (</a:t>
            </a:r>
            <a:r>
              <a:rPr lang="el-GR" sz="1800" b="1" dirty="0"/>
              <a:t>Δ</a:t>
            </a:r>
            <a:r>
              <a:rPr lang="pt-PT" sz="1800" b="1" dirty="0"/>
              <a:t>N </a:t>
            </a:r>
            <a:r>
              <a:rPr lang="pt-PT" sz="1800" b="1" dirty="0" err="1"/>
              <a:t>closer</a:t>
            </a:r>
            <a:r>
              <a:rPr lang="pt-PT" sz="1800" b="1" dirty="0"/>
              <a:t> to 0): </a:t>
            </a:r>
            <a:r>
              <a:rPr lang="pt-PT" sz="1800" dirty="0"/>
              <a:t>R101 </a:t>
            </a:r>
            <a:r>
              <a:rPr lang="pt-PT" sz="1800" dirty="0" err="1"/>
              <a:t>overcount</a:t>
            </a:r>
            <a:r>
              <a:rPr lang="pt-PT" sz="1800" dirty="0"/>
              <a:t> +3.52 → +0.80</a:t>
            </a:r>
          </a:p>
          <a:p>
            <a:r>
              <a:rPr lang="pt-PT" sz="1800" b="1" dirty="0"/>
              <a:t>Takeaway: </a:t>
            </a:r>
            <a:r>
              <a:rPr lang="pt-PT" sz="1800" dirty="0" err="1"/>
              <a:t>overlap</a:t>
            </a:r>
            <a:r>
              <a:rPr lang="pt-PT" sz="1800" dirty="0"/>
              <a:t> </a:t>
            </a:r>
            <a:r>
              <a:rPr lang="pt-PT" sz="1800" dirty="0" err="1"/>
              <a:t>is</a:t>
            </a:r>
            <a:r>
              <a:rPr lang="pt-PT" sz="1800" dirty="0"/>
              <a:t> </a:t>
            </a:r>
            <a:r>
              <a:rPr lang="pt-PT" sz="1800" dirty="0" err="1"/>
              <a:t>near</a:t>
            </a:r>
            <a:r>
              <a:rPr lang="pt-PT" sz="1800" dirty="0"/>
              <a:t> a </a:t>
            </a:r>
            <a:r>
              <a:rPr lang="pt-PT" sz="1800" dirty="0" err="1"/>
              <a:t>ceiling</a:t>
            </a:r>
            <a:r>
              <a:rPr lang="pt-PT" sz="1800" dirty="0"/>
              <a:t>, </a:t>
            </a:r>
            <a:r>
              <a:rPr lang="pt-PT" sz="1800" dirty="0" err="1"/>
              <a:t>so</a:t>
            </a:r>
            <a:r>
              <a:rPr lang="pt-PT" sz="1800" dirty="0"/>
              <a:t> </a:t>
            </a:r>
            <a:r>
              <a:rPr lang="pt-PT" sz="1800" dirty="0" err="1"/>
              <a:t>transfer</a:t>
            </a:r>
            <a:r>
              <a:rPr lang="pt-PT" sz="1800" dirty="0"/>
              <a:t> shows </a:t>
            </a:r>
            <a:r>
              <a:rPr lang="pt-PT" sz="1800" dirty="0" err="1"/>
              <a:t>up</a:t>
            </a:r>
            <a:r>
              <a:rPr lang="pt-PT" sz="1800" dirty="0"/>
              <a:t> </a:t>
            </a:r>
            <a:r>
              <a:rPr lang="pt-PT" sz="1800" dirty="0" err="1"/>
              <a:t>most</a:t>
            </a:r>
            <a:r>
              <a:rPr lang="pt-PT" sz="1800" dirty="0"/>
              <a:t> in </a:t>
            </a:r>
            <a:r>
              <a:rPr lang="pt-PT" sz="1800" dirty="0" err="1"/>
              <a:t>measurement-relevant</a:t>
            </a:r>
            <a:r>
              <a:rPr lang="pt-PT" sz="1800" dirty="0"/>
              <a:t> </a:t>
            </a:r>
            <a:r>
              <a:rPr lang="pt-PT" sz="1800" dirty="0" err="1"/>
              <a:t>metrics</a:t>
            </a:r>
            <a:r>
              <a:rPr lang="pt-PT" sz="1800" dirty="0"/>
              <a:t> (|</a:t>
            </a:r>
            <a:r>
              <a:rPr lang="el-GR" sz="1800" dirty="0"/>
              <a:t>Δ</a:t>
            </a:r>
            <a:r>
              <a:rPr lang="pt-PT" sz="1800" dirty="0"/>
              <a:t>N|, </a:t>
            </a:r>
            <a:r>
              <a:rPr lang="el-GR" sz="1800" dirty="0"/>
              <a:t>Δ</a:t>
            </a:r>
            <a:r>
              <a:rPr lang="pt-PT" sz="1800" dirty="0"/>
              <a:t>N).</a:t>
            </a:r>
          </a:p>
        </p:txBody>
      </p:sp>
      <p:sp>
        <p:nvSpPr>
          <p:cNvPr id="4" name="Marcador de Posição do Número do Diapositivo 3">
            <a:extLst>
              <a:ext uri="{FF2B5EF4-FFF2-40B4-BE49-F238E27FC236}">
                <a16:creationId xmlns:a16="http://schemas.microsoft.com/office/drawing/2014/main" id="{8CF63779-875F-206E-9C52-83EB65F9B43E}"/>
              </a:ext>
            </a:extLst>
          </p:cNvPr>
          <p:cNvSpPr>
            <a:spLocks noGrp="1"/>
          </p:cNvSpPr>
          <p:nvPr>
            <p:ph type="sldNum" sz="quarter" idx="12"/>
          </p:nvPr>
        </p:nvSpPr>
        <p:spPr/>
        <p:txBody>
          <a:bodyPr/>
          <a:lstStyle/>
          <a:p>
            <a:fld id="{13A9F3AB-103B-42BD-8121-9F883A719849}" type="slidenum">
              <a:rPr lang="pt-PT" smtClean="0"/>
              <a:t>11</a:t>
            </a:fld>
            <a:endParaRPr lang="pt-PT"/>
          </a:p>
        </p:txBody>
      </p:sp>
      <p:pic>
        <p:nvPicPr>
          <p:cNvPr id="6" name="Imagem 5" descr="Uma imagem com texto, captura de ecrã, diagrama, Gráfico&#10;&#10;Os conteúdos gerados por IA podem estar incorretos.">
            <a:extLst>
              <a:ext uri="{FF2B5EF4-FFF2-40B4-BE49-F238E27FC236}">
                <a16:creationId xmlns:a16="http://schemas.microsoft.com/office/drawing/2014/main" id="{9B118695-9295-E137-9624-3DDB191B76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52646" y="1100474"/>
            <a:ext cx="4247960" cy="2398848"/>
          </a:xfrm>
          <a:prstGeom prst="rect">
            <a:avLst/>
          </a:prstGeom>
        </p:spPr>
      </p:pic>
      <p:pic>
        <p:nvPicPr>
          <p:cNvPr id="8" name="Imagem 7" descr="Uma imagem com texto, captura de ecrã, diagrama, Gráfico&#10;&#10;Os conteúdos gerados por IA podem estar incorretos.">
            <a:extLst>
              <a:ext uri="{FF2B5EF4-FFF2-40B4-BE49-F238E27FC236}">
                <a16:creationId xmlns:a16="http://schemas.microsoft.com/office/drawing/2014/main" id="{0CBA2927-DF8F-4310-BB6F-1B0275488B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2646" y="3960987"/>
            <a:ext cx="4247960" cy="2398848"/>
          </a:xfrm>
          <a:prstGeom prst="rect">
            <a:avLst/>
          </a:prstGeom>
        </p:spPr>
      </p:pic>
      <p:sp>
        <p:nvSpPr>
          <p:cNvPr id="9" name="TextBox 5">
            <a:extLst>
              <a:ext uri="{FF2B5EF4-FFF2-40B4-BE49-F238E27FC236}">
                <a16:creationId xmlns:a16="http://schemas.microsoft.com/office/drawing/2014/main" id="{E69211B7-E63D-131E-20C0-B69F0CB1F37C}"/>
              </a:ext>
            </a:extLst>
          </p:cNvPr>
          <p:cNvSpPr txBox="1"/>
          <p:nvPr/>
        </p:nvSpPr>
        <p:spPr>
          <a:xfrm>
            <a:off x="914165" y="3499322"/>
            <a:ext cx="535361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6:</a:t>
            </a:r>
            <a:r>
              <a:rPr lang="en-US" sz="1200" dirty="0">
                <a:ea typeface="+mn-lt"/>
                <a:cs typeface="+mn-lt"/>
              </a:rPr>
              <a:t> </a:t>
            </a:r>
            <a:r>
              <a:rPr lang="en-US" sz="1200" dirty="0"/>
              <a:t>Effect of synthetic-to-real transfer learning on the real test split (Real vs. Transfer): mean Dice (union-mask) across backbones</a:t>
            </a:r>
            <a:endParaRPr lang="en-US" dirty="0"/>
          </a:p>
        </p:txBody>
      </p:sp>
      <p:sp>
        <p:nvSpPr>
          <p:cNvPr id="10" name="TextBox 5">
            <a:extLst>
              <a:ext uri="{FF2B5EF4-FFF2-40B4-BE49-F238E27FC236}">
                <a16:creationId xmlns:a16="http://schemas.microsoft.com/office/drawing/2014/main" id="{4A10ABD1-B43E-AB7D-964B-452A201D138B}"/>
              </a:ext>
            </a:extLst>
          </p:cNvPr>
          <p:cNvSpPr txBox="1"/>
          <p:nvPr/>
        </p:nvSpPr>
        <p:spPr>
          <a:xfrm>
            <a:off x="838200" y="6359835"/>
            <a:ext cx="597752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7:</a:t>
            </a:r>
            <a:r>
              <a:rPr lang="en-US" sz="1200" dirty="0">
                <a:ea typeface="+mn-lt"/>
                <a:cs typeface="+mn-lt"/>
              </a:rPr>
              <a:t>  Effect of synthetic-to-real transfer learning on the real test split (Real vs. Transfer): mean absolute count error |∆N| across backbones</a:t>
            </a:r>
            <a:endParaRPr lang="en-US" dirty="0"/>
          </a:p>
        </p:txBody>
      </p:sp>
    </p:spTree>
    <p:extLst>
      <p:ext uri="{BB962C8B-B14F-4D97-AF65-F5344CB8AC3E}">
        <p14:creationId xmlns:p14="http://schemas.microsoft.com/office/powerpoint/2010/main" val="8493688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8AF1C6-F608-1875-ACCA-F7CFD75B566A}"/>
              </a:ext>
            </a:extLst>
          </p:cNvPr>
          <p:cNvSpPr>
            <a:spLocks noGrp="1"/>
          </p:cNvSpPr>
          <p:nvPr>
            <p:ph type="title"/>
          </p:nvPr>
        </p:nvSpPr>
        <p:spPr>
          <a:xfrm>
            <a:off x="838200" y="365126"/>
            <a:ext cx="10515600" cy="881238"/>
          </a:xfrm>
        </p:spPr>
        <p:txBody>
          <a:bodyPr>
            <a:normAutofit fontScale="90000"/>
          </a:bodyPr>
          <a:lstStyle/>
          <a:p>
            <a:r>
              <a:rPr lang="en-US" dirty="0"/>
              <a:t>Does augmentation improve transfer learning? </a:t>
            </a:r>
            <a:endParaRPr lang="pt-PT" dirty="0"/>
          </a:p>
        </p:txBody>
      </p:sp>
      <p:sp>
        <p:nvSpPr>
          <p:cNvPr id="3" name="Marcador de Posição de Conteúdo 2">
            <a:extLst>
              <a:ext uri="{FF2B5EF4-FFF2-40B4-BE49-F238E27FC236}">
                <a16:creationId xmlns:a16="http://schemas.microsoft.com/office/drawing/2014/main" id="{BFF66DF8-80EC-BCAD-5886-38F7A9D1C54F}"/>
              </a:ext>
            </a:extLst>
          </p:cNvPr>
          <p:cNvSpPr>
            <a:spLocks noGrp="1"/>
          </p:cNvSpPr>
          <p:nvPr>
            <p:ph idx="1"/>
          </p:nvPr>
        </p:nvSpPr>
        <p:spPr>
          <a:xfrm>
            <a:off x="998189" y="4509266"/>
            <a:ext cx="10515600" cy="1822244"/>
          </a:xfrm>
        </p:spPr>
        <p:txBody>
          <a:bodyPr>
            <a:normAutofit/>
          </a:bodyPr>
          <a:lstStyle/>
          <a:p>
            <a:r>
              <a:rPr lang="pt-PT" sz="1800" dirty="0" err="1"/>
              <a:t>On</a:t>
            </a:r>
            <a:r>
              <a:rPr lang="pt-PT" sz="1800" dirty="0"/>
              <a:t> </a:t>
            </a:r>
            <a:r>
              <a:rPr lang="pt-PT" sz="1800" dirty="0" err="1"/>
              <a:t>this</a:t>
            </a:r>
            <a:r>
              <a:rPr lang="pt-PT" sz="1800" dirty="0"/>
              <a:t> </a:t>
            </a:r>
            <a:r>
              <a:rPr lang="pt-PT" sz="1800" dirty="0" err="1"/>
              <a:t>test</a:t>
            </a:r>
            <a:r>
              <a:rPr lang="pt-PT" sz="1800" dirty="0"/>
              <a:t> </a:t>
            </a:r>
            <a:r>
              <a:rPr lang="pt-PT" sz="1800" dirty="0" err="1"/>
              <a:t>split</a:t>
            </a:r>
            <a:r>
              <a:rPr lang="pt-PT" sz="1800" dirty="0"/>
              <a:t>, </a:t>
            </a:r>
            <a:r>
              <a:rPr lang="pt-PT" sz="1800" dirty="0" err="1"/>
              <a:t>augmentation</a:t>
            </a:r>
            <a:r>
              <a:rPr lang="pt-PT" sz="1800" dirty="0"/>
              <a:t> </a:t>
            </a:r>
            <a:r>
              <a:rPr lang="pt-PT" sz="1800" dirty="0" err="1"/>
              <a:t>did</a:t>
            </a:r>
            <a:r>
              <a:rPr lang="pt-PT" sz="1800" dirty="0"/>
              <a:t> </a:t>
            </a:r>
            <a:r>
              <a:rPr lang="pt-PT" sz="1800" dirty="0" err="1"/>
              <a:t>not</a:t>
            </a:r>
            <a:r>
              <a:rPr lang="pt-PT" sz="1800" dirty="0"/>
              <a:t> improve </a:t>
            </a:r>
            <a:r>
              <a:rPr lang="pt-PT" sz="1800" dirty="0" err="1"/>
              <a:t>mean</a:t>
            </a:r>
            <a:r>
              <a:rPr lang="pt-PT" sz="1800" dirty="0"/>
              <a:t> </a:t>
            </a:r>
            <a:r>
              <a:rPr lang="pt-PT" sz="1800" dirty="0" err="1"/>
              <a:t>overlap</a:t>
            </a:r>
            <a:r>
              <a:rPr lang="pt-PT" sz="1800" dirty="0"/>
              <a:t> </a:t>
            </a:r>
            <a:r>
              <a:rPr lang="pt-PT" sz="1800" dirty="0" err="1"/>
              <a:t>and</a:t>
            </a:r>
            <a:r>
              <a:rPr lang="pt-PT" sz="1800" dirty="0"/>
              <a:t> </a:t>
            </a:r>
            <a:r>
              <a:rPr lang="pt-PT" sz="1800" dirty="0" err="1"/>
              <a:t>often</a:t>
            </a:r>
            <a:r>
              <a:rPr lang="pt-PT" sz="1800" dirty="0"/>
              <a:t> </a:t>
            </a:r>
            <a:r>
              <a:rPr lang="pt-PT" sz="1800" dirty="0" err="1"/>
              <a:t>worsened</a:t>
            </a:r>
            <a:r>
              <a:rPr lang="pt-PT" sz="1800" dirty="0"/>
              <a:t> </a:t>
            </a:r>
            <a:r>
              <a:rPr lang="pt-PT" sz="1800" dirty="0" err="1"/>
              <a:t>counting</a:t>
            </a:r>
            <a:r>
              <a:rPr lang="pt-PT" sz="1800" dirty="0"/>
              <a:t>. </a:t>
            </a:r>
          </a:p>
          <a:p>
            <a:r>
              <a:rPr lang="en-US" sz="1800" dirty="0"/>
              <a:t>Likely reasons: </a:t>
            </a:r>
            <a:r>
              <a:rPr lang="en-US" sz="1800" b="1" dirty="0"/>
              <a:t>(1) high-variance estimate</a:t>
            </a:r>
            <a:r>
              <a:rPr lang="en-US" sz="1800" dirty="0"/>
              <a:t> (small test set) and </a:t>
            </a:r>
            <a:r>
              <a:rPr lang="en-US" sz="1800" b="1" dirty="0"/>
              <a:t>(2) policy mismatch: </a:t>
            </a:r>
            <a:r>
              <a:rPr lang="en-US" sz="1800" dirty="0"/>
              <a:t>augmentations that don’t match real acquisition act like </a:t>
            </a:r>
            <a:r>
              <a:rPr lang="en-US" sz="1800" b="1" dirty="0"/>
              <a:t>distribution shift</a:t>
            </a:r>
            <a:r>
              <a:rPr lang="en-US" sz="1800" dirty="0"/>
              <a:t> during training.</a:t>
            </a:r>
          </a:p>
          <a:p>
            <a:r>
              <a:rPr lang="en-US" sz="1800" dirty="0"/>
              <a:t>Implication: augmentation should be </a:t>
            </a:r>
            <a:r>
              <a:rPr lang="en-US" sz="1800" b="1" dirty="0"/>
              <a:t>physics/acquisition-informed</a:t>
            </a:r>
            <a:r>
              <a:rPr lang="en-US" sz="1800" dirty="0"/>
              <a:t> and validated on a </a:t>
            </a:r>
            <a:r>
              <a:rPr lang="en-US" sz="1800" b="1" dirty="0"/>
              <a:t>larger, more diverse</a:t>
            </a:r>
            <a:r>
              <a:rPr lang="en-US" sz="1800" dirty="0"/>
              <a:t> evaluation split.</a:t>
            </a:r>
            <a:endParaRPr lang="pt-PT" sz="1800" dirty="0"/>
          </a:p>
        </p:txBody>
      </p:sp>
      <p:sp>
        <p:nvSpPr>
          <p:cNvPr id="4" name="Marcador de Posição do Número do Diapositivo 3">
            <a:extLst>
              <a:ext uri="{FF2B5EF4-FFF2-40B4-BE49-F238E27FC236}">
                <a16:creationId xmlns:a16="http://schemas.microsoft.com/office/drawing/2014/main" id="{A481D947-D205-7482-D9E2-C09CC8829756}"/>
              </a:ext>
            </a:extLst>
          </p:cNvPr>
          <p:cNvSpPr>
            <a:spLocks noGrp="1"/>
          </p:cNvSpPr>
          <p:nvPr>
            <p:ph type="sldNum" sz="quarter" idx="12"/>
          </p:nvPr>
        </p:nvSpPr>
        <p:spPr/>
        <p:txBody>
          <a:bodyPr/>
          <a:lstStyle/>
          <a:p>
            <a:fld id="{13A9F3AB-103B-42BD-8121-9F883A719849}" type="slidenum">
              <a:rPr lang="pt-PT" smtClean="0"/>
              <a:t>12</a:t>
            </a:fld>
            <a:endParaRPr lang="pt-PT"/>
          </a:p>
        </p:txBody>
      </p:sp>
      <p:pic>
        <p:nvPicPr>
          <p:cNvPr id="6" name="Imagem 5" descr="Uma imagem com texto, captura de ecrã, diagrama, Gráfico&#10;&#10;Os conteúdos gerados por IA podem estar incorretos.">
            <a:extLst>
              <a:ext uri="{FF2B5EF4-FFF2-40B4-BE49-F238E27FC236}">
                <a16:creationId xmlns:a16="http://schemas.microsoft.com/office/drawing/2014/main" id="{3F80004A-5BB0-B41C-53BE-E6B588E7FF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591" y="1246363"/>
            <a:ext cx="4352735" cy="2458015"/>
          </a:xfrm>
          <a:prstGeom prst="rect">
            <a:avLst/>
          </a:prstGeom>
        </p:spPr>
      </p:pic>
      <p:pic>
        <p:nvPicPr>
          <p:cNvPr id="8" name="Imagem 7" descr="Uma imagem com texto, captura de ecrã, diagrama, Gráfico&#10;&#10;Os conteúdos gerados por IA podem estar incorretos.">
            <a:extLst>
              <a:ext uri="{FF2B5EF4-FFF2-40B4-BE49-F238E27FC236}">
                <a16:creationId xmlns:a16="http://schemas.microsoft.com/office/drawing/2014/main" id="{B032CA09-486E-4DBE-8332-4143AFC294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3674" y="1246363"/>
            <a:ext cx="4352735" cy="2458016"/>
          </a:xfrm>
          <a:prstGeom prst="rect">
            <a:avLst/>
          </a:prstGeom>
        </p:spPr>
      </p:pic>
      <p:sp>
        <p:nvSpPr>
          <p:cNvPr id="9" name="TextBox 5">
            <a:extLst>
              <a:ext uri="{FF2B5EF4-FFF2-40B4-BE49-F238E27FC236}">
                <a16:creationId xmlns:a16="http://schemas.microsoft.com/office/drawing/2014/main" id="{DB70E347-8BF4-4E9F-99AD-05E7EEC2437C}"/>
              </a:ext>
            </a:extLst>
          </p:cNvPr>
          <p:cNvSpPr txBox="1"/>
          <p:nvPr/>
        </p:nvSpPr>
        <p:spPr>
          <a:xfrm>
            <a:off x="1167897" y="3704378"/>
            <a:ext cx="492810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8:</a:t>
            </a:r>
            <a:r>
              <a:rPr lang="en-US" sz="1200" dirty="0">
                <a:ea typeface="+mn-lt"/>
                <a:cs typeface="+mn-lt"/>
              </a:rPr>
              <a:t> </a:t>
            </a:r>
            <a:r>
              <a:rPr lang="en-US" sz="1200" dirty="0"/>
              <a:t>Effect of augmentation during transfer learning (Transfer vs. </a:t>
            </a:r>
            <a:r>
              <a:rPr lang="en-US" sz="1200" dirty="0" err="1"/>
              <a:t>Transfer+Aug</a:t>
            </a:r>
            <a:r>
              <a:rPr lang="en-US" sz="1200" dirty="0"/>
              <a:t>): mean Dice (union-mask) across backbones</a:t>
            </a:r>
            <a:endParaRPr lang="en-US" dirty="0"/>
          </a:p>
        </p:txBody>
      </p:sp>
      <p:sp>
        <p:nvSpPr>
          <p:cNvPr id="10" name="TextBox 5">
            <a:extLst>
              <a:ext uri="{FF2B5EF4-FFF2-40B4-BE49-F238E27FC236}">
                <a16:creationId xmlns:a16="http://schemas.microsoft.com/office/drawing/2014/main" id="{4132049E-F526-256C-2E02-DAFDCF7BBAD1}"/>
              </a:ext>
            </a:extLst>
          </p:cNvPr>
          <p:cNvSpPr txBox="1"/>
          <p:nvPr/>
        </p:nvSpPr>
        <p:spPr>
          <a:xfrm>
            <a:off x="6255989" y="3704378"/>
            <a:ext cx="492810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9:</a:t>
            </a:r>
            <a:r>
              <a:rPr lang="en-US" sz="1200" dirty="0">
                <a:ea typeface="+mn-lt"/>
                <a:cs typeface="+mn-lt"/>
              </a:rPr>
              <a:t> </a:t>
            </a:r>
            <a:r>
              <a:rPr lang="en-US" sz="1200" dirty="0"/>
              <a:t>Effect of augmentation during transfer learning (Transfer vs. </a:t>
            </a:r>
            <a:r>
              <a:rPr lang="en-US" sz="1200" dirty="0" err="1"/>
              <a:t>Transfer+Aug</a:t>
            </a:r>
            <a:r>
              <a:rPr lang="en-US" sz="1200" dirty="0"/>
              <a:t>): mean absolute count error |∆N| across backbones</a:t>
            </a:r>
            <a:endParaRPr lang="en-US" dirty="0"/>
          </a:p>
        </p:txBody>
      </p:sp>
    </p:spTree>
    <p:extLst>
      <p:ext uri="{BB962C8B-B14F-4D97-AF65-F5344CB8AC3E}">
        <p14:creationId xmlns:p14="http://schemas.microsoft.com/office/powerpoint/2010/main" val="1782709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818CFD-6385-ADF3-745D-72C86E9AE3E5}"/>
              </a:ext>
            </a:extLst>
          </p:cNvPr>
          <p:cNvSpPr>
            <a:spLocks noGrp="1"/>
          </p:cNvSpPr>
          <p:nvPr>
            <p:ph type="title"/>
          </p:nvPr>
        </p:nvSpPr>
        <p:spPr/>
        <p:txBody>
          <a:bodyPr/>
          <a:lstStyle/>
          <a:p>
            <a:r>
              <a:rPr lang="pt-PT" dirty="0"/>
              <a:t>Speed </a:t>
            </a:r>
            <a:r>
              <a:rPr lang="pt-PT" dirty="0" err="1"/>
              <a:t>vs</a:t>
            </a:r>
            <a:r>
              <a:rPr lang="pt-PT" dirty="0"/>
              <a:t> </a:t>
            </a:r>
            <a:r>
              <a:rPr lang="pt-PT" dirty="0" err="1"/>
              <a:t>accuracy</a:t>
            </a:r>
            <a:endParaRPr lang="pt-PT" dirty="0"/>
          </a:p>
        </p:txBody>
      </p:sp>
      <p:sp>
        <p:nvSpPr>
          <p:cNvPr id="3" name="Marcador de Posição de Conteúdo 2">
            <a:extLst>
              <a:ext uri="{FF2B5EF4-FFF2-40B4-BE49-F238E27FC236}">
                <a16:creationId xmlns:a16="http://schemas.microsoft.com/office/drawing/2014/main" id="{0B9A0B79-2462-B256-F5E3-FB148FB0FF07}"/>
              </a:ext>
            </a:extLst>
          </p:cNvPr>
          <p:cNvSpPr>
            <a:spLocks noGrp="1"/>
          </p:cNvSpPr>
          <p:nvPr>
            <p:ph idx="1"/>
          </p:nvPr>
        </p:nvSpPr>
        <p:spPr>
          <a:xfrm>
            <a:off x="838200" y="5167312"/>
            <a:ext cx="10515600" cy="1443920"/>
          </a:xfrm>
        </p:spPr>
        <p:txBody>
          <a:bodyPr>
            <a:normAutofit/>
          </a:bodyPr>
          <a:lstStyle/>
          <a:p>
            <a:r>
              <a:rPr lang="pt-PT" sz="1800" b="1" dirty="0" err="1"/>
              <a:t>Fastest</a:t>
            </a:r>
            <a:r>
              <a:rPr lang="pt-PT" sz="1800" b="1" dirty="0"/>
              <a:t>: </a:t>
            </a:r>
            <a:r>
              <a:rPr lang="pt-PT" sz="1800" dirty="0"/>
              <a:t>ResNet-50-FPN (</a:t>
            </a:r>
            <a:r>
              <a:rPr lang="pt-PT" sz="1800" dirty="0" err="1"/>
              <a:t>Transfer</a:t>
            </a:r>
            <a:r>
              <a:rPr lang="pt-PT" sz="1800" dirty="0"/>
              <a:t>) ≈ 7.01 FPS </a:t>
            </a:r>
          </a:p>
          <a:p>
            <a:r>
              <a:rPr lang="pt-PT" sz="1800" b="1" dirty="0" err="1"/>
              <a:t>Best</a:t>
            </a:r>
            <a:r>
              <a:rPr lang="pt-PT" sz="1800" b="1" dirty="0"/>
              <a:t> </a:t>
            </a:r>
            <a:r>
              <a:rPr lang="pt-PT" sz="1800" b="1" dirty="0" err="1"/>
              <a:t>overall</a:t>
            </a:r>
            <a:r>
              <a:rPr lang="pt-PT" sz="1800" b="1" dirty="0"/>
              <a:t> </a:t>
            </a:r>
            <a:r>
              <a:rPr lang="pt-PT" sz="1800" b="1" dirty="0" err="1"/>
              <a:t>compromise</a:t>
            </a:r>
            <a:r>
              <a:rPr lang="pt-PT" sz="1800" b="1" dirty="0"/>
              <a:t>: </a:t>
            </a:r>
            <a:r>
              <a:rPr lang="pt-PT" sz="1800" dirty="0"/>
              <a:t>ResNet-50-FPN v2 (</a:t>
            </a:r>
            <a:r>
              <a:rPr lang="pt-PT" sz="1800" dirty="0" err="1"/>
              <a:t>Transfer</a:t>
            </a:r>
            <a:r>
              <a:rPr lang="pt-PT" sz="1800" dirty="0"/>
              <a:t>) ≈ 6.05 FPS </a:t>
            </a:r>
            <a:r>
              <a:rPr lang="pt-PT" sz="1800" dirty="0" err="1"/>
              <a:t>with</a:t>
            </a:r>
            <a:r>
              <a:rPr lang="pt-PT" sz="1800" dirty="0"/>
              <a:t> top </a:t>
            </a:r>
            <a:r>
              <a:rPr lang="pt-PT" sz="1800" dirty="0" err="1"/>
              <a:t>accuracy</a:t>
            </a:r>
            <a:endParaRPr lang="pt-PT" sz="1800" dirty="0"/>
          </a:p>
          <a:p>
            <a:r>
              <a:rPr lang="pt-PT" sz="1800" b="1" dirty="0" err="1"/>
              <a:t>Slowest</a:t>
            </a:r>
            <a:r>
              <a:rPr lang="pt-PT" sz="1800" b="1" dirty="0"/>
              <a:t>: </a:t>
            </a:r>
            <a:r>
              <a:rPr lang="pt-PT" sz="1800" dirty="0"/>
              <a:t>ResNet-101-FPN (</a:t>
            </a:r>
            <a:r>
              <a:rPr lang="pt-PT" sz="1800" dirty="0" err="1"/>
              <a:t>Transfer</a:t>
            </a:r>
            <a:r>
              <a:rPr lang="pt-PT" sz="1800" dirty="0"/>
              <a:t>) ≈ 3.53 FPS (</a:t>
            </a:r>
            <a:r>
              <a:rPr lang="pt-PT" sz="1800" dirty="0" err="1"/>
              <a:t>higher</a:t>
            </a:r>
            <a:r>
              <a:rPr lang="pt-PT" sz="1800" dirty="0"/>
              <a:t> </a:t>
            </a:r>
            <a:r>
              <a:rPr lang="pt-PT" sz="1800" dirty="0" err="1"/>
              <a:t>cost</a:t>
            </a:r>
            <a:r>
              <a:rPr lang="pt-PT" sz="1800" dirty="0"/>
              <a:t> for </a:t>
            </a:r>
            <a:r>
              <a:rPr lang="pt-PT" sz="1800" dirty="0" err="1"/>
              <a:t>limited</a:t>
            </a:r>
            <a:r>
              <a:rPr lang="pt-PT" sz="1800" dirty="0"/>
              <a:t> </a:t>
            </a:r>
            <a:r>
              <a:rPr lang="pt-PT" sz="1800" dirty="0" err="1"/>
              <a:t>benefit</a:t>
            </a:r>
            <a:r>
              <a:rPr lang="pt-PT" sz="1800" dirty="0"/>
              <a:t> </a:t>
            </a:r>
            <a:r>
              <a:rPr lang="pt-PT" sz="1800" dirty="0" err="1"/>
              <a:t>here</a:t>
            </a:r>
            <a:r>
              <a:rPr lang="pt-PT" sz="1800" dirty="0"/>
              <a:t>)</a:t>
            </a:r>
          </a:p>
        </p:txBody>
      </p:sp>
      <p:sp>
        <p:nvSpPr>
          <p:cNvPr id="4" name="Marcador de Posição do Número do Diapositivo 3">
            <a:extLst>
              <a:ext uri="{FF2B5EF4-FFF2-40B4-BE49-F238E27FC236}">
                <a16:creationId xmlns:a16="http://schemas.microsoft.com/office/drawing/2014/main" id="{F60C1924-9111-1C80-9478-D03008BB1373}"/>
              </a:ext>
            </a:extLst>
          </p:cNvPr>
          <p:cNvSpPr>
            <a:spLocks noGrp="1"/>
          </p:cNvSpPr>
          <p:nvPr>
            <p:ph type="sldNum" sz="quarter" idx="12"/>
          </p:nvPr>
        </p:nvSpPr>
        <p:spPr/>
        <p:txBody>
          <a:bodyPr/>
          <a:lstStyle/>
          <a:p>
            <a:fld id="{13A9F3AB-103B-42BD-8121-9F883A719849}" type="slidenum">
              <a:rPr lang="pt-PT" smtClean="0"/>
              <a:t>13</a:t>
            </a:fld>
            <a:endParaRPr lang="pt-PT"/>
          </a:p>
        </p:txBody>
      </p:sp>
      <p:pic>
        <p:nvPicPr>
          <p:cNvPr id="7" name="Imagem 6" descr="Uma imagem com texto, Tipo de letra, captura de ecrã, número&#10;&#10;Os conteúdos gerados por IA podem estar incorretos.">
            <a:extLst>
              <a:ext uri="{FF2B5EF4-FFF2-40B4-BE49-F238E27FC236}">
                <a16:creationId xmlns:a16="http://schemas.microsoft.com/office/drawing/2014/main" id="{03E86A56-DB98-EA46-9A2B-1442961CC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2218" y="2756863"/>
            <a:ext cx="3966766" cy="1009621"/>
          </a:xfrm>
          <a:prstGeom prst="rect">
            <a:avLst/>
          </a:prstGeom>
        </p:spPr>
      </p:pic>
      <p:sp>
        <p:nvSpPr>
          <p:cNvPr id="8" name="TextBox 5">
            <a:extLst>
              <a:ext uri="{FF2B5EF4-FFF2-40B4-BE49-F238E27FC236}">
                <a16:creationId xmlns:a16="http://schemas.microsoft.com/office/drawing/2014/main" id="{A3360283-C6E8-46AC-CC4A-4E3D5C0DE0A0}"/>
              </a:ext>
            </a:extLst>
          </p:cNvPr>
          <p:cNvSpPr txBox="1"/>
          <p:nvPr/>
        </p:nvSpPr>
        <p:spPr>
          <a:xfrm>
            <a:off x="1222218" y="3766484"/>
            <a:ext cx="396676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Table 2:</a:t>
            </a:r>
            <a:r>
              <a:rPr lang="en-US" sz="1200" dirty="0">
                <a:ea typeface="+mn-lt"/>
                <a:cs typeface="+mn-lt"/>
              </a:rPr>
              <a:t> </a:t>
            </a:r>
            <a:r>
              <a:rPr lang="en-US" sz="1200" dirty="0"/>
              <a:t>Backbone capacity versus inference throughput in the transfer regime (real test).</a:t>
            </a:r>
            <a:endParaRPr lang="en-US" dirty="0"/>
          </a:p>
        </p:txBody>
      </p:sp>
      <p:pic>
        <p:nvPicPr>
          <p:cNvPr id="10" name="Imagem 9" descr="Uma imagem com texto, captura de ecrã, file, diagrama&#10;&#10;Os conteúdos gerados por IA podem estar incorretos.">
            <a:extLst>
              <a:ext uri="{FF2B5EF4-FFF2-40B4-BE49-F238E27FC236}">
                <a16:creationId xmlns:a16="http://schemas.microsoft.com/office/drawing/2014/main" id="{A9023379-56D7-D440-0A2D-0BDE8AEBBE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690688"/>
            <a:ext cx="5455032" cy="3080488"/>
          </a:xfrm>
          <a:prstGeom prst="rect">
            <a:avLst/>
          </a:prstGeom>
        </p:spPr>
      </p:pic>
      <p:sp>
        <p:nvSpPr>
          <p:cNvPr id="11" name="TextBox 5">
            <a:extLst>
              <a:ext uri="{FF2B5EF4-FFF2-40B4-BE49-F238E27FC236}">
                <a16:creationId xmlns:a16="http://schemas.microsoft.com/office/drawing/2014/main" id="{E323DB68-01B0-A26D-DD06-E7D1E588E38A}"/>
              </a:ext>
            </a:extLst>
          </p:cNvPr>
          <p:cNvSpPr txBox="1"/>
          <p:nvPr/>
        </p:nvSpPr>
        <p:spPr>
          <a:xfrm>
            <a:off x="6096000" y="4771176"/>
            <a:ext cx="545503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10: Speed–accuracy trade-off in the transfer regime (Dice versus FPS)</a:t>
            </a:r>
            <a:endParaRPr lang="en-US" dirty="0"/>
          </a:p>
        </p:txBody>
      </p:sp>
    </p:spTree>
    <p:extLst>
      <p:ext uri="{BB962C8B-B14F-4D97-AF65-F5344CB8AC3E}">
        <p14:creationId xmlns:p14="http://schemas.microsoft.com/office/powerpoint/2010/main" val="357383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72A21-E34A-9394-C86B-4841B709A0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CAEC95-F059-24BE-5205-2FA307DD863E}"/>
              </a:ext>
            </a:extLst>
          </p:cNvPr>
          <p:cNvSpPr>
            <a:spLocks noGrp="1"/>
          </p:cNvSpPr>
          <p:nvPr>
            <p:ph type="title"/>
          </p:nvPr>
        </p:nvSpPr>
        <p:spPr>
          <a:xfrm>
            <a:off x="838200" y="365125"/>
            <a:ext cx="10515600" cy="983841"/>
          </a:xfrm>
        </p:spPr>
        <p:txBody>
          <a:bodyPr>
            <a:normAutofit/>
          </a:bodyPr>
          <a:lstStyle/>
          <a:p>
            <a:r>
              <a:rPr lang="en-US" sz="3200" dirty="0"/>
              <a:t>Annotation efficiency: manual vs. model-assisted workflows</a:t>
            </a:r>
            <a:endParaRPr lang="pt-PT" sz="3200" dirty="0"/>
          </a:p>
        </p:txBody>
      </p:sp>
      <p:sp>
        <p:nvSpPr>
          <p:cNvPr id="3" name="Marcador de Posição de Conteúdo 2">
            <a:extLst>
              <a:ext uri="{FF2B5EF4-FFF2-40B4-BE49-F238E27FC236}">
                <a16:creationId xmlns:a16="http://schemas.microsoft.com/office/drawing/2014/main" id="{224ABD8A-5A88-1C8F-489E-47560FCD740B}"/>
              </a:ext>
            </a:extLst>
          </p:cNvPr>
          <p:cNvSpPr>
            <a:spLocks noGrp="1"/>
          </p:cNvSpPr>
          <p:nvPr>
            <p:ph idx="1"/>
          </p:nvPr>
        </p:nvSpPr>
        <p:spPr>
          <a:xfrm>
            <a:off x="927425" y="1309963"/>
            <a:ext cx="5566125" cy="4565873"/>
          </a:xfrm>
        </p:spPr>
        <p:txBody>
          <a:bodyPr>
            <a:normAutofit/>
          </a:bodyPr>
          <a:lstStyle/>
          <a:p>
            <a:r>
              <a:rPr lang="pt-PT" sz="1800" dirty="0" err="1"/>
              <a:t>Three</a:t>
            </a:r>
            <a:r>
              <a:rPr lang="pt-PT" sz="1800" dirty="0"/>
              <a:t> </a:t>
            </a:r>
            <a:r>
              <a:rPr lang="pt-PT" sz="1800" dirty="0" err="1"/>
              <a:t>annotation</a:t>
            </a:r>
            <a:r>
              <a:rPr lang="pt-PT" sz="1800" dirty="0"/>
              <a:t> </a:t>
            </a:r>
            <a:r>
              <a:rPr lang="pt-PT" sz="1800" dirty="0" err="1"/>
              <a:t>modes</a:t>
            </a:r>
            <a:r>
              <a:rPr lang="pt-PT" sz="1800" dirty="0"/>
              <a:t> (in </a:t>
            </a:r>
            <a:r>
              <a:rPr lang="pt-PT" sz="1800" dirty="0" err="1"/>
              <a:t>Label</a:t>
            </a:r>
            <a:r>
              <a:rPr lang="pt-PT" sz="1800" dirty="0"/>
              <a:t> </a:t>
            </a:r>
            <a:r>
              <a:rPr lang="pt-PT" sz="1800" dirty="0" err="1"/>
              <a:t>Studio</a:t>
            </a:r>
            <a:r>
              <a:rPr lang="pt-PT" sz="1800" dirty="0"/>
              <a:t>): </a:t>
            </a:r>
          </a:p>
          <a:p>
            <a:pPr lvl="1"/>
            <a:r>
              <a:rPr lang="pt-PT" sz="1800" dirty="0"/>
              <a:t>Manual </a:t>
            </a:r>
            <a:r>
              <a:rPr lang="pt-PT" sz="1800" dirty="0" err="1"/>
              <a:t>polygon</a:t>
            </a:r>
            <a:r>
              <a:rPr lang="pt-PT" sz="1800" dirty="0"/>
              <a:t> </a:t>
            </a:r>
            <a:r>
              <a:rPr lang="pt-PT" sz="1800" dirty="0" err="1"/>
              <a:t>masks</a:t>
            </a:r>
            <a:endParaRPr lang="pt-PT" sz="1800" dirty="0"/>
          </a:p>
          <a:p>
            <a:pPr lvl="1"/>
            <a:r>
              <a:rPr lang="pt-PT" sz="1800" dirty="0" err="1"/>
              <a:t>Correct</a:t>
            </a:r>
            <a:r>
              <a:rPr lang="pt-PT" sz="1800" dirty="0"/>
              <a:t> </a:t>
            </a:r>
            <a:r>
              <a:rPr lang="pt-PT" sz="1800" dirty="0" err="1"/>
              <a:t>pre-annotations</a:t>
            </a:r>
            <a:r>
              <a:rPr lang="pt-PT" sz="1800" dirty="0"/>
              <a:t> (</a:t>
            </a:r>
            <a:r>
              <a:rPr lang="pt-PT" sz="1800" dirty="0" err="1"/>
              <a:t>Mask</a:t>
            </a:r>
            <a:r>
              <a:rPr lang="pt-PT" sz="1800" dirty="0"/>
              <a:t> R-CNN </a:t>
            </a:r>
            <a:r>
              <a:rPr lang="pt-PT" sz="1800" dirty="0" err="1"/>
              <a:t>synthetic</a:t>
            </a:r>
            <a:r>
              <a:rPr lang="pt-PT" sz="1800" dirty="0"/>
              <a:t> </a:t>
            </a:r>
            <a:r>
              <a:rPr lang="pt-PT" sz="1800" dirty="0" err="1"/>
              <a:t>model</a:t>
            </a:r>
            <a:r>
              <a:rPr lang="pt-PT" sz="1800" dirty="0"/>
              <a:t>)</a:t>
            </a:r>
          </a:p>
          <a:p>
            <a:pPr lvl="1"/>
            <a:r>
              <a:rPr lang="pt-PT" sz="1800" dirty="0" err="1"/>
              <a:t>Pre-annotations</a:t>
            </a:r>
            <a:r>
              <a:rPr lang="pt-PT" sz="1800" dirty="0"/>
              <a:t> + SAM2 </a:t>
            </a:r>
            <a:r>
              <a:rPr lang="pt-PT" sz="1800" dirty="0" err="1"/>
              <a:t>refinement</a:t>
            </a:r>
            <a:endParaRPr lang="pt-PT" sz="1800" dirty="0"/>
          </a:p>
          <a:p>
            <a:r>
              <a:rPr lang="pt-PT" sz="1800" b="1" dirty="0"/>
              <a:t>Time per </a:t>
            </a:r>
            <a:r>
              <a:rPr lang="pt-PT" sz="1800" b="1" dirty="0" err="1"/>
              <a:t>bubble</a:t>
            </a:r>
            <a:r>
              <a:rPr lang="pt-PT" sz="1800" b="1" dirty="0"/>
              <a:t>: </a:t>
            </a:r>
            <a:r>
              <a:rPr lang="pt-PT" sz="1800" dirty="0"/>
              <a:t>94.49 s → 3.20 s (≈ 30× </a:t>
            </a:r>
            <a:r>
              <a:rPr lang="pt-PT" sz="1800" dirty="0" err="1"/>
              <a:t>faster</a:t>
            </a:r>
            <a:r>
              <a:rPr lang="pt-PT" sz="1800" dirty="0"/>
              <a:t>) </a:t>
            </a:r>
          </a:p>
          <a:p>
            <a:r>
              <a:rPr lang="pt-PT" sz="1800" b="1" dirty="0"/>
              <a:t>Time per </a:t>
            </a:r>
            <a:r>
              <a:rPr lang="pt-PT" sz="1800" b="1" dirty="0" err="1"/>
              <a:t>image</a:t>
            </a:r>
            <a:r>
              <a:rPr lang="pt-PT" sz="1800" b="1" dirty="0"/>
              <a:t> (</a:t>
            </a:r>
            <a:r>
              <a:rPr lang="pt-PT" sz="1800" b="1" dirty="0" err="1"/>
              <a:t>mean</a:t>
            </a:r>
            <a:r>
              <a:rPr lang="pt-PT" sz="1800" b="1" dirty="0"/>
              <a:t>): </a:t>
            </a:r>
            <a:r>
              <a:rPr lang="pt-PT" sz="1800" dirty="0"/>
              <a:t>~179 s → 25 s (manual → SAM2-assisted)</a:t>
            </a:r>
          </a:p>
          <a:p>
            <a:r>
              <a:rPr lang="pt-PT" sz="1800" b="1" dirty="0"/>
              <a:t>Takeaway: </a:t>
            </a:r>
            <a:r>
              <a:rPr lang="pt-PT" sz="1800" dirty="0" err="1"/>
              <a:t>assistance</a:t>
            </a:r>
            <a:r>
              <a:rPr lang="pt-PT" sz="1800" dirty="0"/>
              <a:t> </a:t>
            </a:r>
            <a:r>
              <a:rPr lang="pt-PT" sz="1800" dirty="0" err="1"/>
              <a:t>shifts</a:t>
            </a:r>
            <a:r>
              <a:rPr lang="pt-PT" sz="1800" dirty="0"/>
              <a:t> the </a:t>
            </a:r>
            <a:r>
              <a:rPr lang="pt-PT" sz="1800" dirty="0" err="1"/>
              <a:t>effort</a:t>
            </a:r>
            <a:r>
              <a:rPr lang="pt-PT" sz="1800" dirty="0"/>
              <a:t> </a:t>
            </a:r>
            <a:r>
              <a:rPr lang="pt-PT" sz="1800" dirty="0" err="1"/>
              <a:t>from</a:t>
            </a:r>
            <a:r>
              <a:rPr lang="pt-PT" sz="1800" dirty="0"/>
              <a:t> “</a:t>
            </a:r>
            <a:r>
              <a:rPr lang="pt-PT" sz="1800" dirty="0" err="1"/>
              <a:t>draw</a:t>
            </a:r>
            <a:r>
              <a:rPr lang="pt-PT" sz="1800" dirty="0"/>
              <a:t> </a:t>
            </a:r>
            <a:r>
              <a:rPr lang="pt-PT" sz="1800" dirty="0" err="1"/>
              <a:t>everything</a:t>
            </a:r>
            <a:r>
              <a:rPr lang="pt-PT" sz="1800" dirty="0"/>
              <a:t>” to </a:t>
            </a:r>
            <a:r>
              <a:rPr lang="pt-PT" sz="1800" dirty="0" err="1"/>
              <a:t>correct</a:t>
            </a:r>
            <a:r>
              <a:rPr lang="pt-PT" sz="1800" dirty="0"/>
              <a:t>/refine; </a:t>
            </a:r>
            <a:r>
              <a:rPr lang="pt-PT" sz="1800" dirty="0" err="1"/>
              <a:t>hardest</a:t>
            </a:r>
            <a:r>
              <a:rPr lang="pt-PT" sz="1800" dirty="0"/>
              <a:t> </a:t>
            </a:r>
            <a:r>
              <a:rPr lang="pt-PT" sz="1800" dirty="0" err="1"/>
              <a:t>frames</a:t>
            </a:r>
            <a:r>
              <a:rPr lang="pt-PT" sz="1800" dirty="0"/>
              <a:t> </a:t>
            </a:r>
            <a:r>
              <a:rPr lang="pt-PT" sz="1800" dirty="0" err="1"/>
              <a:t>still</a:t>
            </a:r>
            <a:r>
              <a:rPr lang="pt-PT" sz="1800" dirty="0"/>
              <a:t> </a:t>
            </a:r>
            <a:r>
              <a:rPr lang="pt-PT" sz="1800" dirty="0" err="1"/>
              <a:t>need</a:t>
            </a:r>
            <a:r>
              <a:rPr lang="pt-PT" sz="1800" dirty="0"/>
              <a:t> </a:t>
            </a:r>
            <a:r>
              <a:rPr lang="pt-PT" sz="1800" dirty="0" err="1"/>
              <a:t>human</a:t>
            </a:r>
            <a:r>
              <a:rPr lang="pt-PT" sz="1800" dirty="0"/>
              <a:t> </a:t>
            </a:r>
            <a:r>
              <a:rPr lang="pt-PT" sz="1800" dirty="0" err="1"/>
              <a:t>judgment</a:t>
            </a:r>
            <a:r>
              <a:rPr lang="pt-PT" sz="1800" dirty="0"/>
              <a:t>.</a:t>
            </a:r>
          </a:p>
        </p:txBody>
      </p:sp>
      <p:sp>
        <p:nvSpPr>
          <p:cNvPr id="4" name="Marcador de Posição do Número do Diapositivo 3">
            <a:extLst>
              <a:ext uri="{FF2B5EF4-FFF2-40B4-BE49-F238E27FC236}">
                <a16:creationId xmlns:a16="http://schemas.microsoft.com/office/drawing/2014/main" id="{9189145A-AF77-7879-9485-F348C85CBB11}"/>
              </a:ext>
            </a:extLst>
          </p:cNvPr>
          <p:cNvSpPr>
            <a:spLocks noGrp="1"/>
          </p:cNvSpPr>
          <p:nvPr>
            <p:ph type="sldNum" sz="quarter" idx="12"/>
          </p:nvPr>
        </p:nvSpPr>
        <p:spPr/>
        <p:txBody>
          <a:bodyPr/>
          <a:lstStyle/>
          <a:p>
            <a:fld id="{13A9F3AB-103B-42BD-8121-9F883A719849}" type="slidenum">
              <a:rPr lang="pt-PT" smtClean="0"/>
              <a:t>14</a:t>
            </a:fld>
            <a:endParaRPr lang="pt-PT" dirty="0"/>
          </a:p>
        </p:txBody>
      </p:sp>
      <p:pic>
        <p:nvPicPr>
          <p:cNvPr id="6" name="Imagem 5" descr="Uma imagem com texto, Tipo de letra, captura de ecrã, número&#10;&#10;Os conteúdos gerados por IA podem estar incorretos.">
            <a:extLst>
              <a:ext uri="{FF2B5EF4-FFF2-40B4-BE49-F238E27FC236}">
                <a16:creationId xmlns:a16="http://schemas.microsoft.com/office/drawing/2014/main" id="{9F450B25-0B15-CB82-5C05-BA6EA8060B69}"/>
              </a:ext>
            </a:extLst>
          </p:cNvPr>
          <p:cNvPicPr>
            <a:picLocks noChangeAspect="1"/>
          </p:cNvPicPr>
          <p:nvPr/>
        </p:nvPicPr>
        <p:blipFill>
          <a:blip r:embed="rId3"/>
          <a:stretch>
            <a:fillRect/>
          </a:stretch>
        </p:blipFill>
        <p:spPr>
          <a:xfrm>
            <a:off x="1217450" y="5119675"/>
            <a:ext cx="4307387" cy="1010076"/>
          </a:xfrm>
          <a:prstGeom prst="rect">
            <a:avLst/>
          </a:prstGeom>
        </p:spPr>
      </p:pic>
      <p:sp>
        <p:nvSpPr>
          <p:cNvPr id="7" name="TextBox 5">
            <a:extLst>
              <a:ext uri="{FF2B5EF4-FFF2-40B4-BE49-F238E27FC236}">
                <a16:creationId xmlns:a16="http://schemas.microsoft.com/office/drawing/2014/main" id="{A27E1F09-A041-84A7-D477-E2C584E58D0C}"/>
              </a:ext>
            </a:extLst>
          </p:cNvPr>
          <p:cNvSpPr txBox="1"/>
          <p:nvPr/>
        </p:nvSpPr>
        <p:spPr>
          <a:xfrm>
            <a:off x="1294083" y="6092765"/>
            <a:ext cx="423075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t>Table 4:</a:t>
            </a:r>
            <a:r>
              <a:rPr lang="en-US" sz="1000" dirty="0">
                <a:ea typeface="+mn-lt"/>
                <a:cs typeface="+mn-lt"/>
              </a:rPr>
              <a:t> </a:t>
            </a:r>
            <a:r>
              <a:rPr lang="en-US" sz="1000" dirty="0"/>
              <a:t>Mean, median, and standard deviation of annotation time per image for each mode</a:t>
            </a:r>
            <a:endParaRPr lang="en-US" sz="1200" dirty="0"/>
          </a:p>
        </p:txBody>
      </p:sp>
      <p:pic>
        <p:nvPicPr>
          <p:cNvPr id="9" name="Imagem 8" descr="Uma imagem com file, texto, captura de ecrã, Gráfico&#10;&#10;Os conteúdos gerados por IA podem estar incorretos.">
            <a:extLst>
              <a:ext uri="{FF2B5EF4-FFF2-40B4-BE49-F238E27FC236}">
                <a16:creationId xmlns:a16="http://schemas.microsoft.com/office/drawing/2014/main" id="{C5DE9F09-1B07-9D7E-562A-D215DFBA93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17115" y="1124004"/>
            <a:ext cx="4286487" cy="3006539"/>
          </a:xfrm>
          <a:prstGeom prst="rect">
            <a:avLst/>
          </a:prstGeom>
        </p:spPr>
      </p:pic>
      <p:pic>
        <p:nvPicPr>
          <p:cNvPr id="11" name="Imagem 10" descr="Uma imagem com texto, Tipo de letra, captura de ecrã, escrita à mão&#10;&#10;Os conteúdos gerados por IA podem estar incorretos.">
            <a:extLst>
              <a:ext uri="{FF2B5EF4-FFF2-40B4-BE49-F238E27FC236}">
                <a16:creationId xmlns:a16="http://schemas.microsoft.com/office/drawing/2014/main" id="{560E81AA-38EB-E4C5-D883-D5B929DADE90}"/>
              </a:ext>
            </a:extLst>
          </p:cNvPr>
          <p:cNvPicPr>
            <a:picLocks noChangeAspect="1"/>
          </p:cNvPicPr>
          <p:nvPr/>
        </p:nvPicPr>
        <p:blipFill>
          <a:blip r:embed="rId5"/>
          <a:stretch>
            <a:fillRect/>
          </a:stretch>
        </p:blipFill>
        <p:spPr>
          <a:xfrm>
            <a:off x="6818344" y="4880770"/>
            <a:ext cx="4608212" cy="1144189"/>
          </a:xfrm>
          <a:prstGeom prst="rect">
            <a:avLst/>
          </a:prstGeom>
        </p:spPr>
      </p:pic>
      <p:sp>
        <p:nvSpPr>
          <p:cNvPr id="12" name="TextBox 5">
            <a:extLst>
              <a:ext uri="{FF2B5EF4-FFF2-40B4-BE49-F238E27FC236}">
                <a16:creationId xmlns:a16="http://schemas.microsoft.com/office/drawing/2014/main" id="{3D07601A-B466-60A5-FAD6-2A7AC2A12337}"/>
              </a:ext>
            </a:extLst>
          </p:cNvPr>
          <p:cNvSpPr txBox="1"/>
          <p:nvPr/>
        </p:nvSpPr>
        <p:spPr>
          <a:xfrm>
            <a:off x="6225611" y="6024959"/>
            <a:ext cx="5793678"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t>Figure 14:</a:t>
            </a:r>
            <a:r>
              <a:rPr lang="en-US" sz="1000" dirty="0">
                <a:ea typeface="+mn-lt"/>
                <a:cs typeface="+mn-lt"/>
              </a:rPr>
              <a:t> C</a:t>
            </a:r>
            <a:r>
              <a:rPr lang="en-US" sz="1000" dirty="0"/>
              <a:t>orrection examples: removal of incorrect instances, and final corrected annotation</a:t>
            </a:r>
            <a:endParaRPr lang="en-US" sz="1200" dirty="0"/>
          </a:p>
        </p:txBody>
      </p:sp>
      <p:sp>
        <p:nvSpPr>
          <p:cNvPr id="13" name="TextBox 5">
            <a:extLst>
              <a:ext uri="{FF2B5EF4-FFF2-40B4-BE49-F238E27FC236}">
                <a16:creationId xmlns:a16="http://schemas.microsoft.com/office/drawing/2014/main" id="{2B97C081-9BC2-CF6A-C6CF-DCB7C1E53B7B}"/>
              </a:ext>
            </a:extLst>
          </p:cNvPr>
          <p:cNvSpPr txBox="1"/>
          <p:nvPr/>
        </p:nvSpPr>
        <p:spPr>
          <a:xfrm>
            <a:off x="6656363" y="4127108"/>
            <a:ext cx="5483210" cy="2573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dirty="0"/>
              <a:t>Figure 13: Annotation time per image across the three annotation modes</a:t>
            </a:r>
            <a:r>
              <a:rPr lang="en-US" sz="1050" dirty="0"/>
              <a:t>.</a:t>
            </a:r>
            <a:endParaRPr lang="en-US" sz="1400" dirty="0"/>
          </a:p>
        </p:txBody>
      </p:sp>
    </p:spTree>
    <p:extLst>
      <p:ext uri="{BB962C8B-B14F-4D97-AF65-F5344CB8AC3E}">
        <p14:creationId xmlns:p14="http://schemas.microsoft.com/office/powerpoint/2010/main" val="27898302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F512C3-8271-0832-E958-ECDA187A99F6}"/>
              </a:ext>
            </a:extLst>
          </p:cNvPr>
          <p:cNvSpPr>
            <a:spLocks noGrp="1"/>
          </p:cNvSpPr>
          <p:nvPr>
            <p:ph type="title"/>
          </p:nvPr>
        </p:nvSpPr>
        <p:spPr/>
        <p:txBody>
          <a:bodyPr/>
          <a:lstStyle/>
          <a:p>
            <a:r>
              <a:rPr lang="pt-PT" dirty="0" err="1"/>
              <a:t>Answers</a:t>
            </a:r>
            <a:r>
              <a:rPr lang="pt-PT" dirty="0"/>
              <a:t> to Research </a:t>
            </a:r>
            <a:r>
              <a:rPr lang="pt-PT" dirty="0" err="1"/>
              <a:t>Questions</a:t>
            </a:r>
            <a:endParaRPr lang="pt-PT" dirty="0"/>
          </a:p>
        </p:txBody>
      </p:sp>
      <p:sp>
        <p:nvSpPr>
          <p:cNvPr id="3" name="Marcador de Posição de Conteúdo 2">
            <a:extLst>
              <a:ext uri="{FF2B5EF4-FFF2-40B4-BE49-F238E27FC236}">
                <a16:creationId xmlns:a16="http://schemas.microsoft.com/office/drawing/2014/main" id="{CD20C5A1-4B2D-C562-D7A2-78ADC0F3EDA0}"/>
              </a:ext>
            </a:extLst>
          </p:cNvPr>
          <p:cNvSpPr>
            <a:spLocks noGrp="1"/>
          </p:cNvSpPr>
          <p:nvPr>
            <p:ph idx="1"/>
          </p:nvPr>
        </p:nvSpPr>
        <p:spPr>
          <a:xfrm>
            <a:off x="1371600" y="2038574"/>
            <a:ext cx="9977718" cy="3581400"/>
          </a:xfrm>
        </p:spPr>
        <p:txBody>
          <a:bodyPr>
            <a:normAutofit lnSpcReduction="10000"/>
          </a:bodyPr>
          <a:lstStyle/>
          <a:p>
            <a:r>
              <a:rPr lang="en-US" sz="1800" b="1" dirty="0"/>
              <a:t>RQ1 - How do instance segmentation models perform on real data? </a:t>
            </a:r>
          </a:p>
          <a:p>
            <a:pPr lvl="1"/>
            <a:r>
              <a:rPr lang="en-US" sz="1800" dirty="0"/>
              <a:t>Mask R-CNN variants achieve high overlap on the real test split. </a:t>
            </a:r>
          </a:p>
          <a:p>
            <a:pPr lvl="1"/>
            <a:r>
              <a:rPr lang="en-US" sz="1800" dirty="0"/>
              <a:t>ResNet-50-FPN v2 offers the best balance of accuracy and speed → Dice 0.9628, </a:t>
            </a:r>
            <a:r>
              <a:rPr lang="en-US" sz="1800" dirty="0" err="1"/>
              <a:t>IoU</a:t>
            </a:r>
            <a:r>
              <a:rPr lang="en-US" sz="1800" dirty="0"/>
              <a:t> 0.9303, |ΔN| 0.40.</a:t>
            </a:r>
          </a:p>
          <a:p>
            <a:r>
              <a:rPr lang="en-US" sz="1800" b="1" dirty="0"/>
              <a:t>RQ2 - Does </a:t>
            </a:r>
            <a:r>
              <a:rPr lang="en-US" sz="1800" b="1" dirty="0" err="1"/>
              <a:t>synthetic→real</a:t>
            </a:r>
            <a:r>
              <a:rPr lang="en-US" sz="1800" b="1" dirty="0"/>
              <a:t> transfer improve performance? </a:t>
            </a:r>
          </a:p>
          <a:p>
            <a:pPr lvl="1"/>
            <a:r>
              <a:rPr lang="en-US" sz="1800" b="1" dirty="0"/>
              <a:t>Yes</a:t>
            </a:r>
            <a:r>
              <a:rPr lang="en-US" sz="1800" dirty="0"/>
              <a:t>: </a:t>
            </a:r>
            <a:r>
              <a:rPr lang="en-US" sz="1800" b="1" dirty="0"/>
              <a:t>Transfer helps</a:t>
            </a:r>
            <a:r>
              <a:rPr lang="en-US" sz="1800" dirty="0"/>
              <a:t> (especially stabilizes counting; biggest gain on R101)</a:t>
            </a:r>
          </a:p>
          <a:p>
            <a:r>
              <a:rPr lang="en-US" sz="1800" b="1" dirty="0"/>
              <a:t>RQ3 - Does model-assisted annotation reduce labeling effort? </a:t>
            </a:r>
          </a:p>
          <a:p>
            <a:pPr lvl="1"/>
            <a:r>
              <a:rPr lang="en-US" sz="1800" b="1" dirty="0"/>
              <a:t>Yes</a:t>
            </a:r>
            <a:r>
              <a:rPr lang="en-US" sz="1800" dirty="0"/>
              <a:t>: Assisted workflows reduce time from 94.49 s/bubble → 3.20 s/bubble (~30×), while keeping human control for hard cases.</a:t>
            </a:r>
          </a:p>
          <a:p>
            <a:r>
              <a:rPr lang="en-US" sz="1800" dirty="0"/>
              <a:t>Overall, the proposed workflow meets the dissertation goals: strong baselines, validated transfer strategy, and scalable annotation.</a:t>
            </a:r>
            <a:endParaRPr lang="pt-PT" sz="1800" dirty="0"/>
          </a:p>
        </p:txBody>
      </p:sp>
      <p:sp>
        <p:nvSpPr>
          <p:cNvPr id="4" name="Marcador de Posição do Número do Diapositivo 3">
            <a:extLst>
              <a:ext uri="{FF2B5EF4-FFF2-40B4-BE49-F238E27FC236}">
                <a16:creationId xmlns:a16="http://schemas.microsoft.com/office/drawing/2014/main" id="{D14AE419-AD78-0838-9980-C49EC2E9CF0B}"/>
              </a:ext>
            </a:extLst>
          </p:cNvPr>
          <p:cNvSpPr>
            <a:spLocks noGrp="1"/>
          </p:cNvSpPr>
          <p:nvPr>
            <p:ph type="sldNum" sz="quarter" idx="12"/>
          </p:nvPr>
        </p:nvSpPr>
        <p:spPr/>
        <p:txBody>
          <a:bodyPr/>
          <a:lstStyle/>
          <a:p>
            <a:fld id="{13A9F3AB-103B-42BD-8121-9F883A719849}" type="slidenum">
              <a:rPr lang="pt-PT" smtClean="0"/>
              <a:t>15</a:t>
            </a:fld>
            <a:endParaRPr lang="pt-PT"/>
          </a:p>
        </p:txBody>
      </p:sp>
    </p:spTree>
    <p:extLst>
      <p:ext uri="{BB962C8B-B14F-4D97-AF65-F5344CB8AC3E}">
        <p14:creationId xmlns:p14="http://schemas.microsoft.com/office/powerpoint/2010/main" val="3467245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B08D6E-E39F-1020-1F58-B8AAEF3565C1}"/>
              </a:ext>
            </a:extLst>
          </p:cNvPr>
          <p:cNvSpPr>
            <a:spLocks noGrp="1"/>
          </p:cNvSpPr>
          <p:nvPr>
            <p:ph type="title"/>
          </p:nvPr>
        </p:nvSpPr>
        <p:spPr/>
        <p:txBody>
          <a:bodyPr/>
          <a:lstStyle/>
          <a:p>
            <a:r>
              <a:rPr lang="pt-PT" dirty="0" err="1"/>
              <a:t>Limitations</a:t>
            </a:r>
            <a:r>
              <a:rPr lang="pt-PT" dirty="0"/>
              <a:t> &amp; </a:t>
            </a:r>
            <a:r>
              <a:rPr lang="pt-PT" dirty="0" err="1"/>
              <a:t>next</a:t>
            </a:r>
            <a:r>
              <a:rPr lang="pt-PT" dirty="0"/>
              <a:t> steps</a:t>
            </a:r>
          </a:p>
        </p:txBody>
      </p:sp>
      <p:sp>
        <p:nvSpPr>
          <p:cNvPr id="5" name="Marcador de Posição de Conteúdo 2">
            <a:extLst>
              <a:ext uri="{FF2B5EF4-FFF2-40B4-BE49-F238E27FC236}">
                <a16:creationId xmlns:a16="http://schemas.microsoft.com/office/drawing/2014/main" id="{2B914475-DCC4-A391-26EA-9C3F2371F4CA}"/>
              </a:ext>
            </a:extLst>
          </p:cNvPr>
          <p:cNvSpPr>
            <a:spLocks noGrp="1"/>
          </p:cNvSpPr>
          <p:nvPr>
            <p:ph idx="1"/>
          </p:nvPr>
        </p:nvSpPr>
        <p:spPr/>
        <p:txBody>
          <a:bodyPr>
            <a:normAutofit/>
          </a:bodyPr>
          <a:lstStyle/>
          <a:p>
            <a:r>
              <a:rPr lang="en-US" sz="1800" b="1" dirty="0"/>
              <a:t>Limitations</a:t>
            </a:r>
          </a:p>
          <a:p>
            <a:pPr lvl="1"/>
            <a:r>
              <a:rPr lang="en-US" sz="1800" dirty="0"/>
              <a:t>Small real dataset / small test split (25 images) → high variance</a:t>
            </a:r>
          </a:p>
          <a:p>
            <a:pPr lvl="1"/>
            <a:r>
              <a:rPr lang="en-US" sz="1800" dirty="0"/>
              <a:t>Coverage: limited operating conditions (lighting, density, optics)</a:t>
            </a:r>
          </a:p>
          <a:p>
            <a:pPr lvl="1"/>
            <a:r>
              <a:rPr lang="en-US" sz="1800" dirty="0"/>
              <a:t>Synthetic–real mismatch + annotation ambiguity in dense scenes</a:t>
            </a:r>
          </a:p>
          <a:p>
            <a:pPr marL="457200" lvl="1" indent="0">
              <a:buNone/>
            </a:pPr>
            <a:endParaRPr lang="en-US" sz="1800" dirty="0"/>
          </a:p>
          <a:p>
            <a:r>
              <a:rPr lang="en-US" sz="1800" b="1" dirty="0"/>
              <a:t>Next steps </a:t>
            </a:r>
          </a:p>
          <a:p>
            <a:pPr lvl="1"/>
            <a:r>
              <a:rPr lang="en-US" sz="1800" dirty="0"/>
              <a:t>Scale &amp; diversify real data (more frames, broader conditions)</a:t>
            </a:r>
          </a:p>
          <a:p>
            <a:pPr lvl="1"/>
            <a:r>
              <a:rPr lang="en-US" sz="1800" dirty="0"/>
              <a:t>Acquisition-informed augmentation + validate on larger eval split</a:t>
            </a:r>
          </a:p>
          <a:p>
            <a:pPr lvl="1"/>
            <a:r>
              <a:rPr lang="en-US" sz="1800" dirty="0"/>
              <a:t>Iterative data engine: pre-annotate → refine (SAM2) → retrain (active loop)</a:t>
            </a:r>
            <a:endParaRPr lang="pt-PT" sz="1800" dirty="0"/>
          </a:p>
        </p:txBody>
      </p:sp>
      <p:sp>
        <p:nvSpPr>
          <p:cNvPr id="4" name="Marcador de Posição do Número do Diapositivo 3">
            <a:extLst>
              <a:ext uri="{FF2B5EF4-FFF2-40B4-BE49-F238E27FC236}">
                <a16:creationId xmlns:a16="http://schemas.microsoft.com/office/drawing/2014/main" id="{FBD0AEAE-0D7A-F51D-BCAC-107B4CA75DD4}"/>
              </a:ext>
            </a:extLst>
          </p:cNvPr>
          <p:cNvSpPr>
            <a:spLocks noGrp="1"/>
          </p:cNvSpPr>
          <p:nvPr>
            <p:ph type="sldNum" sz="quarter" idx="12"/>
          </p:nvPr>
        </p:nvSpPr>
        <p:spPr/>
        <p:txBody>
          <a:bodyPr/>
          <a:lstStyle/>
          <a:p>
            <a:fld id="{13A9F3AB-103B-42BD-8121-9F883A719849}" type="slidenum">
              <a:rPr lang="pt-PT" smtClean="0"/>
              <a:t>16</a:t>
            </a:fld>
            <a:endParaRPr lang="pt-PT"/>
          </a:p>
        </p:txBody>
      </p:sp>
    </p:spTree>
    <p:extLst>
      <p:ext uri="{BB962C8B-B14F-4D97-AF65-F5344CB8AC3E}">
        <p14:creationId xmlns:p14="http://schemas.microsoft.com/office/powerpoint/2010/main" val="38603590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49BC34D-9C23-4D6D-8213-1F471AF85B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52858" y="744469"/>
            <a:ext cx="10674117" cy="5349671"/>
            <a:chOff x="752858" y="744469"/>
            <a:chExt cx="10674117" cy="5349671"/>
          </a:xfrm>
        </p:grpSpPr>
        <p:sp>
          <p:nvSpPr>
            <p:cNvPr id="12" name="Freeform 6">
              <a:extLst>
                <a:ext uri="{FF2B5EF4-FFF2-40B4-BE49-F238E27FC236}">
                  <a16:creationId xmlns:a16="http://schemas.microsoft.com/office/drawing/2014/main" id="{FA0F5D6C-5025-4D7E-82DD-C2C6FDA1E7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pt-PT"/>
            </a:p>
          </p:txBody>
        </p:sp>
        <p:sp>
          <p:nvSpPr>
            <p:cNvPr id="13" name="Freeform 6">
              <a:extLst>
                <a:ext uri="{FF2B5EF4-FFF2-40B4-BE49-F238E27FC236}">
                  <a16:creationId xmlns:a16="http://schemas.microsoft.com/office/drawing/2014/main" id="{E2AF2C17-4AB4-4402-B84B-129EF95D16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pt-PT"/>
            </a:p>
          </p:txBody>
        </p:sp>
      </p:grpSp>
      <p:sp useBgFill="1">
        <p:nvSpPr>
          <p:cNvPr id="15" name="Rectangle 14">
            <a:extLst>
              <a:ext uri="{FF2B5EF4-FFF2-40B4-BE49-F238E27FC236}">
                <a16:creationId xmlns:a16="http://schemas.microsoft.com/office/drawing/2014/main" id="{CB73C468-D875-4A8E-A540-E43BF8232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3C6F963-ACD6-A4D3-E056-CD0EACB1DFF6}"/>
              </a:ext>
            </a:extLst>
          </p:cNvPr>
          <p:cNvSpPr>
            <a:spLocks noGrp="1"/>
          </p:cNvSpPr>
          <p:nvPr>
            <p:ph type="title"/>
          </p:nvPr>
        </p:nvSpPr>
        <p:spPr>
          <a:xfrm>
            <a:off x="6711885" y="634028"/>
            <a:ext cx="4798243" cy="3732835"/>
          </a:xfrm>
        </p:spPr>
        <p:txBody>
          <a:bodyPr vert="horz" lIns="91440" tIns="45720" rIns="91440" bIns="45720" rtlCol="0" anchor="b">
            <a:normAutofit/>
          </a:bodyPr>
          <a:lstStyle/>
          <a:p>
            <a:pPr algn="ctr"/>
            <a:r>
              <a:rPr lang="en-US" sz="8800" dirty="0"/>
              <a:t>Thank You</a:t>
            </a:r>
          </a:p>
        </p:txBody>
      </p:sp>
      <p:sp>
        <p:nvSpPr>
          <p:cNvPr id="3" name="Marcador de Posição de Conteúdo 2">
            <a:extLst>
              <a:ext uri="{FF2B5EF4-FFF2-40B4-BE49-F238E27FC236}">
                <a16:creationId xmlns:a16="http://schemas.microsoft.com/office/drawing/2014/main" id="{D0159AAF-CCB2-1DE2-D28E-76ACE88E4A74}"/>
              </a:ext>
            </a:extLst>
          </p:cNvPr>
          <p:cNvSpPr>
            <a:spLocks noGrp="1"/>
          </p:cNvSpPr>
          <p:nvPr>
            <p:ph idx="1"/>
          </p:nvPr>
        </p:nvSpPr>
        <p:spPr>
          <a:xfrm>
            <a:off x="6711885" y="4436462"/>
            <a:ext cx="4798243" cy="1794656"/>
          </a:xfrm>
        </p:spPr>
        <p:txBody>
          <a:bodyPr vert="horz" lIns="91440" tIns="45720" rIns="91440" bIns="45720" rtlCol="0">
            <a:normAutofit/>
          </a:bodyPr>
          <a:lstStyle/>
          <a:p>
            <a:pPr marL="0" indent="0" algn="ctr">
              <a:lnSpc>
                <a:spcPct val="112000"/>
              </a:lnSpc>
              <a:spcBef>
                <a:spcPts val="0"/>
              </a:spcBef>
              <a:spcAft>
                <a:spcPts val="600"/>
              </a:spcAft>
              <a:buNone/>
            </a:pPr>
            <a:r>
              <a:rPr lang="en-US" sz="3200" dirty="0"/>
              <a:t>Questions?</a:t>
            </a:r>
          </a:p>
        </p:txBody>
      </p:sp>
      <p:sp>
        <p:nvSpPr>
          <p:cNvPr id="17" name="Freeform 6">
            <a:extLst>
              <a:ext uri="{FF2B5EF4-FFF2-40B4-BE49-F238E27FC236}">
                <a16:creationId xmlns:a16="http://schemas.microsoft.com/office/drawing/2014/main" id="{B4734F2F-19FC-4D35-9BDE-5CEAD57D9B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27878" y="2016617"/>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pt-PT"/>
          </a:p>
        </p:txBody>
      </p:sp>
      <p:sp>
        <p:nvSpPr>
          <p:cNvPr id="19" name="Freeform 6">
            <a:extLst>
              <a:ext uri="{FF2B5EF4-FFF2-40B4-BE49-F238E27FC236}">
                <a16:creationId xmlns:a16="http://schemas.microsoft.com/office/drawing/2014/main" id="{D97A8A26-FD96-4968-A34A-727382AC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649163" y="634028"/>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pt-PT"/>
          </a:p>
        </p:txBody>
      </p:sp>
      <p:pic>
        <p:nvPicPr>
          <p:cNvPr id="8" name="Graphic 7" descr="Help">
            <a:extLst>
              <a:ext uri="{FF2B5EF4-FFF2-40B4-BE49-F238E27FC236}">
                <a16:creationId xmlns:a16="http://schemas.microsoft.com/office/drawing/2014/main" id="{99F3BDDD-5712-4DA3-2CF8-9AD33A65303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71403" y="1425173"/>
            <a:ext cx="4207669" cy="4207669"/>
          </a:xfrm>
          <a:prstGeom prst="rect">
            <a:avLst/>
          </a:prstGeom>
        </p:spPr>
      </p:pic>
      <p:sp>
        <p:nvSpPr>
          <p:cNvPr id="4" name="Marcador de Posição do Número do Diapositivo 3">
            <a:extLst>
              <a:ext uri="{FF2B5EF4-FFF2-40B4-BE49-F238E27FC236}">
                <a16:creationId xmlns:a16="http://schemas.microsoft.com/office/drawing/2014/main" id="{F3E0D6BE-B503-BF36-CB18-64C54D7DE4FD}"/>
              </a:ext>
            </a:extLst>
          </p:cNvPr>
          <p:cNvSpPr>
            <a:spLocks noGrp="1"/>
          </p:cNvSpPr>
          <p:nvPr>
            <p:ph type="sldNum" sz="quarter" idx="12"/>
          </p:nvPr>
        </p:nvSpPr>
        <p:spPr>
          <a:xfrm>
            <a:off x="9830683" y="6453386"/>
            <a:ext cx="1596292" cy="404614"/>
          </a:xfrm>
        </p:spPr>
        <p:txBody>
          <a:bodyPr vert="horz" lIns="91440" tIns="45720" rIns="91440" bIns="45720" rtlCol="0" anchor="ctr">
            <a:normAutofit/>
          </a:bodyPr>
          <a:lstStyle/>
          <a:p>
            <a:pPr defTabSz="914400">
              <a:spcAft>
                <a:spcPts val="600"/>
              </a:spcAft>
            </a:pPr>
            <a:fld id="{13A9F3AB-103B-42BD-8121-9F883A719849}" type="slidenum">
              <a:rPr lang="en-US" smtClean="0"/>
              <a:pPr defTabSz="914400">
                <a:spcAft>
                  <a:spcPts val="600"/>
                </a:spcAft>
              </a:pPr>
              <a:t>17</a:t>
            </a:fld>
            <a:endParaRPr lang="en-US"/>
          </a:p>
        </p:txBody>
      </p:sp>
    </p:spTree>
    <p:extLst>
      <p:ext uri="{BB962C8B-B14F-4D97-AF65-F5344CB8AC3E}">
        <p14:creationId xmlns:p14="http://schemas.microsoft.com/office/powerpoint/2010/main" val="5376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8"/>
                                        </p:tgtEl>
                                        <p:attrNameLst>
                                          <p:attrName>style.visibility</p:attrName>
                                        </p:attrNameLst>
                                      </p:cBhvr>
                                      <p:to>
                                        <p:strVal val="visible"/>
                                      </p:to>
                                    </p:set>
                                    <p:animEffect transition="in" filter="fade">
                                      <p:cBhvr>
                                        <p:cTn id="10"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3C83DA-5B09-F3B1-7EE1-0167EBB1F4F6}"/>
              </a:ext>
            </a:extLst>
          </p:cNvPr>
          <p:cNvSpPr>
            <a:spLocks noGrp="1"/>
          </p:cNvSpPr>
          <p:nvPr>
            <p:ph type="title"/>
          </p:nvPr>
        </p:nvSpPr>
        <p:spPr>
          <a:xfrm>
            <a:off x="838200" y="557189"/>
            <a:ext cx="10515600" cy="1110537"/>
          </a:xfrm>
        </p:spPr>
        <p:txBody>
          <a:bodyPr vert="horz" lIns="91440" tIns="45720" rIns="91440" bIns="45720" rtlCol="0" anchor="ctr">
            <a:normAutofit/>
          </a:bodyPr>
          <a:lstStyle/>
          <a:p>
            <a:r>
              <a:rPr lang="en-US" sz="5200" dirty="0"/>
              <a:t>Train Validation + General Results</a:t>
            </a:r>
            <a:endParaRPr lang="en-US" sz="5200" kern="1200" dirty="0">
              <a:solidFill>
                <a:schemeClr val="tx1"/>
              </a:solidFill>
              <a:latin typeface="+mj-lt"/>
              <a:ea typeface="+mj-ea"/>
              <a:cs typeface="+mj-cs"/>
            </a:endParaRPr>
          </a:p>
        </p:txBody>
      </p:sp>
      <p:pic>
        <p:nvPicPr>
          <p:cNvPr id="5" name="Marcador de Posição de Conteúdo 4" descr="Uma imagem com texto, diagrama, Tipo de letra, file&#10;&#10;Os conteúdos gerados por IA podem estar incorretos.">
            <a:extLst>
              <a:ext uri="{FF2B5EF4-FFF2-40B4-BE49-F238E27FC236}">
                <a16:creationId xmlns:a16="http://schemas.microsoft.com/office/drawing/2014/main" id="{40EFFEF1-D04D-3CF8-147C-CA99D70C57D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8740" y="4063630"/>
            <a:ext cx="3792797" cy="1517117"/>
          </a:xfrm>
          <a:prstGeom prst="rect">
            <a:avLst/>
          </a:prstGeom>
        </p:spPr>
      </p:pic>
      <p:sp>
        <p:nvSpPr>
          <p:cNvPr id="3" name="Marcador de Posição do Número do Diapositivo 2">
            <a:extLst>
              <a:ext uri="{FF2B5EF4-FFF2-40B4-BE49-F238E27FC236}">
                <a16:creationId xmlns:a16="http://schemas.microsoft.com/office/drawing/2014/main" id="{133912F1-5FE1-6B28-7585-4D5B323700EB}"/>
              </a:ext>
            </a:extLst>
          </p:cNvPr>
          <p:cNvSpPr>
            <a:spLocks noGrp="1"/>
          </p:cNvSpPr>
          <p:nvPr>
            <p:ph type="sldNum" sz="quarter" idx="12"/>
          </p:nvPr>
        </p:nvSpPr>
        <p:spPr/>
        <p:txBody>
          <a:bodyPr/>
          <a:lstStyle/>
          <a:p>
            <a:fld id="{13A9F3AB-103B-42BD-8121-9F883A719849}" type="slidenum">
              <a:rPr lang="pt-PT" smtClean="0"/>
              <a:t>18</a:t>
            </a:fld>
            <a:endParaRPr lang="pt-PT"/>
          </a:p>
        </p:txBody>
      </p:sp>
      <p:pic>
        <p:nvPicPr>
          <p:cNvPr id="11" name="Imagem 10" descr="Uma imagem com texto, file, Gráfico, diagrama&#10;&#10;Os conteúdos gerados por IA podem estar incorretos.">
            <a:extLst>
              <a:ext uri="{FF2B5EF4-FFF2-40B4-BE49-F238E27FC236}">
                <a16:creationId xmlns:a16="http://schemas.microsoft.com/office/drawing/2014/main" id="{6AEF0578-FBED-72C5-F0A1-32F035A2A9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652" y="1834939"/>
            <a:ext cx="3592972" cy="2056976"/>
          </a:xfrm>
          <a:prstGeom prst="rect">
            <a:avLst/>
          </a:prstGeom>
        </p:spPr>
      </p:pic>
      <p:pic>
        <p:nvPicPr>
          <p:cNvPr id="13" name="Imagem 12" descr="Uma imagem com texto, file, Gráfico, diagrama&#10;&#10;Os conteúdos gerados por IA podem estar incorretos.">
            <a:extLst>
              <a:ext uri="{FF2B5EF4-FFF2-40B4-BE49-F238E27FC236}">
                <a16:creationId xmlns:a16="http://schemas.microsoft.com/office/drawing/2014/main" id="{2C1C4B40-6CF9-5999-2898-5800160FCB1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94587" y="1834939"/>
            <a:ext cx="3592972" cy="2056976"/>
          </a:xfrm>
          <a:prstGeom prst="rect">
            <a:avLst/>
          </a:prstGeom>
        </p:spPr>
      </p:pic>
      <p:pic>
        <p:nvPicPr>
          <p:cNvPr id="15" name="Imagem 14" descr="Uma imagem com texto, file, Gráfico, captura de ecrã&#10;&#10;Os conteúdos gerados por IA podem estar incorretos.">
            <a:extLst>
              <a:ext uri="{FF2B5EF4-FFF2-40B4-BE49-F238E27FC236}">
                <a16:creationId xmlns:a16="http://schemas.microsoft.com/office/drawing/2014/main" id="{8D9C1D51-0453-4395-94E1-F5441DBC2F1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87944" y="1834939"/>
            <a:ext cx="3592972" cy="2056976"/>
          </a:xfrm>
          <a:prstGeom prst="rect">
            <a:avLst/>
          </a:prstGeom>
        </p:spPr>
      </p:pic>
      <p:pic>
        <p:nvPicPr>
          <p:cNvPr id="9" name="Imagem 8" descr="Uma imagem com texto, Tipo de letra, file, design&#10;&#10;Os conteúdos gerados por IA podem estar incorretos.">
            <a:extLst>
              <a:ext uri="{FF2B5EF4-FFF2-40B4-BE49-F238E27FC236}">
                <a16:creationId xmlns:a16="http://schemas.microsoft.com/office/drawing/2014/main" id="{5B87D523-59C5-5563-7B4A-5D66B8AFE8B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94675" y="4063630"/>
            <a:ext cx="3792797" cy="1517117"/>
          </a:xfrm>
          <a:prstGeom prst="rect">
            <a:avLst/>
          </a:prstGeom>
        </p:spPr>
      </p:pic>
      <p:pic>
        <p:nvPicPr>
          <p:cNvPr id="7" name="Imagem 6" descr="Uma imagem com texto, Tipo de letra, captura de ecrã, file&#10;&#10;Os conteúdos gerados por IA podem estar incorretos.">
            <a:extLst>
              <a:ext uri="{FF2B5EF4-FFF2-40B4-BE49-F238E27FC236}">
                <a16:creationId xmlns:a16="http://schemas.microsoft.com/office/drawing/2014/main" id="{F63E55A8-3F9B-C7E4-13BE-EC249BC1605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88032" y="4063630"/>
            <a:ext cx="3792797" cy="1517117"/>
          </a:xfrm>
          <a:prstGeom prst="rect">
            <a:avLst/>
          </a:prstGeom>
        </p:spPr>
      </p:pic>
    </p:spTree>
    <p:extLst>
      <p:ext uri="{BB962C8B-B14F-4D97-AF65-F5344CB8AC3E}">
        <p14:creationId xmlns:p14="http://schemas.microsoft.com/office/powerpoint/2010/main" val="23340172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D1846C-EAF6-621F-56B7-B2E36DB3FDD6}"/>
              </a:ext>
            </a:extLst>
          </p:cNvPr>
          <p:cNvSpPr>
            <a:spLocks noGrp="1"/>
          </p:cNvSpPr>
          <p:nvPr>
            <p:ph type="title"/>
          </p:nvPr>
        </p:nvSpPr>
        <p:spPr>
          <a:xfrm>
            <a:off x="1198181" y="557189"/>
            <a:ext cx="9795637" cy="1104857"/>
          </a:xfrm>
        </p:spPr>
        <p:txBody>
          <a:bodyPr vert="horz" lIns="91440" tIns="45720" rIns="91440" bIns="45720" rtlCol="0" anchor="b">
            <a:normAutofit/>
          </a:bodyPr>
          <a:lstStyle/>
          <a:p>
            <a:pPr algn="ctr"/>
            <a:r>
              <a:rPr lang="en-US" sz="5200" dirty="0"/>
              <a:t>Transfer plots</a:t>
            </a:r>
          </a:p>
        </p:txBody>
      </p:sp>
      <p:pic>
        <p:nvPicPr>
          <p:cNvPr id="5" name="Marcador de Posição de Conteúdo 4" descr="Uma imagem com texto, captura de ecrã, diagrama, Gráfico&#10;&#10;Os conteúdos gerados por IA podem estar incorretos.">
            <a:extLst>
              <a:ext uri="{FF2B5EF4-FFF2-40B4-BE49-F238E27FC236}">
                <a16:creationId xmlns:a16="http://schemas.microsoft.com/office/drawing/2014/main" id="{E1CEDA67-ABC9-519F-3C63-EEC2F6D2D66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93386" y="3470574"/>
            <a:ext cx="3797536" cy="2145607"/>
          </a:xfrm>
          <a:prstGeom prst="rect">
            <a:avLst/>
          </a:prstGeom>
        </p:spPr>
      </p:pic>
      <p:sp>
        <p:nvSpPr>
          <p:cNvPr id="3" name="Marcador de Posição do Número do Diapositivo 2">
            <a:extLst>
              <a:ext uri="{FF2B5EF4-FFF2-40B4-BE49-F238E27FC236}">
                <a16:creationId xmlns:a16="http://schemas.microsoft.com/office/drawing/2014/main" id="{977BD76E-E045-FCCA-9206-62DF2590A31C}"/>
              </a:ext>
            </a:extLst>
          </p:cNvPr>
          <p:cNvSpPr>
            <a:spLocks noGrp="1"/>
          </p:cNvSpPr>
          <p:nvPr>
            <p:ph type="sldNum" sz="quarter" idx="12"/>
          </p:nvPr>
        </p:nvSpPr>
        <p:spPr/>
        <p:txBody>
          <a:bodyPr/>
          <a:lstStyle/>
          <a:p>
            <a:fld id="{13A9F3AB-103B-42BD-8121-9F883A719849}" type="slidenum">
              <a:rPr lang="pt-PT" smtClean="0"/>
              <a:t>19</a:t>
            </a:fld>
            <a:endParaRPr lang="pt-PT"/>
          </a:p>
        </p:txBody>
      </p:sp>
      <p:pic>
        <p:nvPicPr>
          <p:cNvPr id="7" name="Imagem 6" descr="Uma imagem com texto, captura de ecrã, diagrama, Gráfico&#10;&#10;Os conteúdos gerados por IA podem estar incorretos.">
            <a:extLst>
              <a:ext uri="{FF2B5EF4-FFF2-40B4-BE49-F238E27FC236}">
                <a16:creationId xmlns:a16="http://schemas.microsoft.com/office/drawing/2014/main" id="{33D2566E-D16F-40F4-3DA2-2770CAB571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099" y="3470574"/>
            <a:ext cx="3797536" cy="2145607"/>
          </a:xfrm>
          <a:prstGeom prst="rect">
            <a:avLst/>
          </a:prstGeom>
        </p:spPr>
      </p:pic>
      <p:pic>
        <p:nvPicPr>
          <p:cNvPr id="9" name="Imagem 8" descr="Uma imagem com texto, captura de ecrã, diagrama, Gráfico&#10;&#10;Os conteúdos gerados por IA podem estar incorretos.">
            <a:extLst>
              <a:ext uri="{FF2B5EF4-FFF2-40B4-BE49-F238E27FC236}">
                <a16:creationId xmlns:a16="http://schemas.microsoft.com/office/drawing/2014/main" id="{ED130320-5A99-518A-8BCC-F19B6BA795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2673" y="3470574"/>
            <a:ext cx="3797536" cy="2145607"/>
          </a:xfrm>
          <a:prstGeom prst="rect">
            <a:avLst/>
          </a:prstGeom>
        </p:spPr>
      </p:pic>
    </p:spTree>
    <p:extLst>
      <p:ext uri="{BB962C8B-B14F-4D97-AF65-F5344CB8AC3E}">
        <p14:creationId xmlns:p14="http://schemas.microsoft.com/office/powerpoint/2010/main" val="17046079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9B389E-9546-7ACF-1AE7-7CC8A5BB537C}"/>
              </a:ext>
            </a:extLst>
          </p:cNvPr>
          <p:cNvSpPr>
            <a:spLocks noGrp="1"/>
          </p:cNvSpPr>
          <p:nvPr>
            <p:ph type="title"/>
          </p:nvPr>
        </p:nvSpPr>
        <p:spPr>
          <a:xfrm>
            <a:off x="838200" y="557189"/>
            <a:ext cx="10515600" cy="1110537"/>
          </a:xfrm>
        </p:spPr>
        <p:txBody>
          <a:bodyPr vert="horz" lIns="91440" tIns="45720" rIns="91440" bIns="45720" rtlCol="0" anchor="ctr">
            <a:normAutofit/>
          </a:bodyPr>
          <a:lstStyle/>
          <a:p>
            <a:r>
              <a:rPr lang="en-US" sz="5200" kern="1200" dirty="0">
                <a:solidFill>
                  <a:schemeClr val="tx1"/>
                </a:solidFill>
                <a:latin typeface="+mj-lt"/>
                <a:ea typeface="+mj-ea"/>
                <a:cs typeface="+mj-cs"/>
              </a:rPr>
              <a:t>Augmentations plots + ECDF</a:t>
            </a:r>
          </a:p>
        </p:txBody>
      </p:sp>
      <p:pic>
        <p:nvPicPr>
          <p:cNvPr id="5" name="Marcador de Posição de Conteúdo 4">
            <a:extLst>
              <a:ext uri="{FF2B5EF4-FFF2-40B4-BE49-F238E27FC236}">
                <a16:creationId xmlns:a16="http://schemas.microsoft.com/office/drawing/2014/main" id="{5C83C882-5802-BA80-D96A-1D5E1CE5C10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264098" y="1834939"/>
            <a:ext cx="3640665" cy="2056976"/>
          </a:xfrm>
          <a:prstGeom prst="rect">
            <a:avLst/>
          </a:prstGeom>
        </p:spPr>
      </p:pic>
      <p:sp>
        <p:nvSpPr>
          <p:cNvPr id="3" name="Marcador de Posição do Número do Diapositivo 2">
            <a:extLst>
              <a:ext uri="{FF2B5EF4-FFF2-40B4-BE49-F238E27FC236}">
                <a16:creationId xmlns:a16="http://schemas.microsoft.com/office/drawing/2014/main" id="{082F3721-5954-60FF-6001-A527AFF5BF4E}"/>
              </a:ext>
            </a:extLst>
          </p:cNvPr>
          <p:cNvSpPr>
            <a:spLocks noGrp="1"/>
          </p:cNvSpPr>
          <p:nvPr>
            <p:ph type="sldNum" sz="quarter" idx="12"/>
          </p:nvPr>
        </p:nvSpPr>
        <p:spPr/>
        <p:txBody>
          <a:bodyPr/>
          <a:lstStyle/>
          <a:p>
            <a:fld id="{13A9F3AB-103B-42BD-8121-9F883A719849}" type="slidenum">
              <a:rPr lang="pt-PT" smtClean="0"/>
              <a:t>20</a:t>
            </a:fld>
            <a:endParaRPr lang="pt-PT"/>
          </a:p>
        </p:txBody>
      </p:sp>
      <p:pic>
        <p:nvPicPr>
          <p:cNvPr id="9" name="Imagem 8">
            <a:extLst>
              <a:ext uri="{FF2B5EF4-FFF2-40B4-BE49-F238E27FC236}">
                <a16:creationId xmlns:a16="http://schemas.microsoft.com/office/drawing/2014/main" id="{BC06492C-0D0F-4F8D-DCE7-9BC8D8EDC0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806" y="1834939"/>
            <a:ext cx="3640665" cy="2056976"/>
          </a:xfrm>
          <a:prstGeom prst="rect">
            <a:avLst/>
          </a:prstGeom>
        </p:spPr>
      </p:pic>
      <p:pic>
        <p:nvPicPr>
          <p:cNvPr id="7" name="Imagem 6">
            <a:extLst>
              <a:ext uri="{FF2B5EF4-FFF2-40B4-BE49-F238E27FC236}">
                <a16:creationId xmlns:a16="http://schemas.microsoft.com/office/drawing/2014/main" id="{15E15209-629E-22A6-CBF9-2E6636E792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70741" y="1834939"/>
            <a:ext cx="3640665" cy="2056976"/>
          </a:xfrm>
          <a:prstGeom prst="rect">
            <a:avLst/>
          </a:prstGeom>
        </p:spPr>
      </p:pic>
      <p:pic>
        <p:nvPicPr>
          <p:cNvPr id="13" name="Imagem 12">
            <a:extLst>
              <a:ext uri="{FF2B5EF4-FFF2-40B4-BE49-F238E27FC236}">
                <a16:creationId xmlns:a16="http://schemas.microsoft.com/office/drawing/2014/main" id="{F1A05894-8507-E716-75EC-0927F933482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4806" y="4063630"/>
            <a:ext cx="3640665" cy="2056976"/>
          </a:xfrm>
          <a:prstGeom prst="rect">
            <a:avLst/>
          </a:prstGeom>
        </p:spPr>
      </p:pic>
      <p:pic>
        <p:nvPicPr>
          <p:cNvPr id="11" name="Imagem 10">
            <a:extLst>
              <a:ext uri="{FF2B5EF4-FFF2-40B4-BE49-F238E27FC236}">
                <a16:creationId xmlns:a16="http://schemas.microsoft.com/office/drawing/2014/main" id="{5B277B96-F17F-0F9D-32C8-D9190D4628C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70741" y="4063630"/>
            <a:ext cx="3640665" cy="2056976"/>
          </a:xfrm>
          <a:prstGeom prst="rect">
            <a:avLst/>
          </a:prstGeom>
        </p:spPr>
      </p:pic>
      <p:pic>
        <p:nvPicPr>
          <p:cNvPr id="15" name="Imagem 14">
            <a:extLst>
              <a:ext uri="{FF2B5EF4-FFF2-40B4-BE49-F238E27FC236}">
                <a16:creationId xmlns:a16="http://schemas.microsoft.com/office/drawing/2014/main" id="{EA85B8C0-5CD4-B791-0432-43F887AF433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64098" y="4063630"/>
            <a:ext cx="3640665" cy="2056976"/>
          </a:xfrm>
          <a:prstGeom prst="rect">
            <a:avLst/>
          </a:prstGeom>
        </p:spPr>
      </p:pic>
    </p:spTree>
    <p:extLst>
      <p:ext uri="{BB962C8B-B14F-4D97-AF65-F5344CB8AC3E}">
        <p14:creationId xmlns:p14="http://schemas.microsoft.com/office/powerpoint/2010/main" val="1616251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Imagem 10" descr="Uma imagem com texto, captura de ecrã, diagrama, Gráfico&#10;&#10;Os conteúdos gerados por IA podem estar incorretos.">
            <a:extLst>
              <a:ext uri="{FF2B5EF4-FFF2-40B4-BE49-F238E27FC236}">
                <a16:creationId xmlns:a16="http://schemas.microsoft.com/office/drawing/2014/main" id="{184A898A-4314-5F9C-C70F-5E15AADA44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609548"/>
            <a:ext cx="3278292" cy="1819452"/>
          </a:xfrm>
          <a:prstGeom prst="rect">
            <a:avLst/>
          </a:prstGeom>
        </p:spPr>
      </p:pic>
      <p:pic>
        <p:nvPicPr>
          <p:cNvPr id="13" name="Imagem 12" descr="Uma imagem com texto, captura de ecrã, Tipo de letra, número&#10;&#10;Os conteúdos gerados por IA podem estar incorretos.">
            <a:extLst>
              <a:ext uri="{FF2B5EF4-FFF2-40B4-BE49-F238E27FC236}">
                <a16:creationId xmlns:a16="http://schemas.microsoft.com/office/drawing/2014/main" id="{BC49E941-4E1B-BD25-3702-87D6F7FE8BC3}"/>
              </a:ext>
            </a:extLst>
          </p:cNvPr>
          <p:cNvPicPr>
            <a:picLocks noChangeAspect="1"/>
          </p:cNvPicPr>
          <p:nvPr/>
        </p:nvPicPr>
        <p:blipFill>
          <a:blip r:embed="rId3"/>
          <a:stretch>
            <a:fillRect/>
          </a:stretch>
        </p:blipFill>
        <p:spPr>
          <a:xfrm>
            <a:off x="4243493" y="2238509"/>
            <a:ext cx="3743538" cy="561530"/>
          </a:xfrm>
          <a:prstGeom prst="rect">
            <a:avLst/>
          </a:prstGeom>
        </p:spPr>
      </p:pic>
      <p:pic>
        <p:nvPicPr>
          <p:cNvPr id="7" name="Imagem 6" descr="Uma imagem com texto, captura de ecrã, diagrama, Gráfico&#10;&#10;Os conteúdos gerados por IA podem estar incorretos.">
            <a:extLst>
              <a:ext uri="{FF2B5EF4-FFF2-40B4-BE49-F238E27FC236}">
                <a16:creationId xmlns:a16="http://schemas.microsoft.com/office/drawing/2014/main" id="{7D9750C9-6265-A15B-9858-C8E8B5D5453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08764" y="1620238"/>
            <a:ext cx="3239769" cy="1798071"/>
          </a:xfrm>
          <a:prstGeom prst="rect">
            <a:avLst/>
          </a:prstGeom>
        </p:spPr>
      </p:pic>
      <p:sp>
        <p:nvSpPr>
          <p:cNvPr id="17" name="Título 1">
            <a:extLst>
              <a:ext uri="{FF2B5EF4-FFF2-40B4-BE49-F238E27FC236}">
                <a16:creationId xmlns:a16="http://schemas.microsoft.com/office/drawing/2014/main" id="{8FBDEA41-5D57-1F85-8580-438C39F844B7}"/>
              </a:ext>
            </a:extLst>
          </p:cNvPr>
          <p:cNvSpPr>
            <a:spLocks noGrp="1"/>
          </p:cNvSpPr>
          <p:nvPr>
            <p:ph type="title"/>
          </p:nvPr>
        </p:nvSpPr>
        <p:spPr>
          <a:xfrm>
            <a:off x="838200" y="270110"/>
            <a:ext cx="10515600" cy="1110537"/>
          </a:xfrm>
        </p:spPr>
        <p:txBody>
          <a:bodyPr vert="horz" lIns="91440" tIns="45720" rIns="91440" bIns="45720" rtlCol="0" anchor="ctr">
            <a:normAutofit/>
          </a:bodyPr>
          <a:lstStyle/>
          <a:p>
            <a:r>
              <a:rPr lang="en-US" sz="5200" kern="1200" dirty="0">
                <a:solidFill>
                  <a:schemeClr val="tx1"/>
                </a:solidFill>
                <a:latin typeface="+mj-lt"/>
                <a:ea typeface="+mj-ea"/>
                <a:cs typeface="+mj-cs"/>
              </a:rPr>
              <a:t>Stratification plots</a:t>
            </a:r>
          </a:p>
        </p:txBody>
      </p:sp>
      <p:pic>
        <p:nvPicPr>
          <p:cNvPr id="5" name="Marcador de Posição de Conteúdo 4" descr="Uma imagem com texto, captura de ecrã, diagrama, Gráfico&#10;&#10;Os conteúdos gerados por IA podem estar incorretos.">
            <a:extLst>
              <a:ext uri="{FF2B5EF4-FFF2-40B4-BE49-F238E27FC236}">
                <a16:creationId xmlns:a16="http://schemas.microsoft.com/office/drawing/2014/main" id="{67198B0C-E45F-74AB-F15A-C9E01B3703EC}"/>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43467" y="3992469"/>
            <a:ext cx="3278292" cy="1819452"/>
          </a:xfrm>
          <a:prstGeom prst="rect">
            <a:avLst/>
          </a:prstGeom>
        </p:spPr>
      </p:pic>
      <p:sp>
        <p:nvSpPr>
          <p:cNvPr id="2" name="Marcador de Posição do Número do Diapositivo 1">
            <a:extLst>
              <a:ext uri="{FF2B5EF4-FFF2-40B4-BE49-F238E27FC236}">
                <a16:creationId xmlns:a16="http://schemas.microsoft.com/office/drawing/2014/main" id="{CB01602B-8028-FE66-4409-B282BB66D6EB}"/>
              </a:ext>
            </a:extLst>
          </p:cNvPr>
          <p:cNvSpPr>
            <a:spLocks noGrp="1"/>
          </p:cNvSpPr>
          <p:nvPr>
            <p:ph type="sldNum" sz="quarter" idx="12"/>
          </p:nvPr>
        </p:nvSpPr>
        <p:spPr/>
        <p:txBody>
          <a:bodyPr/>
          <a:lstStyle/>
          <a:p>
            <a:fld id="{13A9F3AB-103B-42BD-8121-9F883A719849}" type="slidenum">
              <a:rPr lang="pt-PT" smtClean="0"/>
              <a:t>21</a:t>
            </a:fld>
            <a:endParaRPr lang="pt-PT"/>
          </a:p>
        </p:txBody>
      </p:sp>
      <p:pic>
        <p:nvPicPr>
          <p:cNvPr id="15" name="Imagem 14" descr="Uma imagem com texto, captura de ecrã, diagrama, Gráfico&#10;&#10;Os conteúdos gerados por IA podem estar incorretos.">
            <a:extLst>
              <a:ext uri="{FF2B5EF4-FFF2-40B4-BE49-F238E27FC236}">
                <a16:creationId xmlns:a16="http://schemas.microsoft.com/office/drawing/2014/main" id="{D909D919-89F4-7212-8828-46D7114A8E9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43494" y="3873028"/>
            <a:ext cx="3743538" cy="2077663"/>
          </a:xfrm>
          <a:prstGeom prst="rect">
            <a:avLst/>
          </a:prstGeom>
        </p:spPr>
      </p:pic>
      <p:pic>
        <p:nvPicPr>
          <p:cNvPr id="9" name="Imagem 8" descr="Uma imagem com texto, captura de ecrã, diagrama, Gráfico&#10;&#10;Os conteúdos gerados por IA podem estar incorretos.">
            <a:extLst>
              <a:ext uri="{FF2B5EF4-FFF2-40B4-BE49-F238E27FC236}">
                <a16:creationId xmlns:a16="http://schemas.microsoft.com/office/drawing/2014/main" id="{9CC58876-4D88-EBBC-4A8B-7265A5FA3C9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08763" y="4012823"/>
            <a:ext cx="3239769" cy="1798071"/>
          </a:xfrm>
          <a:prstGeom prst="rect">
            <a:avLst/>
          </a:prstGeom>
        </p:spPr>
      </p:pic>
      <p:sp>
        <p:nvSpPr>
          <p:cNvPr id="16" name="TextBox 5">
            <a:extLst>
              <a:ext uri="{FF2B5EF4-FFF2-40B4-BE49-F238E27FC236}">
                <a16:creationId xmlns:a16="http://schemas.microsoft.com/office/drawing/2014/main" id="{8A52F548-69C9-21B4-4868-424E02893364}"/>
              </a:ext>
            </a:extLst>
          </p:cNvPr>
          <p:cNvSpPr txBox="1"/>
          <p:nvPr/>
        </p:nvSpPr>
        <p:spPr>
          <a:xfrm>
            <a:off x="3921481" y="2800039"/>
            <a:ext cx="438756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Table 4:</a:t>
            </a:r>
            <a:r>
              <a:rPr lang="en-US" sz="1200" dirty="0">
                <a:ea typeface="+mn-lt"/>
                <a:cs typeface="+mn-lt"/>
              </a:rPr>
              <a:t> </a:t>
            </a:r>
            <a:r>
              <a:rPr lang="en-US" sz="1200" dirty="0"/>
              <a:t>Stratified performance in the transfer regime by mean bubble density </a:t>
            </a:r>
            <a:endParaRPr lang="en-US" dirty="0"/>
          </a:p>
        </p:txBody>
      </p:sp>
    </p:spTree>
    <p:extLst>
      <p:ext uri="{BB962C8B-B14F-4D97-AF65-F5344CB8AC3E}">
        <p14:creationId xmlns:p14="http://schemas.microsoft.com/office/powerpoint/2010/main" val="38332175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DBA026-81B2-396F-19DE-11115A8572C8}"/>
              </a:ext>
            </a:extLst>
          </p:cNvPr>
          <p:cNvSpPr>
            <a:spLocks noGrp="1"/>
          </p:cNvSpPr>
          <p:nvPr>
            <p:ph type="title"/>
          </p:nvPr>
        </p:nvSpPr>
        <p:spPr>
          <a:xfrm>
            <a:off x="838200" y="552741"/>
            <a:ext cx="9751828" cy="928299"/>
          </a:xfrm>
        </p:spPr>
        <p:txBody>
          <a:bodyPr>
            <a:normAutofit/>
          </a:bodyPr>
          <a:lstStyle/>
          <a:p>
            <a:r>
              <a:rPr lang="pt-PT" sz="4000" dirty="0" err="1"/>
              <a:t>Train</a:t>
            </a:r>
            <a:r>
              <a:rPr lang="pt-PT" sz="4000" dirty="0"/>
              <a:t> </a:t>
            </a:r>
            <a:r>
              <a:rPr lang="pt-PT" sz="4000" dirty="0" err="1"/>
              <a:t>Loss</a:t>
            </a:r>
            <a:endParaRPr lang="pt-PT" sz="4000" dirty="0"/>
          </a:p>
        </p:txBody>
      </p:sp>
      <p:sp>
        <p:nvSpPr>
          <p:cNvPr id="3" name="Marcador de Posição do Número do Diapositivo 2">
            <a:extLst>
              <a:ext uri="{FF2B5EF4-FFF2-40B4-BE49-F238E27FC236}">
                <a16:creationId xmlns:a16="http://schemas.microsoft.com/office/drawing/2014/main" id="{DCBE777B-CC41-9E0C-D081-1A1B078A6F15}"/>
              </a:ext>
            </a:extLst>
          </p:cNvPr>
          <p:cNvSpPr>
            <a:spLocks noGrp="1"/>
          </p:cNvSpPr>
          <p:nvPr>
            <p:ph type="sldNum" sz="quarter" idx="12"/>
          </p:nvPr>
        </p:nvSpPr>
        <p:spPr/>
        <p:txBody>
          <a:bodyPr/>
          <a:lstStyle/>
          <a:p>
            <a:fld id="{13A9F3AB-103B-42BD-8121-9F883A719849}" type="slidenum">
              <a:rPr lang="pt-PT" smtClean="0"/>
              <a:t>22</a:t>
            </a:fld>
            <a:endParaRPr lang="pt-PT"/>
          </a:p>
        </p:txBody>
      </p:sp>
      <p:pic>
        <p:nvPicPr>
          <p:cNvPr id="5" name="Marcador de Posição de Conteúdo 4" descr="Uma imagem com Gráfico, texto, file, captura de ecrã&#10;&#10;Os conteúdos gerados por IA podem estar incorretos.">
            <a:extLst>
              <a:ext uri="{FF2B5EF4-FFF2-40B4-BE49-F238E27FC236}">
                <a16:creationId xmlns:a16="http://schemas.microsoft.com/office/drawing/2014/main" id="{FE552468-BA1C-E55E-8368-754F33B6BA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9" y="1894899"/>
            <a:ext cx="5038485" cy="1902028"/>
          </a:xfrm>
          <a:prstGeom prst="rect">
            <a:avLst/>
          </a:prstGeom>
        </p:spPr>
      </p:pic>
      <p:pic>
        <p:nvPicPr>
          <p:cNvPr id="9" name="Imagem 8" descr="Uma imagem com texto, Gráfico, file, diagrama&#10;&#10;Os conteúdos gerados por IA podem estar incorretos.">
            <a:extLst>
              <a:ext uri="{FF2B5EF4-FFF2-40B4-BE49-F238E27FC236}">
                <a16:creationId xmlns:a16="http://schemas.microsoft.com/office/drawing/2014/main" id="{8C3D7C7F-DC15-403D-7CE5-F1270F27D7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5318" y="4145935"/>
            <a:ext cx="5106115" cy="1902027"/>
          </a:xfrm>
          <a:prstGeom prst="rect">
            <a:avLst/>
          </a:prstGeom>
        </p:spPr>
      </p:pic>
      <p:pic>
        <p:nvPicPr>
          <p:cNvPr id="7" name="Imagem 6" descr="Uma imagem com texto, Gráfico, captura de ecrã, file&#10;&#10;Os conteúdos gerados por IA podem estar incorretos.">
            <a:extLst>
              <a:ext uri="{FF2B5EF4-FFF2-40B4-BE49-F238E27FC236}">
                <a16:creationId xmlns:a16="http://schemas.microsoft.com/office/drawing/2014/main" id="{A9F0CD53-83BD-318F-8BD4-0D81A4953A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198" y="4145935"/>
            <a:ext cx="5038485" cy="1914624"/>
          </a:xfrm>
          <a:prstGeom prst="rect">
            <a:avLst/>
          </a:prstGeom>
        </p:spPr>
      </p:pic>
      <p:pic>
        <p:nvPicPr>
          <p:cNvPr id="11" name="Imagem 10" descr="Uma imagem com file, Gráfico, diagrama, texto&#10;&#10;Os conteúdos gerados por IA podem estar incorretos.">
            <a:extLst>
              <a:ext uri="{FF2B5EF4-FFF2-40B4-BE49-F238E27FC236}">
                <a16:creationId xmlns:a16="http://schemas.microsoft.com/office/drawing/2014/main" id="{E39DB2A2-EAB6-FE69-F679-CA52B687E96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15318" y="1894899"/>
            <a:ext cx="5005336" cy="1902027"/>
          </a:xfrm>
          <a:prstGeom prst="rect">
            <a:avLst/>
          </a:prstGeom>
        </p:spPr>
      </p:pic>
    </p:spTree>
    <p:extLst>
      <p:ext uri="{BB962C8B-B14F-4D97-AF65-F5344CB8AC3E}">
        <p14:creationId xmlns:p14="http://schemas.microsoft.com/office/powerpoint/2010/main" val="29119296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F537E3-921B-7692-A62E-9F30D23C1336}"/>
              </a:ext>
            </a:extLst>
          </p:cNvPr>
          <p:cNvSpPr>
            <a:spLocks noGrp="1"/>
          </p:cNvSpPr>
          <p:nvPr>
            <p:ph type="title"/>
          </p:nvPr>
        </p:nvSpPr>
        <p:spPr>
          <a:xfrm>
            <a:off x="838200" y="557189"/>
            <a:ext cx="10515600" cy="1110537"/>
          </a:xfrm>
        </p:spPr>
        <p:txBody>
          <a:bodyPr vert="horz" lIns="91440" tIns="45720" rIns="91440" bIns="45720" rtlCol="0" anchor="ctr">
            <a:normAutofit/>
          </a:bodyPr>
          <a:lstStyle/>
          <a:p>
            <a:r>
              <a:rPr lang="en-US" sz="5200" kern="1200" dirty="0">
                <a:solidFill>
                  <a:schemeClr val="tx1"/>
                </a:solidFill>
                <a:latin typeface="+mj-lt"/>
                <a:ea typeface="+mj-ea"/>
                <a:cs typeface="+mj-cs"/>
              </a:rPr>
              <a:t>Annotation Cases</a:t>
            </a:r>
          </a:p>
        </p:txBody>
      </p:sp>
      <p:pic>
        <p:nvPicPr>
          <p:cNvPr id="5" name="Marcador de Posição de Conteúdo 4">
            <a:extLst>
              <a:ext uri="{FF2B5EF4-FFF2-40B4-BE49-F238E27FC236}">
                <a16:creationId xmlns:a16="http://schemas.microsoft.com/office/drawing/2014/main" id="{3D04571F-7BE9-CF6B-8F1A-F905CEB98A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5392" y="3281477"/>
            <a:ext cx="3792797" cy="1962772"/>
          </a:xfrm>
          <a:prstGeom prst="rect">
            <a:avLst/>
          </a:prstGeom>
        </p:spPr>
      </p:pic>
      <p:sp>
        <p:nvSpPr>
          <p:cNvPr id="3" name="Marcador de Posição do Número do Diapositivo 2">
            <a:extLst>
              <a:ext uri="{FF2B5EF4-FFF2-40B4-BE49-F238E27FC236}">
                <a16:creationId xmlns:a16="http://schemas.microsoft.com/office/drawing/2014/main" id="{67A857D7-A3C1-A7EC-E317-2D6EEF9DD8AC}"/>
              </a:ext>
            </a:extLst>
          </p:cNvPr>
          <p:cNvSpPr>
            <a:spLocks noGrp="1"/>
          </p:cNvSpPr>
          <p:nvPr>
            <p:ph type="sldNum" sz="quarter" idx="12"/>
          </p:nvPr>
        </p:nvSpPr>
        <p:spPr/>
        <p:txBody>
          <a:bodyPr/>
          <a:lstStyle/>
          <a:p>
            <a:fld id="{13A9F3AB-103B-42BD-8121-9F883A719849}" type="slidenum">
              <a:rPr lang="pt-PT" smtClean="0"/>
              <a:t>23</a:t>
            </a:fld>
            <a:endParaRPr lang="pt-PT"/>
          </a:p>
        </p:txBody>
      </p:sp>
      <p:pic>
        <p:nvPicPr>
          <p:cNvPr id="9" name="Imagem 8">
            <a:extLst>
              <a:ext uri="{FF2B5EF4-FFF2-40B4-BE49-F238E27FC236}">
                <a16:creationId xmlns:a16="http://schemas.microsoft.com/office/drawing/2014/main" id="{CCBCA189-9801-C655-A600-26EF16A9C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4675" y="1948107"/>
            <a:ext cx="3792797" cy="1943808"/>
          </a:xfrm>
          <a:prstGeom prst="rect">
            <a:avLst/>
          </a:prstGeom>
        </p:spPr>
      </p:pic>
      <p:pic>
        <p:nvPicPr>
          <p:cNvPr id="11" name="Imagem 10">
            <a:extLst>
              <a:ext uri="{FF2B5EF4-FFF2-40B4-BE49-F238E27FC236}">
                <a16:creationId xmlns:a16="http://schemas.microsoft.com/office/drawing/2014/main" id="{F70C0361-0A6D-D640-0B8B-28902CCDE0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88032" y="2270495"/>
            <a:ext cx="3792797" cy="1621420"/>
          </a:xfrm>
          <a:prstGeom prst="rect">
            <a:avLst/>
          </a:prstGeom>
        </p:spPr>
      </p:pic>
      <p:pic>
        <p:nvPicPr>
          <p:cNvPr id="13" name="Imagem 12">
            <a:extLst>
              <a:ext uri="{FF2B5EF4-FFF2-40B4-BE49-F238E27FC236}">
                <a16:creationId xmlns:a16="http://schemas.microsoft.com/office/drawing/2014/main" id="{4004F68E-E805-4779-A973-CC062DB693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88031" y="3918867"/>
            <a:ext cx="3792797" cy="1403335"/>
          </a:xfrm>
          <a:prstGeom prst="rect">
            <a:avLst/>
          </a:prstGeom>
        </p:spPr>
      </p:pic>
      <p:pic>
        <p:nvPicPr>
          <p:cNvPr id="15" name="Imagem 14">
            <a:extLst>
              <a:ext uri="{FF2B5EF4-FFF2-40B4-BE49-F238E27FC236}">
                <a16:creationId xmlns:a16="http://schemas.microsoft.com/office/drawing/2014/main" id="{5E7E1DA7-C2D1-4A01-8F0D-169A545F729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94675" y="4063630"/>
            <a:ext cx="3792797" cy="1147321"/>
          </a:xfrm>
          <a:prstGeom prst="rect">
            <a:avLst/>
          </a:prstGeom>
        </p:spPr>
      </p:pic>
      <p:pic>
        <p:nvPicPr>
          <p:cNvPr id="7" name="Imagem 6">
            <a:extLst>
              <a:ext uri="{FF2B5EF4-FFF2-40B4-BE49-F238E27FC236}">
                <a16:creationId xmlns:a16="http://schemas.microsoft.com/office/drawing/2014/main" id="{51097013-6595-7141-1CC4-1DE8D549D7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5539" y="2139137"/>
            <a:ext cx="3792797" cy="1128357"/>
          </a:xfrm>
          <a:prstGeom prst="rect">
            <a:avLst/>
          </a:prstGeom>
        </p:spPr>
      </p:pic>
    </p:spTree>
    <p:extLst>
      <p:ext uri="{BB962C8B-B14F-4D97-AF65-F5344CB8AC3E}">
        <p14:creationId xmlns:p14="http://schemas.microsoft.com/office/powerpoint/2010/main" val="3509435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1C2BBA-B0A5-3645-ECA2-9D372E814999}"/>
              </a:ext>
            </a:extLst>
          </p:cNvPr>
          <p:cNvSpPr>
            <a:spLocks noGrp="1"/>
          </p:cNvSpPr>
          <p:nvPr>
            <p:ph type="title"/>
          </p:nvPr>
        </p:nvSpPr>
        <p:spPr>
          <a:xfrm>
            <a:off x="838200" y="365125"/>
            <a:ext cx="10515600" cy="698131"/>
          </a:xfrm>
        </p:spPr>
        <p:txBody>
          <a:bodyPr>
            <a:normAutofit fontScale="90000"/>
          </a:bodyPr>
          <a:lstStyle/>
          <a:p>
            <a:r>
              <a:rPr lang="pt-PT" dirty="0" err="1"/>
              <a:t>Metrics</a:t>
            </a:r>
            <a:endParaRPr lang="pt-PT" dirty="0"/>
          </a:p>
        </p:txBody>
      </p:sp>
      <p:sp>
        <p:nvSpPr>
          <p:cNvPr id="3" name="Marcador de Posição de Conteúdo 2">
            <a:extLst>
              <a:ext uri="{FF2B5EF4-FFF2-40B4-BE49-F238E27FC236}">
                <a16:creationId xmlns:a16="http://schemas.microsoft.com/office/drawing/2014/main" id="{8C20E1CE-CDB4-4590-B41F-5E9D0791B12D}"/>
              </a:ext>
            </a:extLst>
          </p:cNvPr>
          <p:cNvSpPr>
            <a:spLocks noGrp="1"/>
          </p:cNvSpPr>
          <p:nvPr>
            <p:ph idx="1"/>
          </p:nvPr>
        </p:nvSpPr>
        <p:spPr>
          <a:xfrm>
            <a:off x="838200" y="1382233"/>
            <a:ext cx="10515600" cy="5571460"/>
          </a:xfrm>
        </p:spPr>
        <p:txBody>
          <a:bodyPr>
            <a:normAutofit fontScale="55000" lnSpcReduction="20000"/>
          </a:bodyPr>
          <a:lstStyle/>
          <a:p>
            <a:pPr>
              <a:lnSpc>
                <a:spcPct val="120000"/>
              </a:lnSpc>
            </a:pPr>
            <a:r>
              <a:rPr lang="pt-PT" sz="2600" b="1" dirty="0"/>
              <a:t>Training/</a:t>
            </a:r>
            <a:r>
              <a:rPr lang="pt-PT" sz="2600" b="1" dirty="0" err="1"/>
              <a:t>validation</a:t>
            </a:r>
            <a:r>
              <a:rPr lang="pt-PT" sz="2600" b="1" dirty="0"/>
              <a:t> </a:t>
            </a:r>
            <a:r>
              <a:rPr lang="pt-PT" sz="2600" b="1" dirty="0" err="1"/>
              <a:t>metric</a:t>
            </a:r>
            <a:r>
              <a:rPr lang="pt-PT" sz="2600" b="1" dirty="0"/>
              <a:t> (checkpoint </a:t>
            </a:r>
            <a:r>
              <a:rPr lang="pt-PT" sz="2600" b="1" dirty="0" err="1"/>
              <a:t>selection</a:t>
            </a:r>
            <a:r>
              <a:rPr lang="pt-PT" sz="2600" b="1" dirty="0"/>
              <a:t>)</a:t>
            </a:r>
          </a:p>
          <a:p>
            <a:pPr lvl="1">
              <a:lnSpc>
                <a:spcPct val="120000"/>
              </a:lnSpc>
            </a:pPr>
            <a:r>
              <a:rPr lang="pt-PT" sz="2600" dirty="0" err="1"/>
              <a:t>mAP</a:t>
            </a:r>
            <a:r>
              <a:rPr lang="pt-PT" sz="2600" dirty="0"/>
              <a:t> (AP@[0.50:0.95]): COCO-</a:t>
            </a:r>
            <a:r>
              <a:rPr lang="pt-PT" sz="2600" dirty="0" err="1"/>
              <a:t>style</a:t>
            </a:r>
            <a:r>
              <a:rPr lang="pt-PT" sz="2600" dirty="0"/>
              <a:t> </a:t>
            </a:r>
            <a:r>
              <a:rPr lang="pt-PT" sz="2600" dirty="0" err="1"/>
              <a:t>segmentation</a:t>
            </a:r>
            <a:r>
              <a:rPr lang="pt-PT" sz="2600" dirty="0"/>
              <a:t> </a:t>
            </a:r>
            <a:r>
              <a:rPr lang="pt-PT" sz="2600" dirty="0" err="1"/>
              <a:t>Average</a:t>
            </a:r>
            <a:r>
              <a:rPr lang="pt-PT" sz="2600" dirty="0"/>
              <a:t> </a:t>
            </a:r>
            <a:r>
              <a:rPr lang="pt-PT" sz="2600" dirty="0" err="1"/>
              <a:t>Precision</a:t>
            </a:r>
            <a:r>
              <a:rPr lang="pt-PT" sz="2600" dirty="0"/>
              <a:t>, </a:t>
            </a:r>
            <a:r>
              <a:rPr lang="pt-PT" sz="2600" dirty="0" err="1"/>
              <a:t>averaged</a:t>
            </a:r>
            <a:r>
              <a:rPr lang="pt-PT" sz="2600" dirty="0"/>
              <a:t> </a:t>
            </a:r>
            <a:r>
              <a:rPr lang="pt-PT" sz="2600" dirty="0" err="1"/>
              <a:t>over</a:t>
            </a:r>
            <a:r>
              <a:rPr lang="pt-PT" sz="2600" dirty="0"/>
              <a:t> </a:t>
            </a:r>
            <a:r>
              <a:rPr lang="pt-PT" sz="2600" dirty="0" err="1"/>
              <a:t>IoU</a:t>
            </a:r>
            <a:r>
              <a:rPr lang="pt-PT" sz="2600" dirty="0"/>
              <a:t> </a:t>
            </a:r>
            <a:r>
              <a:rPr lang="pt-PT" sz="2600" dirty="0" err="1"/>
              <a:t>thresholds</a:t>
            </a:r>
            <a:r>
              <a:rPr lang="pt-PT" sz="2600" dirty="0"/>
              <a:t> 0.50, 0.55, …, 0.95. </a:t>
            </a:r>
            <a:r>
              <a:rPr lang="pt-PT" sz="2600" dirty="0" err="1"/>
              <a:t>Higher</a:t>
            </a:r>
            <a:r>
              <a:rPr lang="pt-PT" sz="2600" dirty="0"/>
              <a:t> </a:t>
            </a:r>
            <a:r>
              <a:rPr lang="pt-PT" sz="2600" dirty="0" err="1"/>
              <a:t>is</a:t>
            </a:r>
            <a:r>
              <a:rPr lang="pt-PT" sz="2600" dirty="0"/>
              <a:t> </a:t>
            </a:r>
            <a:r>
              <a:rPr lang="pt-PT" sz="2600" dirty="0" err="1"/>
              <a:t>better</a:t>
            </a:r>
            <a:r>
              <a:rPr lang="pt-PT" sz="2600" dirty="0"/>
              <a:t>.</a:t>
            </a:r>
          </a:p>
          <a:p>
            <a:pPr lvl="1">
              <a:lnSpc>
                <a:spcPct val="120000"/>
              </a:lnSpc>
            </a:pPr>
            <a:r>
              <a:rPr lang="pt-PT" sz="2600" dirty="0"/>
              <a:t>Also </a:t>
            </a:r>
            <a:r>
              <a:rPr lang="pt-PT" sz="2600" dirty="0" err="1"/>
              <a:t>reported</a:t>
            </a:r>
            <a:r>
              <a:rPr lang="pt-PT" sz="2600" dirty="0"/>
              <a:t> </a:t>
            </a:r>
            <a:r>
              <a:rPr lang="pt-PT" sz="2600" dirty="0" err="1"/>
              <a:t>during</a:t>
            </a:r>
            <a:r>
              <a:rPr lang="pt-PT" sz="2600" dirty="0"/>
              <a:t> training: AP@0.50 (mAP50) </a:t>
            </a:r>
            <a:r>
              <a:rPr lang="pt-PT" sz="2600" dirty="0" err="1"/>
              <a:t>and</a:t>
            </a:r>
            <a:r>
              <a:rPr lang="pt-PT" sz="2600" dirty="0"/>
              <a:t> AP@0.75 (mAP75).</a:t>
            </a:r>
          </a:p>
          <a:p>
            <a:pPr lvl="1">
              <a:lnSpc>
                <a:spcPct val="120000"/>
              </a:lnSpc>
            </a:pPr>
            <a:r>
              <a:rPr lang="pt-PT" sz="2600" dirty="0" err="1"/>
              <a:t>Used</a:t>
            </a:r>
            <a:r>
              <a:rPr lang="pt-PT" sz="2600" dirty="0"/>
              <a:t> for </a:t>
            </a:r>
            <a:r>
              <a:rPr lang="pt-PT" sz="2600" dirty="0" err="1"/>
              <a:t>early</a:t>
            </a:r>
            <a:r>
              <a:rPr lang="pt-PT" sz="2600" dirty="0"/>
              <a:t> </a:t>
            </a:r>
            <a:r>
              <a:rPr lang="pt-PT" sz="2600" dirty="0" err="1"/>
              <a:t>stopping</a:t>
            </a:r>
            <a:r>
              <a:rPr lang="pt-PT" sz="2600" dirty="0"/>
              <a:t> + </a:t>
            </a:r>
            <a:r>
              <a:rPr lang="pt-PT" sz="2600" dirty="0" err="1"/>
              <a:t>saving</a:t>
            </a:r>
            <a:r>
              <a:rPr lang="pt-PT" sz="2600" dirty="0"/>
              <a:t> </a:t>
            </a:r>
            <a:r>
              <a:rPr lang="pt-PT" sz="2600" dirty="0" err="1"/>
              <a:t>model_best.pth</a:t>
            </a:r>
            <a:r>
              <a:rPr lang="pt-PT" sz="2600" dirty="0"/>
              <a:t> (</a:t>
            </a:r>
            <a:r>
              <a:rPr lang="pt-PT" sz="2600" dirty="0" err="1"/>
              <a:t>best</a:t>
            </a:r>
            <a:r>
              <a:rPr lang="pt-PT" sz="2600" dirty="0"/>
              <a:t> </a:t>
            </a:r>
            <a:r>
              <a:rPr lang="pt-PT" sz="2600" dirty="0" err="1"/>
              <a:t>validation</a:t>
            </a:r>
            <a:r>
              <a:rPr lang="pt-PT" sz="2600" dirty="0"/>
              <a:t> </a:t>
            </a:r>
            <a:r>
              <a:rPr lang="pt-PT" sz="2600" dirty="0" err="1"/>
              <a:t>mAP</a:t>
            </a:r>
            <a:r>
              <a:rPr lang="pt-PT" sz="2600" dirty="0"/>
              <a:t>)</a:t>
            </a:r>
          </a:p>
          <a:p>
            <a:pPr>
              <a:lnSpc>
                <a:spcPct val="120000"/>
              </a:lnSpc>
            </a:pPr>
            <a:r>
              <a:rPr lang="pt-PT" sz="2600" b="1" dirty="0"/>
              <a:t>Final </a:t>
            </a:r>
            <a:r>
              <a:rPr lang="pt-PT" sz="2600" b="1" dirty="0" err="1"/>
              <a:t>test</a:t>
            </a:r>
            <a:r>
              <a:rPr lang="pt-PT" sz="2600" b="1" dirty="0"/>
              <a:t> </a:t>
            </a:r>
            <a:r>
              <a:rPr lang="pt-PT" sz="2600" b="1" dirty="0" err="1"/>
              <a:t>metrics</a:t>
            </a:r>
            <a:r>
              <a:rPr lang="pt-PT" sz="2600" b="1" dirty="0"/>
              <a:t> (</a:t>
            </a:r>
            <a:r>
              <a:rPr lang="pt-PT" sz="2600" b="1" dirty="0" err="1"/>
              <a:t>measurement-aligned</a:t>
            </a:r>
            <a:r>
              <a:rPr lang="pt-PT" sz="2600" b="1" dirty="0"/>
              <a:t>)</a:t>
            </a:r>
          </a:p>
          <a:p>
            <a:pPr lvl="1">
              <a:lnSpc>
                <a:spcPct val="120000"/>
              </a:lnSpc>
            </a:pPr>
            <a:r>
              <a:rPr lang="pt-PT" sz="2600" b="1" dirty="0" err="1"/>
              <a:t>Union-mask</a:t>
            </a:r>
            <a:r>
              <a:rPr lang="pt-PT" sz="2600" b="1" dirty="0"/>
              <a:t> (</a:t>
            </a:r>
            <a:r>
              <a:rPr lang="pt-PT" sz="2600" b="1" dirty="0" err="1"/>
              <a:t>foreground</a:t>
            </a:r>
            <a:r>
              <a:rPr lang="pt-PT" sz="2600" b="1" dirty="0"/>
              <a:t>) </a:t>
            </a:r>
            <a:r>
              <a:rPr lang="pt-PT" sz="2600" b="1" dirty="0" err="1"/>
              <a:t>overlap</a:t>
            </a:r>
            <a:r>
              <a:rPr lang="pt-PT" sz="2600" dirty="0"/>
              <a:t> </a:t>
            </a:r>
            <a:r>
              <a:rPr lang="pt-PT" sz="2600" i="1" dirty="0"/>
              <a:t>(</a:t>
            </a:r>
            <a:r>
              <a:rPr lang="pt-PT" sz="2600" i="1" dirty="0" err="1"/>
              <a:t>merge</a:t>
            </a:r>
            <a:r>
              <a:rPr lang="pt-PT" sz="2600" i="1" dirty="0"/>
              <a:t> </a:t>
            </a:r>
            <a:r>
              <a:rPr lang="pt-PT" sz="2600" i="1" dirty="0" err="1"/>
              <a:t>all</a:t>
            </a:r>
            <a:r>
              <a:rPr lang="pt-PT" sz="2600" i="1" dirty="0"/>
              <a:t> </a:t>
            </a:r>
            <a:r>
              <a:rPr lang="pt-PT" sz="2600" i="1" dirty="0" err="1"/>
              <a:t>instances</a:t>
            </a:r>
            <a:r>
              <a:rPr lang="pt-PT" sz="2600" i="1" dirty="0"/>
              <a:t> </a:t>
            </a:r>
            <a:r>
              <a:rPr lang="pt-PT" sz="2600" i="1" dirty="0" err="1"/>
              <a:t>into</a:t>
            </a:r>
            <a:r>
              <a:rPr lang="pt-PT" sz="2600" i="1" dirty="0"/>
              <a:t> </a:t>
            </a:r>
            <a:r>
              <a:rPr lang="pt-PT" sz="2600" i="1" dirty="0" err="1"/>
              <a:t>one</a:t>
            </a:r>
            <a:r>
              <a:rPr lang="pt-PT" sz="2600" i="1" dirty="0"/>
              <a:t> </a:t>
            </a:r>
            <a:r>
              <a:rPr lang="pt-PT" sz="2600" i="1" dirty="0" err="1"/>
              <a:t>binary</a:t>
            </a:r>
            <a:r>
              <a:rPr lang="pt-PT" sz="2600" i="1" dirty="0"/>
              <a:t> </a:t>
            </a:r>
            <a:r>
              <a:rPr lang="pt-PT" sz="2600" i="1" dirty="0" err="1"/>
              <a:t>mask</a:t>
            </a:r>
            <a:r>
              <a:rPr lang="pt-PT" sz="2600" i="1" dirty="0"/>
              <a:t>)</a:t>
            </a:r>
            <a:endParaRPr lang="pt-PT" sz="2600" dirty="0"/>
          </a:p>
          <a:p>
            <a:pPr lvl="1">
              <a:lnSpc>
                <a:spcPct val="120000"/>
              </a:lnSpc>
            </a:pPr>
            <a:r>
              <a:rPr lang="pt-PT" sz="2600" b="1" dirty="0" err="1"/>
              <a:t>Precision</a:t>
            </a:r>
            <a:r>
              <a:rPr lang="pt-PT" sz="2600" dirty="0"/>
              <a:t> = TP / (TP + FP) - </a:t>
            </a:r>
            <a:r>
              <a:rPr lang="en-US" sz="2600" dirty="0"/>
              <a:t>Of the pixels labeled as bubble, how many are truly bubble?</a:t>
            </a:r>
            <a:endParaRPr lang="pt-PT" sz="2600" dirty="0"/>
          </a:p>
          <a:p>
            <a:pPr lvl="1">
              <a:lnSpc>
                <a:spcPct val="120000"/>
              </a:lnSpc>
            </a:pPr>
            <a:r>
              <a:rPr lang="pt-PT" sz="2600" b="1" dirty="0" err="1"/>
              <a:t>Recall</a:t>
            </a:r>
            <a:r>
              <a:rPr lang="pt-PT" sz="2600" dirty="0"/>
              <a:t> = TP / (TP + FN) - </a:t>
            </a:r>
            <a:r>
              <a:rPr lang="en-US" sz="2600" dirty="0"/>
              <a:t>Of the true bubble pixels, how many were captured?</a:t>
            </a:r>
            <a:endParaRPr lang="pt-PT" sz="2600" dirty="0"/>
          </a:p>
          <a:p>
            <a:pPr lvl="1">
              <a:lnSpc>
                <a:spcPct val="120000"/>
              </a:lnSpc>
            </a:pPr>
            <a:r>
              <a:rPr lang="pt-PT" sz="2600" b="1" dirty="0"/>
              <a:t>F1</a:t>
            </a:r>
            <a:r>
              <a:rPr lang="pt-PT" sz="2600" dirty="0"/>
              <a:t> = 2·P·R / (P + R) - </a:t>
            </a:r>
            <a:r>
              <a:rPr lang="en-US" sz="2600" dirty="0"/>
              <a:t>Balance of precision and recall</a:t>
            </a:r>
            <a:endParaRPr lang="pt-PT" sz="2600" dirty="0"/>
          </a:p>
          <a:p>
            <a:pPr lvl="1">
              <a:lnSpc>
                <a:spcPct val="120000"/>
              </a:lnSpc>
            </a:pPr>
            <a:r>
              <a:rPr lang="pt-PT" sz="2600" b="1" dirty="0" err="1"/>
              <a:t>IoU</a:t>
            </a:r>
            <a:r>
              <a:rPr lang="pt-PT" sz="2600" dirty="0"/>
              <a:t> = |</a:t>
            </a:r>
            <a:r>
              <a:rPr lang="pt-PT" sz="2600" dirty="0" err="1"/>
              <a:t>Pred</a:t>
            </a:r>
            <a:r>
              <a:rPr lang="pt-PT" sz="2600" dirty="0"/>
              <a:t> ∩ GT| / |</a:t>
            </a:r>
            <a:r>
              <a:rPr lang="pt-PT" sz="2600" dirty="0" err="1"/>
              <a:t>Pred</a:t>
            </a:r>
            <a:r>
              <a:rPr lang="pt-PT" sz="2600" dirty="0"/>
              <a:t> ∪ GT| - Penalizes </a:t>
            </a:r>
            <a:r>
              <a:rPr lang="pt-PT" sz="2600" dirty="0" err="1"/>
              <a:t>mismatched</a:t>
            </a:r>
            <a:r>
              <a:rPr lang="pt-PT" sz="2600" dirty="0"/>
              <a:t> </a:t>
            </a:r>
            <a:r>
              <a:rPr lang="pt-PT" sz="2600" dirty="0" err="1"/>
              <a:t>boundaries</a:t>
            </a:r>
            <a:r>
              <a:rPr lang="pt-PT" sz="2600" dirty="0"/>
              <a:t> more.</a:t>
            </a:r>
          </a:p>
          <a:p>
            <a:pPr lvl="1">
              <a:lnSpc>
                <a:spcPct val="120000"/>
              </a:lnSpc>
            </a:pPr>
            <a:r>
              <a:rPr lang="pt-PT" sz="2600" b="1" dirty="0"/>
              <a:t>Dice</a:t>
            </a:r>
            <a:r>
              <a:rPr lang="pt-PT" sz="2600" dirty="0"/>
              <a:t> = 2|Pred ∩ GT| / (|</a:t>
            </a:r>
            <a:r>
              <a:rPr lang="pt-PT" sz="2600" dirty="0" err="1"/>
              <a:t>Pred</a:t>
            </a:r>
            <a:r>
              <a:rPr lang="pt-PT" sz="2600" dirty="0"/>
              <a:t>| + |GT|) - </a:t>
            </a:r>
            <a:r>
              <a:rPr lang="en-US" sz="2600" dirty="0"/>
              <a:t>Often a bit more forgiving than </a:t>
            </a:r>
            <a:r>
              <a:rPr lang="en-US" sz="2600" dirty="0" err="1"/>
              <a:t>IoU</a:t>
            </a:r>
            <a:r>
              <a:rPr lang="en-US" sz="2600" dirty="0"/>
              <a:t>. Good for summarizing overall foreground match</a:t>
            </a:r>
            <a:endParaRPr lang="pt-PT" sz="2600" dirty="0"/>
          </a:p>
          <a:p>
            <a:pPr>
              <a:lnSpc>
                <a:spcPct val="120000"/>
              </a:lnSpc>
            </a:pPr>
            <a:r>
              <a:rPr lang="pt-PT" sz="2600" b="1" dirty="0" err="1"/>
              <a:t>Instance-derived</a:t>
            </a:r>
            <a:r>
              <a:rPr lang="pt-PT" sz="2600" b="1" dirty="0"/>
              <a:t> </a:t>
            </a:r>
            <a:r>
              <a:rPr lang="pt-PT" sz="2600" b="1" dirty="0" err="1"/>
              <a:t>indicators</a:t>
            </a:r>
            <a:r>
              <a:rPr lang="pt-PT" sz="2600" dirty="0"/>
              <a:t> </a:t>
            </a:r>
            <a:r>
              <a:rPr lang="pt-PT" sz="2600" i="1" dirty="0"/>
              <a:t>(</a:t>
            </a:r>
            <a:r>
              <a:rPr lang="pt-PT" sz="2600" i="1" dirty="0" err="1"/>
              <a:t>from</a:t>
            </a:r>
            <a:r>
              <a:rPr lang="pt-PT" sz="2600" i="1" dirty="0"/>
              <a:t> </a:t>
            </a:r>
            <a:r>
              <a:rPr lang="pt-PT" sz="2600" i="1" dirty="0" err="1"/>
              <a:t>filtered</a:t>
            </a:r>
            <a:r>
              <a:rPr lang="pt-PT" sz="2600" i="1" dirty="0"/>
              <a:t> </a:t>
            </a:r>
            <a:r>
              <a:rPr lang="pt-PT" sz="2600" i="1" dirty="0" err="1"/>
              <a:t>predicted</a:t>
            </a:r>
            <a:r>
              <a:rPr lang="pt-PT" sz="2600" i="1" dirty="0"/>
              <a:t> </a:t>
            </a:r>
            <a:r>
              <a:rPr lang="pt-PT" sz="2600" i="1" dirty="0" err="1"/>
              <a:t>instances</a:t>
            </a:r>
            <a:r>
              <a:rPr lang="pt-PT" sz="2600" i="1" dirty="0"/>
              <a:t>)</a:t>
            </a:r>
            <a:endParaRPr lang="pt-PT" sz="2600" dirty="0"/>
          </a:p>
          <a:p>
            <a:pPr lvl="1">
              <a:lnSpc>
                <a:spcPct val="120000"/>
              </a:lnSpc>
            </a:pPr>
            <a:r>
              <a:rPr lang="el-GR" sz="2600" b="1" dirty="0"/>
              <a:t>Δ</a:t>
            </a:r>
            <a:r>
              <a:rPr lang="pt-PT" sz="2600" b="1" dirty="0"/>
              <a:t>N (</a:t>
            </a:r>
            <a:r>
              <a:rPr lang="pt-PT" sz="2600" b="1" dirty="0" err="1"/>
              <a:t>signed</a:t>
            </a:r>
            <a:r>
              <a:rPr lang="pt-PT" sz="2600" b="1" dirty="0"/>
              <a:t> </a:t>
            </a:r>
            <a:r>
              <a:rPr lang="pt-PT" sz="2600" b="1" dirty="0" err="1"/>
              <a:t>count</a:t>
            </a:r>
            <a:r>
              <a:rPr lang="pt-PT" sz="2600" b="1" dirty="0"/>
              <a:t> error)</a:t>
            </a:r>
            <a:r>
              <a:rPr lang="pt-PT" sz="2600" dirty="0"/>
              <a:t> = </a:t>
            </a:r>
            <a:r>
              <a:rPr lang="pt-PT" sz="2600" dirty="0" err="1"/>
              <a:t>N_pred</a:t>
            </a:r>
            <a:r>
              <a:rPr lang="pt-PT" sz="2600" dirty="0"/>
              <a:t> − </a:t>
            </a:r>
            <a:r>
              <a:rPr lang="pt-PT" sz="2600" dirty="0" err="1"/>
              <a:t>N_gt</a:t>
            </a:r>
            <a:r>
              <a:rPr lang="pt-PT" sz="2600" dirty="0"/>
              <a:t> </a:t>
            </a:r>
            <a:r>
              <a:rPr lang="pt-PT" sz="2600" i="1" dirty="0"/>
              <a:t>(</a:t>
            </a:r>
            <a:r>
              <a:rPr lang="pt-PT" sz="2600" i="1" dirty="0" err="1"/>
              <a:t>bias</a:t>
            </a:r>
            <a:r>
              <a:rPr lang="pt-PT" sz="2600" i="1" dirty="0"/>
              <a:t>: </a:t>
            </a:r>
            <a:r>
              <a:rPr lang="pt-PT" sz="2600" i="1" dirty="0" err="1"/>
              <a:t>if</a:t>
            </a:r>
            <a:r>
              <a:rPr lang="pt-PT" sz="2600" i="1" dirty="0"/>
              <a:t> </a:t>
            </a:r>
            <a:r>
              <a:rPr lang="pt-PT" sz="2600" i="1" dirty="0" err="1"/>
              <a:t>model</a:t>
            </a:r>
            <a:r>
              <a:rPr lang="pt-PT" sz="2600" i="1" dirty="0"/>
              <a:t> </a:t>
            </a:r>
            <a:r>
              <a:rPr lang="pt-PT" sz="2600" i="1" dirty="0" err="1"/>
              <a:t>tends</a:t>
            </a:r>
            <a:r>
              <a:rPr lang="pt-PT" sz="2600" i="1" dirty="0"/>
              <a:t> to </a:t>
            </a:r>
            <a:r>
              <a:rPr lang="pt-PT" sz="2600" i="1" dirty="0" err="1"/>
              <a:t>overcount</a:t>
            </a:r>
            <a:r>
              <a:rPr lang="pt-PT" sz="2600" i="1" dirty="0"/>
              <a:t>/</a:t>
            </a:r>
            <a:r>
              <a:rPr lang="pt-PT" sz="2600" i="1" dirty="0" err="1"/>
              <a:t>undercount</a:t>
            </a:r>
            <a:r>
              <a:rPr lang="pt-PT" sz="2600" i="1" dirty="0"/>
              <a:t>)</a:t>
            </a:r>
            <a:endParaRPr lang="pt-PT" sz="2600" dirty="0"/>
          </a:p>
          <a:p>
            <a:pPr lvl="1">
              <a:lnSpc>
                <a:spcPct val="120000"/>
              </a:lnSpc>
            </a:pPr>
            <a:r>
              <a:rPr lang="pt-PT" sz="2600" b="1" dirty="0"/>
              <a:t>|</a:t>
            </a:r>
            <a:r>
              <a:rPr lang="el-GR" sz="2600" b="1" dirty="0"/>
              <a:t>Δ</a:t>
            </a:r>
            <a:r>
              <a:rPr lang="pt-PT" sz="2600" b="1" dirty="0"/>
              <a:t>N| (</a:t>
            </a:r>
            <a:r>
              <a:rPr lang="pt-PT" sz="2600" b="1" dirty="0" err="1"/>
              <a:t>absolute</a:t>
            </a:r>
            <a:r>
              <a:rPr lang="pt-PT" sz="2600" b="1" dirty="0"/>
              <a:t> </a:t>
            </a:r>
            <a:r>
              <a:rPr lang="pt-PT" sz="2600" b="1" dirty="0" err="1"/>
              <a:t>count</a:t>
            </a:r>
            <a:r>
              <a:rPr lang="pt-PT" sz="2600" b="1" dirty="0"/>
              <a:t> error)</a:t>
            </a:r>
            <a:r>
              <a:rPr lang="pt-PT" sz="2600" dirty="0"/>
              <a:t> = |</a:t>
            </a:r>
            <a:r>
              <a:rPr lang="pt-PT" sz="2600" dirty="0" err="1"/>
              <a:t>N_pred</a:t>
            </a:r>
            <a:r>
              <a:rPr lang="pt-PT" sz="2600" dirty="0"/>
              <a:t> − </a:t>
            </a:r>
            <a:r>
              <a:rPr lang="pt-PT" sz="2600" dirty="0" err="1"/>
              <a:t>N_gt</a:t>
            </a:r>
            <a:r>
              <a:rPr lang="pt-PT" sz="2600" dirty="0"/>
              <a:t>| - </a:t>
            </a:r>
            <a:r>
              <a:rPr lang="en-US" sz="2600" dirty="0"/>
              <a:t>how wrong the count is</a:t>
            </a:r>
            <a:endParaRPr lang="pt-PT" sz="2600" dirty="0"/>
          </a:p>
          <a:p>
            <a:pPr lvl="1">
              <a:lnSpc>
                <a:spcPct val="120000"/>
              </a:lnSpc>
            </a:pPr>
            <a:r>
              <a:rPr lang="pt-PT" sz="2600" b="1" dirty="0" err="1"/>
              <a:t>Mean</a:t>
            </a:r>
            <a:r>
              <a:rPr lang="pt-PT" sz="2600" b="1" dirty="0"/>
              <a:t>/</a:t>
            </a:r>
            <a:r>
              <a:rPr lang="pt-PT" sz="2600" b="1" dirty="0" err="1"/>
              <a:t>Median</a:t>
            </a:r>
            <a:r>
              <a:rPr lang="pt-PT" sz="2600" b="1" dirty="0"/>
              <a:t> </a:t>
            </a:r>
            <a:r>
              <a:rPr lang="pt-PT" sz="2600" b="1" dirty="0" err="1"/>
              <a:t>bubble</a:t>
            </a:r>
            <a:r>
              <a:rPr lang="pt-PT" sz="2600" b="1" dirty="0"/>
              <a:t> </a:t>
            </a:r>
            <a:r>
              <a:rPr lang="pt-PT" sz="2600" b="1" dirty="0" err="1"/>
              <a:t>area</a:t>
            </a:r>
            <a:r>
              <a:rPr lang="pt-PT" sz="2600" dirty="0"/>
              <a:t> (pixels) </a:t>
            </a:r>
            <a:r>
              <a:rPr lang="pt-PT" sz="2600" dirty="0" err="1"/>
              <a:t>from</a:t>
            </a:r>
            <a:r>
              <a:rPr lang="pt-PT" sz="2600" dirty="0"/>
              <a:t> </a:t>
            </a:r>
            <a:r>
              <a:rPr lang="pt-PT" sz="2600" dirty="0" err="1"/>
              <a:t>predicted</a:t>
            </a:r>
            <a:r>
              <a:rPr lang="pt-PT" sz="2600" dirty="0"/>
              <a:t> </a:t>
            </a:r>
            <a:r>
              <a:rPr lang="pt-PT" sz="2600" dirty="0" err="1"/>
              <a:t>instances</a:t>
            </a:r>
            <a:endParaRPr lang="pt-PT" sz="2600" dirty="0"/>
          </a:p>
          <a:p>
            <a:pPr>
              <a:lnSpc>
                <a:spcPct val="120000"/>
              </a:lnSpc>
            </a:pPr>
            <a:r>
              <a:rPr lang="pt-PT" sz="2600" dirty="0" err="1"/>
              <a:t>Instances</a:t>
            </a:r>
            <a:r>
              <a:rPr lang="pt-PT" sz="2600" dirty="0"/>
              <a:t> are </a:t>
            </a:r>
            <a:r>
              <a:rPr lang="pt-PT" sz="2600" dirty="0" err="1"/>
              <a:t>filtered</a:t>
            </a:r>
            <a:r>
              <a:rPr lang="pt-PT" sz="2600" dirty="0"/>
              <a:t> </a:t>
            </a:r>
            <a:r>
              <a:rPr lang="pt-PT" sz="2600" dirty="0" err="1"/>
              <a:t>with</a:t>
            </a:r>
            <a:r>
              <a:rPr lang="pt-PT" sz="2600" dirty="0"/>
              <a:t> </a:t>
            </a:r>
            <a:r>
              <a:rPr lang="pt-PT" sz="2600" dirty="0" err="1"/>
              <a:t>fixed</a:t>
            </a:r>
            <a:r>
              <a:rPr lang="pt-PT" sz="2600" dirty="0"/>
              <a:t> </a:t>
            </a:r>
            <a:r>
              <a:rPr lang="pt-PT" sz="2600" dirty="0" err="1"/>
              <a:t>thresholds</a:t>
            </a:r>
            <a:r>
              <a:rPr lang="pt-PT" sz="2600" dirty="0"/>
              <a:t> </a:t>
            </a:r>
            <a:r>
              <a:rPr lang="en-US" sz="2400" dirty="0"/>
              <a:t>(</a:t>
            </a:r>
            <a:r>
              <a:rPr lang="en-US" sz="2400" dirty="0" err="1"/>
              <a:t>score_thresh</a:t>
            </a:r>
            <a:r>
              <a:rPr lang="en-US" sz="2400" dirty="0"/>
              <a:t>=0.5, </a:t>
            </a:r>
            <a:r>
              <a:rPr lang="en-US" sz="2400" dirty="0" err="1"/>
              <a:t>mask_thresh</a:t>
            </a:r>
            <a:r>
              <a:rPr lang="en-US" sz="2400" dirty="0"/>
              <a:t>=0.5, </a:t>
            </a:r>
            <a:r>
              <a:rPr lang="en-US" sz="2400" dirty="0" err="1"/>
              <a:t>min_area</a:t>
            </a:r>
            <a:r>
              <a:rPr lang="en-US" sz="2400" dirty="0"/>
              <a:t>=50) </a:t>
            </a:r>
            <a:r>
              <a:rPr lang="pt-PT" sz="2600" dirty="0"/>
              <a:t>for fair </a:t>
            </a:r>
            <a:r>
              <a:rPr lang="pt-PT" sz="2600" dirty="0" err="1"/>
              <a:t>comparison</a:t>
            </a:r>
            <a:r>
              <a:rPr lang="pt-PT" sz="2600" dirty="0"/>
              <a:t>.</a:t>
            </a:r>
          </a:p>
        </p:txBody>
      </p:sp>
      <p:sp>
        <p:nvSpPr>
          <p:cNvPr id="4" name="Marcador de Posição do Número do Diapositivo 3">
            <a:extLst>
              <a:ext uri="{FF2B5EF4-FFF2-40B4-BE49-F238E27FC236}">
                <a16:creationId xmlns:a16="http://schemas.microsoft.com/office/drawing/2014/main" id="{85283138-F733-E84A-AE4F-FFA2F484AC86}"/>
              </a:ext>
            </a:extLst>
          </p:cNvPr>
          <p:cNvSpPr>
            <a:spLocks noGrp="1"/>
          </p:cNvSpPr>
          <p:nvPr>
            <p:ph type="sldNum" sz="quarter" idx="12"/>
          </p:nvPr>
        </p:nvSpPr>
        <p:spPr/>
        <p:txBody>
          <a:bodyPr/>
          <a:lstStyle/>
          <a:p>
            <a:fld id="{13A9F3AB-103B-42BD-8121-9F883A719849}" type="slidenum">
              <a:rPr lang="pt-PT" smtClean="0"/>
              <a:t>24</a:t>
            </a:fld>
            <a:endParaRPr lang="pt-PT"/>
          </a:p>
        </p:txBody>
      </p:sp>
    </p:spTree>
    <p:extLst>
      <p:ext uri="{BB962C8B-B14F-4D97-AF65-F5344CB8AC3E}">
        <p14:creationId xmlns:p14="http://schemas.microsoft.com/office/powerpoint/2010/main" val="20296566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10A3CD-E89C-9E90-D5C5-46F1504D4170}"/>
              </a:ext>
            </a:extLst>
          </p:cNvPr>
          <p:cNvSpPr>
            <a:spLocks noGrp="1"/>
          </p:cNvSpPr>
          <p:nvPr>
            <p:ph type="title"/>
          </p:nvPr>
        </p:nvSpPr>
        <p:spPr>
          <a:xfrm>
            <a:off x="838200" y="365126"/>
            <a:ext cx="10515600" cy="766558"/>
          </a:xfrm>
        </p:spPr>
        <p:txBody>
          <a:bodyPr>
            <a:noAutofit/>
          </a:bodyPr>
          <a:lstStyle/>
          <a:p>
            <a:r>
              <a:rPr lang="pt-PT" sz="3600" dirty="0" err="1"/>
              <a:t>Where</a:t>
            </a:r>
            <a:r>
              <a:rPr lang="pt-PT" sz="3600" dirty="0"/>
              <a:t> </a:t>
            </a:r>
            <a:r>
              <a:rPr lang="pt-PT" sz="3600" dirty="0" err="1"/>
              <a:t>it</a:t>
            </a:r>
            <a:r>
              <a:rPr lang="pt-PT" sz="3600" dirty="0"/>
              <a:t> </a:t>
            </a:r>
            <a:r>
              <a:rPr lang="pt-PT" sz="3600" dirty="0" err="1"/>
              <a:t>fails</a:t>
            </a:r>
            <a:endParaRPr lang="pt-PT" sz="3600" dirty="0"/>
          </a:p>
        </p:txBody>
      </p:sp>
      <p:sp>
        <p:nvSpPr>
          <p:cNvPr id="3" name="Marcador de Posição de Conteúdo 2">
            <a:extLst>
              <a:ext uri="{FF2B5EF4-FFF2-40B4-BE49-F238E27FC236}">
                <a16:creationId xmlns:a16="http://schemas.microsoft.com/office/drawing/2014/main" id="{0A41198E-465B-234A-F700-7CACB22AC684}"/>
              </a:ext>
            </a:extLst>
          </p:cNvPr>
          <p:cNvSpPr>
            <a:spLocks noGrp="1"/>
          </p:cNvSpPr>
          <p:nvPr>
            <p:ph idx="1"/>
          </p:nvPr>
        </p:nvSpPr>
        <p:spPr>
          <a:xfrm>
            <a:off x="838200" y="1306162"/>
            <a:ext cx="6558481" cy="4351338"/>
          </a:xfrm>
        </p:spPr>
        <p:txBody>
          <a:bodyPr>
            <a:normAutofit/>
          </a:bodyPr>
          <a:lstStyle/>
          <a:p>
            <a:r>
              <a:rPr lang="pt-PT" sz="1600" b="1" dirty="0" err="1"/>
              <a:t>Why</a:t>
            </a:r>
            <a:r>
              <a:rPr lang="pt-PT" sz="1600" b="1" dirty="0"/>
              <a:t> </a:t>
            </a:r>
            <a:r>
              <a:rPr lang="pt-PT" sz="1600" b="1" dirty="0" err="1"/>
              <a:t>stratify</a:t>
            </a:r>
            <a:r>
              <a:rPr lang="pt-PT" sz="1600" b="1" dirty="0"/>
              <a:t>? </a:t>
            </a:r>
            <a:r>
              <a:rPr lang="pt-PT" sz="1600" dirty="0"/>
              <a:t>Some </a:t>
            </a:r>
            <a:r>
              <a:rPr lang="pt-PT" sz="1600" dirty="0" err="1"/>
              <a:t>frames</a:t>
            </a:r>
            <a:r>
              <a:rPr lang="pt-PT" sz="1600" dirty="0"/>
              <a:t> are </a:t>
            </a:r>
            <a:r>
              <a:rPr lang="pt-PT" sz="1600" dirty="0" err="1"/>
              <a:t>harder</a:t>
            </a:r>
            <a:r>
              <a:rPr lang="pt-PT" sz="1600" dirty="0"/>
              <a:t> </a:t>
            </a:r>
            <a:r>
              <a:rPr lang="pt-PT" sz="1600" dirty="0" err="1"/>
              <a:t>due</a:t>
            </a:r>
            <a:r>
              <a:rPr lang="pt-PT" sz="1600" dirty="0"/>
              <a:t> to </a:t>
            </a:r>
            <a:r>
              <a:rPr lang="pt-PT" sz="1600" dirty="0" err="1"/>
              <a:t>bubble</a:t>
            </a:r>
            <a:r>
              <a:rPr lang="pt-PT" sz="1600" dirty="0"/>
              <a:t> </a:t>
            </a:r>
            <a:r>
              <a:rPr lang="pt-PT" sz="1600" dirty="0" err="1"/>
              <a:t>crowding</a:t>
            </a:r>
            <a:r>
              <a:rPr lang="pt-PT" sz="1600" dirty="0"/>
              <a:t> </a:t>
            </a:r>
            <a:r>
              <a:rPr lang="pt-PT" sz="1600" dirty="0" err="1"/>
              <a:t>and</a:t>
            </a:r>
            <a:r>
              <a:rPr lang="pt-PT" sz="1600" dirty="0"/>
              <a:t> </a:t>
            </a:r>
            <a:r>
              <a:rPr lang="pt-PT" sz="1600" dirty="0" err="1"/>
              <a:t>bubble</a:t>
            </a:r>
            <a:r>
              <a:rPr lang="pt-PT" sz="1600" dirty="0"/>
              <a:t> </a:t>
            </a:r>
            <a:r>
              <a:rPr lang="pt-PT" sz="1600" dirty="0" err="1"/>
              <a:t>scale</a:t>
            </a:r>
            <a:r>
              <a:rPr lang="pt-PT" sz="1600" dirty="0"/>
              <a:t>, </a:t>
            </a:r>
            <a:r>
              <a:rPr lang="pt-PT" sz="1600" dirty="0" err="1"/>
              <a:t>which</a:t>
            </a:r>
            <a:r>
              <a:rPr lang="pt-PT" sz="1600" dirty="0"/>
              <a:t> </a:t>
            </a:r>
            <a:r>
              <a:rPr lang="pt-PT" sz="1600" dirty="0" err="1"/>
              <a:t>affects</a:t>
            </a:r>
            <a:r>
              <a:rPr lang="pt-PT" sz="1600" dirty="0"/>
              <a:t> </a:t>
            </a:r>
            <a:r>
              <a:rPr lang="pt-PT" sz="1600" dirty="0" err="1"/>
              <a:t>instance</a:t>
            </a:r>
            <a:r>
              <a:rPr lang="pt-PT" sz="1600" dirty="0"/>
              <a:t> </a:t>
            </a:r>
            <a:r>
              <a:rPr lang="pt-PT" sz="1600" dirty="0" err="1"/>
              <a:t>separation</a:t>
            </a:r>
            <a:r>
              <a:rPr lang="pt-PT" sz="1600" dirty="0"/>
              <a:t>/</a:t>
            </a:r>
            <a:r>
              <a:rPr lang="pt-PT" sz="1600" dirty="0" err="1"/>
              <a:t>counting</a:t>
            </a:r>
            <a:r>
              <a:rPr lang="pt-PT" sz="1600" dirty="0"/>
              <a:t> </a:t>
            </a:r>
            <a:r>
              <a:rPr lang="pt-PT" sz="1600" dirty="0" err="1"/>
              <a:t>even</a:t>
            </a:r>
            <a:r>
              <a:rPr lang="pt-PT" sz="1600" dirty="0"/>
              <a:t> when </a:t>
            </a:r>
            <a:r>
              <a:rPr lang="pt-PT" sz="1600" dirty="0" err="1"/>
              <a:t>overlap</a:t>
            </a:r>
            <a:r>
              <a:rPr lang="pt-PT" sz="1600" dirty="0"/>
              <a:t> looks </a:t>
            </a:r>
            <a:r>
              <a:rPr lang="pt-PT" sz="1600" dirty="0" err="1"/>
              <a:t>good</a:t>
            </a:r>
            <a:r>
              <a:rPr lang="pt-PT" sz="1600" dirty="0"/>
              <a:t>.</a:t>
            </a:r>
          </a:p>
          <a:p>
            <a:r>
              <a:rPr lang="pt-PT" sz="1600" b="1" dirty="0"/>
              <a:t>Setup: </a:t>
            </a:r>
            <a:r>
              <a:rPr lang="pt-PT" sz="1600" dirty="0" err="1"/>
              <a:t>stratify</a:t>
            </a:r>
            <a:r>
              <a:rPr lang="pt-PT" sz="1600" dirty="0"/>
              <a:t> the </a:t>
            </a:r>
            <a:r>
              <a:rPr lang="pt-PT" sz="1600" dirty="0" err="1"/>
              <a:t>Transfer</a:t>
            </a:r>
            <a:r>
              <a:rPr lang="pt-PT" sz="1600" dirty="0"/>
              <a:t> regime </a:t>
            </a:r>
            <a:r>
              <a:rPr lang="pt-PT" sz="1600" dirty="0" err="1"/>
              <a:t>on</a:t>
            </a:r>
            <a:r>
              <a:rPr lang="pt-PT" sz="1600" dirty="0"/>
              <a:t> the 25-image real </a:t>
            </a:r>
            <a:r>
              <a:rPr lang="pt-PT" sz="1600" dirty="0" err="1"/>
              <a:t>test</a:t>
            </a:r>
            <a:r>
              <a:rPr lang="pt-PT" sz="1600" dirty="0"/>
              <a:t> </a:t>
            </a:r>
            <a:r>
              <a:rPr lang="pt-PT" sz="1600" dirty="0" err="1"/>
              <a:t>split</a:t>
            </a:r>
            <a:r>
              <a:rPr lang="pt-PT" sz="1600" dirty="0"/>
              <a:t> </a:t>
            </a:r>
            <a:r>
              <a:rPr lang="pt-PT" sz="1600" dirty="0" err="1"/>
              <a:t>by</a:t>
            </a:r>
            <a:r>
              <a:rPr lang="pt-PT" sz="1600" dirty="0"/>
              <a:t>:</a:t>
            </a:r>
          </a:p>
          <a:p>
            <a:pPr lvl="1"/>
            <a:r>
              <a:rPr lang="pt-PT" sz="1600" dirty="0" err="1"/>
              <a:t>Bubble</a:t>
            </a:r>
            <a:r>
              <a:rPr lang="pt-PT" sz="1600" dirty="0"/>
              <a:t> </a:t>
            </a:r>
            <a:r>
              <a:rPr lang="pt-PT" sz="1600" dirty="0" err="1"/>
              <a:t>density</a:t>
            </a:r>
            <a:r>
              <a:rPr lang="pt-PT" sz="1600" dirty="0"/>
              <a:t> = </a:t>
            </a:r>
            <a:r>
              <a:rPr lang="pt-PT" sz="1600" dirty="0" err="1"/>
              <a:t>GT_NumBubbles</a:t>
            </a:r>
            <a:r>
              <a:rPr lang="pt-PT" sz="1600" dirty="0"/>
              <a:t> </a:t>
            </a:r>
            <a:r>
              <a:rPr lang="pt-PT" sz="1600" dirty="0" err="1"/>
              <a:t>percentiles</a:t>
            </a:r>
            <a:r>
              <a:rPr lang="pt-PT" sz="1600" dirty="0"/>
              <a:t> → </a:t>
            </a:r>
            <a:r>
              <a:rPr lang="pt-PT" sz="1600" dirty="0" err="1"/>
              <a:t>Low</a:t>
            </a:r>
            <a:r>
              <a:rPr lang="pt-PT" sz="1600" dirty="0"/>
              <a:t> (1–8), </a:t>
            </a:r>
            <a:r>
              <a:rPr lang="pt-PT" sz="1600" dirty="0" err="1"/>
              <a:t>Mid</a:t>
            </a:r>
            <a:r>
              <a:rPr lang="pt-PT" sz="1600" dirty="0"/>
              <a:t> (9–16), </a:t>
            </a:r>
            <a:r>
              <a:rPr lang="pt-PT" sz="1600" dirty="0" err="1"/>
              <a:t>High</a:t>
            </a:r>
            <a:r>
              <a:rPr lang="pt-PT" sz="1600" dirty="0"/>
              <a:t> (17–48)</a:t>
            </a:r>
          </a:p>
          <a:p>
            <a:pPr lvl="1"/>
            <a:r>
              <a:rPr lang="pt-PT" sz="1600" dirty="0" err="1"/>
              <a:t>Bubble</a:t>
            </a:r>
            <a:r>
              <a:rPr lang="pt-PT" sz="1600" dirty="0"/>
              <a:t> </a:t>
            </a:r>
            <a:r>
              <a:rPr lang="pt-PT" sz="1600" dirty="0" err="1"/>
              <a:t>scale</a:t>
            </a:r>
            <a:r>
              <a:rPr lang="pt-PT" sz="1600" dirty="0"/>
              <a:t> = </a:t>
            </a:r>
            <a:r>
              <a:rPr lang="pt-PT" sz="1600" dirty="0" err="1"/>
              <a:t>GT_MeanArea</a:t>
            </a:r>
            <a:r>
              <a:rPr lang="pt-PT" sz="1600" dirty="0"/>
              <a:t> </a:t>
            </a:r>
            <a:r>
              <a:rPr lang="pt-PT" sz="1600" dirty="0" err="1"/>
              <a:t>percentiles</a:t>
            </a:r>
            <a:r>
              <a:rPr lang="pt-PT" sz="1600" dirty="0"/>
              <a:t> → </a:t>
            </a:r>
            <a:r>
              <a:rPr lang="pt-PT" sz="1600" dirty="0" err="1"/>
              <a:t>Small</a:t>
            </a:r>
            <a:r>
              <a:rPr lang="pt-PT" sz="1600" dirty="0"/>
              <a:t> / </a:t>
            </a:r>
            <a:r>
              <a:rPr lang="pt-PT" sz="1600" dirty="0" err="1"/>
              <a:t>Medium</a:t>
            </a:r>
            <a:r>
              <a:rPr lang="pt-PT" sz="1600" dirty="0"/>
              <a:t> / </a:t>
            </a:r>
            <a:r>
              <a:rPr lang="pt-PT" sz="1600" dirty="0" err="1"/>
              <a:t>Large</a:t>
            </a:r>
            <a:endParaRPr lang="pt-PT" sz="1600" dirty="0"/>
          </a:p>
          <a:p>
            <a:r>
              <a:rPr lang="pt-PT" sz="1600" b="1" dirty="0" err="1"/>
              <a:t>Key</a:t>
            </a:r>
            <a:r>
              <a:rPr lang="pt-PT" sz="1600" b="1" dirty="0"/>
              <a:t> </a:t>
            </a:r>
            <a:r>
              <a:rPr lang="pt-PT" sz="1600" b="1" dirty="0" err="1"/>
              <a:t>observation</a:t>
            </a:r>
            <a:r>
              <a:rPr lang="pt-PT" sz="1600" b="1" dirty="0"/>
              <a:t>: </a:t>
            </a:r>
            <a:r>
              <a:rPr lang="pt-PT" sz="1600" dirty="0"/>
              <a:t>Dice </a:t>
            </a:r>
            <a:r>
              <a:rPr lang="pt-PT" sz="1600" dirty="0" err="1"/>
              <a:t>stays</a:t>
            </a:r>
            <a:r>
              <a:rPr lang="pt-PT" sz="1600" dirty="0"/>
              <a:t> </a:t>
            </a:r>
            <a:r>
              <a:rPr lang="pt-PT" sz="1600" dirty="0" err="1"/>
              <a:t>high</a:t>
            </a:r>
            <a:r>
              <a:rPr lang="pt-PT" sz="1600" dirty="0"/>
              <a:t>, </a:t>
            </a:r>
            <a:r>
              <a:rPr lang="pt-PT" sz="1600" dirty="0" err="1"/>
              <a:t>but</a:t>
            </a:r>
            <a:r>
              <a:rPr lang="pt-PT" sz="1600" dirty="0"/>
              <a:t> </a:t>
            </a:r>
            <a:r>
              <a:rPr lang="pt-PT" sz="1600" dirty="0" err="1"/>
              <a:t>counting</a:t>
            </a:r>
            <a:r>
              <a:rPr lang="pt-PT" sz="1600" dirty="0"/>
              <a:t> </a:t>
            </a:r>
            <a:r>
              <a:rPr lang="pt-PT" sz="1600" dirty="0" err="1"/>
              <a:t>stability</a:t>
            </a:r>
            <a:r>
              <a:rPr lang="pt-PT" sz="1600" dirty="0"/>
              <a:t> degrades in </a:t>
            </a:r>
            <a:r>
              <a:rPr lang="pt-PT" sz="1600" dirty="0" err="1"/>
              <a:t>difficult</a:t>
            </a:r>
            <a:r>
              <a:rPr lang="pt-PT" sz="1600" dirty="0"/>
              <a:t> </a:t>
            </a:r>
            <a:r>
              <a:rPr lang="pt-PT" sz="1600" dirty="0" err="1"/>
              <a:t>scenes</a:t>
            </a:r>
            <a:r>
              <a:rPr lang="pt-PT" sz="1600" dirty="0"/>
              <a:t>, </a:t>
            </a:r>
            <a:r>
              <a:rPr lang="pt-PT" sz="1600" dirty="0" err="1"/>
              <a:t>especially</a:t>
            </a:r>
            <a:r>
              <a:rPr lang="pt-PT" sz="1600" dirty="0"/>
              <a:t> for </a:t>
            </a:r>
            <a:r>
              <a:rPr lang="pt-PT" sz="1600" dirty="0" err="1"/>
              <a:t>higher-capacity</a:t>
            </a:r>
            <a:r>
              <a:rPr lang="pt-PT" sz="1600" dirty="0"/>
              <a:t> </a:t>
            </a:r>
            <a:r>
              <a:rPr lang="pt-PT" sz="1600" dirty="0" err="1"/>
              <a:t>backbone</a:t>
            </a:r>
            <a:r>
              <a:rPr lang="pt-PT" sz="1600" dirty="0"/>
              <a:t>.</a:t>
            </a:r>
          </a:p>
          <a:p>
            <a:r>
              <a:rPr lang="pt-PT" sz="1600" b="1" dirty="0" err="1"/>
              <a:t>Example</a:t>
            </a:r>
            <a:r>
              <a:rPr lang="pt-PT" sz="1600" b="1" dirty="0"/>
              <a:t> </a:t>
            </a:r>
            <a:r>
              <a:rPr lang="pt-PT" sz="1600" b="1" dirty="0" err="1"/>
              <a:t>numbers</a:t>
            </a:r>
            <a:r>
              <a:rPr lang="pt-PT" sz="1600" b="1" dirty="0"/>
              <a:t> (</a:t>
            </a:r>
            <a:r>
              <a:rPr lang="pt-PT" sz="1600" b="1" dirty="0" err="1"/>
              <a:t>Transfer</a:t>
            </a:r>
            <a:r>
              <a:rPr lang="pt-PT" sz="1600" b="1" dirty="0"/>
              <a:t>):</a:t>
            </a:r>
          </a:p>
          <a:p>
            <a:pPr lvl="1"/>
            <a:r>
              <a:rPr lang="pt-PT" sz="1600" dirty="0" err="1"/>
              <a:t>High</a:t>
            </a:r>
            <a:r>
              <a:rPr lang="pt-PT" sz="1600" dirty="0"/>
              <a:t> </a:t>
            </a:r>
            <a:r>
              <a:rPr lang="pt-PT" sz="1600" dirty="0" err="1"/>
              <a:t>density</a:t>
            </a:r>
            <a:r>
              <a:rPr lang="pt-PT" sz="1600" dirty="0"/>
              <a:t> bin: R101 </a:t>
            </a:r>
            <a:r>
              <a:rPr lang="pt-PT" sz="1600" dirty="0" err="1"/>
              <a:t>has</a:t>
            </a:r>
            <a:r>
              <a:rPr lang="pt-PT" sz="1600" dirty="0"/>
              <a:t> </a:t>
            </a:r>
            <a:r>
              <a:rPr lang="pt-PT" sz="1600" dirty="0" err="1"/>
              <a:t>higher</a:t>
            </a:r>
            <a:r>
              <a:rPr lang="pt-PT" sz="1600" dirty="0"/>
              <a:t> |</a:t>
            </a:r>
            <a:r>
              <a:rPr lang="el-GR" sz="1600" dirty="0"/>
              <a:t>Δ</a:t>
            </a:r>
            <a:r>
              <a:rPr lang="pt-PT" sz="1600" dirty="0"/>
              <a:t>N| (1.17) </a:t>
            </a:r>
            <a:r>
              <a:rPr lang="pt-PT" sz="1600" dirty="0" err="1"/>
              <a:t>vs</a:t>
            </a:r>
            <a:r>
              <a:rPr lang="pt-PT" sz="1600" dirty="0"/>
              <a:t> R50v2 (0.42) → </a:t>
            </a:r>
            <a:r>
              <a:rPr lang="pt-PT" sz="1600" dirty="0" err="1"/>
              <a:t>tendency</a:t>
            </a:r>
            <a:r>
              <a:rPr lang="pt-PT" sz="1600" dirty="0"/>
              <a:t> to </a:t>
            </a:r>
            <a:r>
              <a:rPr lang="pt-PT" sz="1600" dirty="0" err="1"/>
              <a:t>overcount</a:t>
            </a:r>
            <a:r>
              <a:rPr lang="pt-PT" sz="1600" dirty="0"/>
              <a:t> in </a:t>
            </a:r>
            <a:r>
              <a:rPr lang="pt-PT" sz="1600" dirty="0" err="1"/>
              <a:t>crowded</a:t>
            </a:r>
            <a:r>
              <a:rPr lang="pt-PT" sz="1600" dirty="0"/>
              <a:t> </a:t>
            </a:r>
            <a:r>
              <a:rPr lang="pt-PT" sz="1600" dirty="0" err="1"/>
              <a:t>scenes</a:t>
            </a:r>
            <a:r>
              <a:rPr lang="pt-PT" sz="1600" dirty="0"/>
              <a:t>.</a:t>
            </a:r>
          </a:p>
          <a:p>
            <a:pPr lvl="1"/>
            <a:r>
              <a:rPr lang="pt-PT" sz="1600" dirty="0" err="1"/>
              <a:t>Large</a:t>
            </a:r>
            <a:r>
              <a:rPr lang="pt-PT" sz="1600" dirty="0"/>
              <a:t> </a:t>
            </a:r>
            <a:r>
              <a:rPr lang="pt-PT" sz="1600" dirty="0" err="1"/>
              <a:t>scale</a:t>
            </a:r>
            <a:r>
              <a:rPr lang="pt-PT" sz="1600" dirty="0"/>
              <a:t> bin: R101 |</a:t>
            </a:r>
            <a:r>
              <a:rPr lang="el-GR" sz="1600" dirty="0"/>
              <a:t>Δ</a:t>
            </a:r>
            <a:r>
              <a:rPr lang="pt-PT" sz="1600" dirty="0"/>
              <a:t>N| (1.25) </a:t>
            </a:r>
            <a:r>
              <a:rPr lang="pt-PT" sz="1600" dirty="0" err="1"/>
              <a:t>vs</a:t>
            </a:r>
            <a:r>
              <a:rPr lang="pt-PT" sz="1600" dirty="0"/>
              <a:t> R50v2 (0.33) → extra </a:t>
            </a:r>
            <a:r>
              <a:rPr lang="pt-PT" sz="1600" dirty="0" err="1"/>
              <a:t>instances</a:t>
            </a:r>
            <a:r>
              <a:rPr lang="pt-PT" sz="1600" dirty="0"/>
              <a:t> / </a:t>
            </a:r>
            <a:r>
              <a:rPr lang="pt-PT" sz="1600" dirty="0" err="1"/>
              <a:t>over-segmentation</a:t>
            </a:r>
            <a:r>
              <a:rPr lang="pt-PT" sz="1600" dirty="0"/>
              <a:t>.</a:t>
            </a:r>
          </a:p>
        </p:txBody>
      </p:sp>
      <p:sp>
        <p:nvSpPr>
          <p:cNvPr id="4" name="Marcador de Posição do Número do Diapositivo 3">
            <a:extLst>
              <a:ext uri="{FF2B5EF4-FFF2-40B4-BE49-F238E27FC236}">
                <a16:creationId xmlns:a16="http://schemas.microsoft.com/office/drawing/2014/main" id="{01C2684C-6D34-0B80-E03F-C716B93F3A41}"/>
              </a:ext>
            </a:extLst>
          </p:cNvPr>
          <p:cNvSpPr>
            <a:spLocks noGrp="1"/>
          </p:cNvSpPr>
          <p:nvPr>
            <p:ph type="sldNum" sz="quarter" idx="12"/>
          </p:nvPr>
        </p:nvSpPr>
        <p:spPr/>
        <p:txBody>
          <a:bodyPr/>
          <a:lstStyle/>
          <a:p>
            <a:fld id="{13A9F3AB-103B-42BD-8121-9F883A719849}" type="slidenum">
              <a:rPr lang="pt-PT" smtClean="0"/>
              <a:t>25</a:t>
            </a:fld>
            <a:endParaRPr lang="pt-PT" dirty="0"/>
          </a:p>
        </p:txBody>
      </p:sp>
      <p:pic>
        <p:nvPicPr>
          <p:cNvPr id="6" name="Imagem 5" descr="Uma imagem com texto, captura de ecrã, Tipo de letra, número&#10;&#10;Os conteúdos gerados por IA podem estar incorretos.">
            <a:extLst>
              <a:ext uri="{FF2B5EF4-FFF2-40B4-BE49-F238E27FC236}">
                <a16:creationId xmlns:a16="http://schemas.microsoft.com/office/drawing/2014/main" id="{31847C69-F9AC-B3D2-C655-C0DB6686AA25}"/>
              </a:ext>
            </a:extLst>
          </p:cNvPr>
          <p:cNvPicPr>
            <a:picLocks noChangeAspect="1"/>
          </p:cNvPicPr>
          <p:nvPr/>
        </p:nvPicPr>
        <p:blipFill>
          <a:blip r:embed="rId3"/>
          <a:stretch>
            <a:fillRect/>
          </a:stretch>
        </p:blipFill>
        <p:spPr>
          <a:xfrm>
            <a:off x="1810377" y="5376251"/>
            <a:ext cx="4285623" cy="714271"/>
          </a:xfrm>
          <a:prstGeom prst="rect">
            <a:avLst/>
          </a:prstGeom>
        </p:spPr>
      </p:pic>
      <p:sp>
        <p:nvSpPr>
          <p:cNvPr id="7" name="TextBox 5">
            <a:extLst>
              <a:ext uri="{FF2B5EF4-FFF2-40B4-BE49-F238E27FC236}">
                <a16:creationId xmlns:a16="http://schemas.microsoft.com/office/drawing/2014/main" id="{BD1853D4-D4E1-A8C9-E464-A8A0AD41DC50}"/>
              </a:ext>
            </a:extLst>
          </p:cNvPr>
          <p:cNvSpPr txBox="1"/>
          <p:nvPr/>
        </p:nvSpPr>
        <p:spPr>
          <a:xfrm>
            <a:off x="1708438" y="6090522"/>
            <a:ext cx="438756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Table 3:</a:t>
            </a:r>
            <a:r>
              <a:rPr lang="en-US" sz="1200" dirty="0">
                <a:ea typeface="+mn-lt"/>
                <a:cs typeface="+mn-lt"/>
              </a:rPr>
              <a:t> </a:t>
            </a:r>
            <a:r>
              <a:rPr lang="en-US" sz="1200" dirty="0"/>
              <a:t>Stratified performance in the transfer regime by mean bubble size </a:t>
            </a:r>
            <a:endParaRPr lang="en-US" dirty="0"/>
          </a:p>
        </p:txBody>
      </p:sp>
      <p:pic>
        <p:nvPicPr>
          <p:cNvPr id="9" name="Imagem 8" descr="Uma imagem com texto, captura de ecrã, diagrama, Gráfico&#10;&#10;Os conteúdos gerados por IA podem estar incorretos.">
            <a:extLst>
              <a:ext uri="{FF2B5EF4-FFF2-40B4-BE49-F238E27FC236}">
                <a16:creationId xmlns:a16="http://schemas.microsoft.com/office/drawing/2014/main" id="{2DF3AD25-FC75-80F4-931A-9F1FBDC9EB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94622" y="1204837"/>
            <a:ext cx="3757188" cy="2087327"/>
          </a:xfrm>
          <a:prstGeom prst="rect">
            <a:avLst/>
          </a:prstGeom>
        </p:spPr>
      </p:pic>
      <p:sp>
        <p:nvSpPr>
          <p:cNvPr id="10" name="TextBox 5">
            <a:extLst>
              <a:ext uri="{FF2B5EF4-FFF2-40B4-BE49-F238E27FC236}">
                <a16:creationId xmlns:a16="http://schemas.microsoft.com/office/drawing/2014/main" id="{B8618CA3-6B8D-7492-2E77-CBB8EA7EFF3A}"/>
              </a:ext>
            </a:extLst>
          </p:cNvPr>
          <p:cNvSpPr txBox="1"/>
          <p:nvPr/>
        </p:nvSpPr>
        <p:spPr>
          <a:xfrm>
            <a:off x="7508254" y="3292164"/>
            <a:ext cx="438756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11:</a:t>
            </a:r>
            <a:r>
              <a:rPr lang="en-US" sz="1200" dirty="0">
                <a:ea typeface="+mn-lt"/>
                <a:cs typeface="+mn-lt"/>
              </a:rPr>
              <a:t> </a:t>
            </a:r>
            <a:r>
              <a:rPr lang="en-US" sz="1200" dirty="0"/>
              <a:t>Stratified Dice in the transfer regime by bubble size</a:t>
            </a:r>
            <a:endParaRPr lang="en-US" dirty="0"/>
          </a:p>
        </p:txBody>
      </p:sp>
      <p:pic>
        <p:nvPicPr>
          <p:cNvPr id="12" name="Imagem 11" descr="Uma imagem com mosaico, arte, captura de ecrã, colagem&#10;&#10;Os conteúdos gerados por IA podem estar incorretos.">
            <a:extLst>
              <a:ext uri="{FF2B5EF4-FFF2-40B4-BE49-F238E27FC236}">
                <a16:creationId xmlns:a16="http://schemas.microsoft.com/office/drawing/2014/main" id="{605F0B51-2F45-2B1F-F026-DCBD4E0D84FA}"/>
              </a:ext>
            </a:extLst>
          </p:cNvPr>
          <p:cNvPicPr>
            <a:picLocks noChangeAspect="1"/>
          </p:cNvPicPr>
          <p:nvPr/>
        </p:nvPicPr>
        <p:blipFill>
          <a:blip r:embed="rId5"/>
          <a:stretch>
            <a:fillRect/>
          </a:stretch>
        </p:blipFill>
        <p:spPr>
          <a:xfrm>
            <a:off x="7935363" y="3569163"/>
            <a:ext cx="3605689" cy="2606674"/>
          </a:xfrm>
          <a:prstGeom prst="rect">
            <a:avLst/>
          </a:prstGeom>
        </p:spPr>
      </p:pic>
      <p:sp>
        <p:nvSpPr>
          <p:cNvPr id="13" name="TextBox 5">
            <a:extLst>
              <a:ext uri="{FF2B5EF4-FFF2-40B4-BE49-F238E27FC236}">
                <a16:creationId xmlns:a16="http://schemas.microsoft.com/office/drawing/2014/main" id="{3CB19861-34AE-6F59-9767-2CF079AFC5AF}"/>
              </a:ext>
            </a:extLst>
          </p:cNvPr>
          <p:cNvSpPr txBox="1"/>
          <p:nvPr/>
        </p:nvSpPr>
        <p:spPr>
          <a:xfrm>
            <a:off x="7579435" y="6173574"/>
            <a:ext cx="438756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12:</a:t>
            </a:r>
            <a:r>
              <a:rPr lang="en-US" sz="1200" dirty="0">
                <a:ea typeface="+mn-lt"/>
                <a:cs typeface="+mn-lt"/>
              </a:rPr>
              <a:t> </a:t>
            </a:r>
            <a:r>
              <a:rPr lang="pt-PT" sz="1200" dirty="0"/>
              <a:t>Dense, </a:t>
            </a:r>
            <a:r>
              <a:rPr lang="pt-PT" sz="1200" dirty="0" err="1"/>
              <a:t>low-visibility</a:t>
            </a:r>
            <a:r>
              <a:rPr lang="pt-PT" sz="1200" dirty="0"/>
              <a:t> case. resnet50_fpn_v2 </a:t>
            </a:r>
            <a:r>
              <a:rPr lang="pt-PT" sz="1200" dirty="0" err="1"/>
              <a:t>transfer</a:t>
            </a:r>
            <a:r>
              <a:rPr lang="pt-PT" sz="1200" dirty="0"/>
              <a:t> </a:t>
            </a:r>
            <a:r>
              <a:rPr lang="pt-PT" sz="1200" dirty="0" err="1"/>
              <a:t>vs</a:t>
            </a:r>
            <a:r>
              <a:rPr lang="pt-PT" sz="1200" dirty="0"/>
              <a:t>  resnet101_fpn</a:t>
            </a:r>
            <a:endParaRPr lang="en-US" dirty="0"/>
          </a:p>
        </p:txBody>
      </p:sp>
    </p:spTree>
    <p:extLst>
      <p:ext uri="{BB962C8B-B14F-4D97-AF65-F5344CB8AC3E}">
        <p14:creationId xmlns:p14="http://schemas.microsoft.com/office/powerpoint/2010/main" val="2686860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9BA0-EA03-92E0-EBD1-31B26200EB3F}"/>
              </a:ext>
            </a:extLst>
          </p:cNvPr>
          <p:cNvSpPr>
            <a:spLocks noGrp="1"/>
          </p:cNvSpPr>
          <p:nvPr>
            <p:ph type="title"/>
          </p:nvPr>
        </p:nvSpPr>
        <p:spPr>
          <a:xfrm>
            <a:off x="1137034" y="609598"/>
            <a:ext cx="9392421" cy="911090"/>
          </a:xfrm>
        </p:spPr>
        <p:txBody>
          <a:bodyPr>
            <a:normAutofit/>
          </a:bodyPr>
          <a:lstStyle/>
          <a:p>
            <a:r>
              <a:rPr lang="en-US" dirty="0">
                <a:ea typeface="+mj-lt"/>
                <a:cs typeface="+mj-lt"/>
              </a:rPr>
              <a:t>Problem context</a:t>
            </a:r>
            <a:endParaRPr lang="en-US" dirty="0"/>
          </a:p>
        </p:txBody>
      </p:sp>
      <p:sp>
        <p:nvSpPr>
          <p:cNvPr id="3" name="Content Placeholder 2">
            <a:extLst>
              <a:ext uri="{FF2B5EF4-FFF2-40B4-BE49-F238E27FC236}">
                <a16:creationId xmlns:a16="http://schemas.microsoft.com/office/drawing/2014/main" id="{C53BE321-E84B-7AFA-F35D-5C157B51008B}"/>
              </a:ext>
            </a:extLst>
          </p:cNvPr>
          <p:cNvSpPr>
            <a:spLocks noGrp="1"/>
          </p:cNvSpPr>
          <p:nvPr>
            <p:ph idx="1"/>
          </p:nvPr>
        </p:nvSpPr>
        <p:spPr>
          <a:xfrm>
            <a:off x="1137034" y="2198362"/>
            <a:ext cx="4958966" cy="3917773"/>
          </a:xfrm>
        </p:spPr>
        <p:txBody>
          <a:bodyPr vert="horz" lIns="91440" tIns="45720" rIns="91440" bIns="45720" rtlCol="0" anchor="t">
            <a:normAutofit/>
          </a:bodyPr>
          <a:lstStyle/>
          <a:p>
            <a:r>
              <a:rPr lang="en-US" sz="1600" b="1" dirty="0">
                <a:ea typeface="+mn-lt"/>
                <a:cs typeface="+mn-lt"/>
              </a:rPr>
              <a:t>Goal: </a:t>
            </a:r>
            <a:r>
              <a:rPr lang="en-US" sz="1600" dirty="0">
                <a:ea typeface="+mn-lt"/>
                <a:cs typeface="+mn-lt"/>
              </a:rPr>
              <a:t>extract reliable measurements from experimental images (bubble count, area/diameter, size distribution) – “CORRECT”</a:t>
            </a:r>
            <a:endParaRPr lang="en-US" sz="1600" dirty="0"/>
          </a:p>
          <a:p>
            <a:r>
              <a:rPr lang="en-US" sz="1600" b="1" dirty="0">
                <a:ea typeface="+mn-lt"/>
                <a:cs typeface="+mn-lt"/>
              </a:rPr>
              <a:t>We need instance segmentation:</a:t>
            </a:r>
            <a:r>
              <a:rPr lang="en-US" sz="1600" dirty="0">
                <a:ea typeface="+mn-lt"/>
                <a:cs typeface="+mn-lt"/>
              </a:rPr>
              <a:t> one mask per bubble (not just foreground/background)</a:t>
            </a:r>
            <a:endParaRPr lang="en-US" sz="1600" dirty="0"/>
          </a:p>
          <a:p>
            <a:r>
              <a:rPr lang="en-US" sz="1600" dirty="0">
                <a:ea typeface="+mn-lt"/>
                <a:cs typeface="+mn-lt"/>
              </a:rPr>
              <a:t>Why it’s hard in real experiments:</a:t>
            </a:r>
            <a:endParaRPr lang="en-US" sz="1600" dirty="0"/>
          </a:p>
          <a:p>
            <a:pPr lvl="1">
              <a:buFont typeface="Courier New" panose="020B0604020202020204" pitchFamily="34" charset="0"/>
              <a:buChar char="o"/>
            </a:pPr>
            <a:r>
              <a:rPr lang="en-US" sz="1600" dirty="0">
                <a:ea typeface="+mn-lt"/>
                <a:cs typeface="+mn-lt"/>
              </a:rPr>
              <a:t>high bubble density &amp; overlap → occlusions</a:t>
            </a:r>
            <a:endParaRPr lang="en-US" sz="1600" dirty="0"/>
          </a:p>
          <a:p>
            <a:pPr lvl="1">
              <a:buFont typeface="Courier New" panose="020B0604020202020204" pitchFamily="34" charset="0"/>
              <a:buChar char="o"/>
            </a:pPr>
            <a:r>
              <a:rPr lang="en-US" sz="1600" dirty="0">
                <a:ea typeface="+mn-lt"/>
                <a:cs typeface="+mn-lt"/>
              </a:rPr>
              <a:t>lighting/contrast variability + optical artifacts</a:t>
            </a:r>
            <a:endParaRPr lang="en-US" sz="1600" dirty="0"/>
          </a:p>
          <a:p>
            <a:pPr lvl="1">
              <a:buFont typeface="Courier New" panose="020B0604020202020204" pitchFamily="34" charset="0"/>
              <a:buChar char="o"/>
            </a:pPr>
            <a:r>
              <a:rPr lang="en-US" sz="1600" dirty="0">
                <a:ea typeface="+mn-lt"/>
                <a:cs typeface="+mn-lt"/>
              </a:rPr>
              <a:t>blurry/weak edges, small bubbles → split/merge errors</a:t>
            </a:r>
            <a:endParaRPr lang="en-US" sz="1600" dirty="0"/>
          </a:p>
          <a:p>
            <a:r>
              <a:rPr lang="en-US" sz="1600" b="1" dirty="0">
                <a:ea typeface="+mn-lt"/>
                <a:cs typeface="+mn-lt"/>
              </a:rPr>
              <a:t>Main bottleneck:</a:t>
            </a:r>
            <a:r>
              <a:rPr lang="en-US" sz="1600" dirty="0">
                <a:ea typeface="+mn-lt"/>
                <a:cs typeface="+mn-lt"/>
              </a:rPr>
              <a:t> pixel-accurate instance labeling is expensive → small real datasets → limited generalization</a:t>
            </a:r>
            <a:endParaRPr lang="en-US" sz="1600" dirty="0"/>
          </a:p>
          <a:p>
            <a:endParaRPr lang="en-US" sz="1600" dirty="0"/>
          </a:p>
        </p:txBody>
      </p:sp>
      <p:sp>
        <p:nvSpPr>
          <p:cNvPr id="6" name="Marcador de Posição do Número do Diapositivo 5">
            <a:extLst>
              <a:ext uri="{FF2B5EF4-FFF2-40B4-BE49-F238E27FC236}">
                <a16:creationId xmlns:a16="http://schemas.microsoft.com/office/drawing/2014/main" id="{5EEAA567-9517-40A7-4066-50FC3307D855}"/>
              </a:ext>
            </a:extLst>
          </p:cNvPr>
          <p:cNvSpPr>
            <a:spLocks noGrp="1"/>
          </p:cNvSpPr>
          <p:nvPr>
            <p:ph type="sldNum" sz="quarter" idx="12"/>
          </p:nvPr>
        </p:nvSpPr>
        <p:spPr/>
        <p:txBody>
          <a:bodyPr/>
          <a:lstStyle/>
          <a:p>
            <a:fld id="{13A9F3AB-103B-42BD-8121-9F883A719849}" type="slidenum">
              <a:rPr lang="pt-PT" smtClean="0"/>
              <a:t>26</a:t>
            </a:fld>
            <a:endParaRPr lang="pt-PT"/>
          </a:p>
        </p:txBody>
      </p:sp>
      <p:pic>
        <p:nvPicPr>
          <p:cNvPr id="4" name="Picture 3" descr="A close-up of a black and white photo of a cell&#10;&#10;AI-generated content may be incorrect.">
            <a:extLst>
              <a:ext uri="{FF2B5EF4-FFF2-40B4-BE49-F238E27FC236}">
                <a16:creationId xmlns:a16="http://schemas.microsoft.com/office/drawing/2014/main" id="{8A662E7E-C108-E7BF-E1CB-5C9E8B992BD3}"/>
              </a:ext>
            </a:extLst>
          </p:cNvPr>
          <p:cNvPicPr>
            <a:picLocks noChangeAspect="1"/>
          </p:cNvPicPr>
          <p:nvPr/>
        </p:nvPicPr>
        <p:blipFill>
          <a:blip r:embed="rId3"/>
          <a:stretch>
            <a:fillRect/>
          </a:stretch>
        </p:blipFill>
        <p:spPr>
          <a:xfrm>
            <a:off x="6719367" y="3296711"/>
            <a:ext cx="4788505" cy="1532321"/>
          </a:xfrm>
          <a:prstGeom prst="rect">
            <a:avLst/>
          </a:prstGeom>
        </p:spPr>
      </p:pic>
      <p:sp>
        <p:nvSpPr>
          <p:cNvPr id="5" name="TextBox 4">
            <a:extLst>
              <a:ext uri="{FF2B5EF4-FFF2-40B4-BE49-F238E27FC236}">
                <a16:creationId xmlns:a16="http://schemas.microsoft.com/office/drawing/2014/main" id="{F84D9BA8-D76F-A5E5-56FC-FD4DB7D9F1DD}"/>
              </a:ext>
            </a:extLst>
          </p:cNvPr>
          <p:cNvSpPr txBox="1"/>
          <p:nvPr/>
        </p:nvSpPr>
        <p:spPr>
          <a:xfrm>
            <a:off x="6717324" y="4829908"/>
            <a:ext cx="4794736"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1: Experimental Image showing lighting variability and blur.</a:t>
            </a:r>
            <a:endParaRPr lang="en-US"/>
          </a:p>
        </p:txBody>
      </p:sp>
    </p:spTree>
    <p:extLst>
      <p:ext uri="{BB962C8B-B14F-4D97-AF65-F5344CB8AC3E}">
        <p14:creationId xmlns:p14="http://schemas.microsoft.com/office/powerpoint/2010/main" val="15871341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93D7A-EA64-D737-9DFA-A0C78DA9DFBA}"/>
              </a:ext>
            </a:extLst>
          </p:cNvPr>
          <p:cNvSpPr>
            <a:spLocks noGrp="1"/>
          </p:cNvSpPr>
          <p:nvPr>
            <p:ph type="title"/>
          </p:nvPr>
        </p:nvSpPr>
        <p:spPr>
          <a:xfrm>
            <a:off x="838200" y="556337"/>
            <a:ext cx="6797405" cy="1651404"/>
          </a:xfrm>
        </p:spPr>
        <p:txBody>
          <a:bodyPr>
            <a:normAutofit/>
          </a:bodyPr>
          <a:lstStyle/>
          <a:p>
            <a:r>
              <a:rPr lang="en-US" sz="4000" dirty="0">
                <a:ea typeface="+mj-lt"/>
                <a:cs typeface="+mj-lt"/>
              </a:rPr>
              <a:t>Key challenges and motivation</a:t>
            </a:r>
            <a:endParaRPr lang="en-US" sz="4000" dirty="0"/>
          </a:p>
        </p:txBody>
      </p:sp>
      <p:sp>
        <p:nvSpPr>
          <p:cNvPr id="3" name="Content Placeholder 2">
            <a:extLst>
              <a:ext uri="{FF2B5EF4-FFF2-40B4-BE49-F238E27FC236}">
                <a16:creationId xmlns:a16="http://schemas.microsoft.com/office/drawing/2014/main" id="{CBCF1366-5F2C-AF34-AF0A-2D6AF4CE59DF}"/>
              </a:ext>
            </a:extLst>
          </p:cNvPr>
          <p:cNvSpPr>
            <a:spLocks noGrp="1"/>
          </p:cNvSpPr>
          <p:nvPr>
            <p:ph idx="1"/>
          </p:nvPr>
        </p:nvSpPr>
        <p:spPr>
          <a:xfrm>
            <a:off x="838200" y="2401330"/>
            <a:ext cx="6797405" cy="3719384"/>
          </a:xfrm>
        </p:spPr>
        <p:txBody>
          <a:bodyPr vert="horz" lIns="91440" tIns="45720" rIns="91440" bIns="45720" rtlCol="0" anchor="t">
            <a:normAutofit/>
          </a:bodyPr>
          <a:lstStyle/>
          <a:p>
            <a:r>
              <a:rPr lang="en-US" sz="1600" b="1" dirty="0">
                <a:ea typeface="+mn-lt"/>
                <a:cs typeface="+mn-lt"/>
              </a:rPr>
              <a:t>Annotation bottleneck:</a:t>
            </a:r>
            <a:r>
              <a:rPr lang="en-US" sz="1600" dirty="0">
                <a:ea typeface="+mn-lt"/>
                <a:cs typeface="+mn-lt"/>
              </a:rPr>
              <a:t> instance-level, pixel-accurate masks are slow and hard to produce → limits the size/diversity of real labeled datasets</a:t>
            </a:r>
            <a:endParaRPr lang="en-US" sz="1600" dirty="0"/>
          </a:p>
          <a:p>
            <a:r>
              <a:rPr lang="en-US" sz="1600" b="1" dirty="0">
                <a:ea typeface="+mn-lt"/>
                <a:cs typeface="+mn-lt"/>
              </a:rPr>
              <a:t>Domain gap: </a:t>
            </a:r>
            <a:r>
              <a:rPr lang="en-US" sz="1600" dirty="0">
                <a:ea typeface="+mn-lt"/>
                <a:cs typeface="+mn-lt"/>
              </a:rPr>
              <a:t>models trained on synthetic data often do not transfer perfectly to real experimental images (different noise, blur/defocus, reflections, illumination patterns)</a:t>
            </a:r>
            <a:endParaRPr lang="en-US" sz="1600" dirty="0"/>
          </a:p>
          <a:p>
            <a:r>
              <a:rPr lang="en-US" sz="1600" b="1" dirty="0">
                <a:ea typeface="+mn-lt"/>
                <a:cs typeface="+mn-lt"/>
              </a:rPr>
              <a:t>Measurement-driven requirement:</a:t>
            </a:r>
            <a:r>
              <a:rPr lang="en-US" sz="1600" dirty="0">
                <a:ea typeface="+mn-lt"/>
                <a:cs typeface="+mn-lt"/>
              </a:rPr>
              <a:t> high foreground overlap (Dice/</a:t>
            </a:r>
            <a:r>
              <a:rPr lang="en-US" sz="1600" dirty="0" err="1">
                <a:ea typeface="+mn-lt"/>
                <a:cs typeface="+mn-lt"/>
              </a:rPr>
              <a:t>IoU</a:t>
            </a:r>
            <a:r>
              <a:rPr lang="en-US" sz="1600" dirty="0">
                <a:ea typeface="+mn-lt"/>
                <a:cs typeface="+mn-lt"/>
              </a:rPr>
              <a:t>) can still hide split/merge errors → poor bubble count and size statistics</a:t>
            </a:r>
            <a:endParaRPr lang="en-US" sz="1600" dirty="0"/>
          </a:p>
          <a:p>
            <a:r>
              <a:rPr lang="en-US" sz="1600" b="1" dirty="0">
                <a:ea typeface="+mn-lt"/>
                <a:cs typeface="+mn-lt"/>
              </a:rPr>
              <a:t>Motivation for this thesis:</a:t>
            </a:r>
            <a:endParaRPr lang="en-US" sz="1600" b="1" dirty="0"/>
          </a:p>
          <a:p>
            <a:pPr lvl="1">
              <a:buFont typeface="Courier New" panose="020B0604020202020204" pitchFamily="34" charset="0"/>
              <a:buChar char="o"/>
            </a:pPr>
            <a:r>
              <a:rPr lang="en-US" sz="1600" dirty="0">
                <a:ea typeface="+mn-lt"/>
                <a:cs typeface="+mn-lt"/>
              </a:rPr>
              <a:t>compare strong instance segmentation baselines on real data</a:t>
            </a:r>
            <a:endParaRPr lang="en-US" sz="1600" dirty="0"/>
          </a:p>
          <a:p>
            <a:pPr lvl="1">
              <a:buFont typeface="Courier New" panose="020B0604020202020204" pitchFamily="34" charset="0"/>
              <a:buChar char="o"/>
            </a:pPr>
            <a:r>
              <a:rPr lang="en-US" sz="1600" dirty="0">
                <a:ea typeface="+mn-lt"/>
                <a:cs typeface="+mn-lt"/>
              </a:rPr>
              <a:t>evaluate synthetic → real transfer learning</a:t>
            </a:r>
            <a:endParaRPr lang="en-US" sz="1600" dirty="0"/>
          </a:p>
          <a:p>
            <a:pPr lvl="1">
              <a:buFont typeface="Courier New" panose="020B0604020202020204" pitchFamily="34" charset="0"/>
              <a:buChar char="o"/>
            </a:pPr>
            <a:r>
              <a:rPr lang="en-US" sz="1600" dirty="0">
                <a:ea typeface="+mn-lt"/>
                <a:cs typeface="+mn-lt"/>
              </a:rPr>
              <a:t>quantify model-assisted annotation time savings</a:t>
            </a:r>
            <a:endParaRPr lang="en-US" sz="1600" dirty="0"/>
          </a:p>
          <a:p>
            <a:endParaRPr lang="en-US" sz="1600" dirty="0"/>
          </a:p>
          <a:p>
            <a:endParaRPr lang="en-US" sz="1600" dirty="0"/>
          </a:p>
          <a:p>
            <a:pPr marL="0" indent="0">
              <a:buNone/>
            </a:pPr>
            <a:endParaRPr lang="en-US" sz="1600" dirty="0"/>
          </a:p>
        </p:txBody>
      </p:sp>
      <p:sp>
        <p:nvSpPr>
          <p:cNvPr id="8" name="Marcador de Posição do Número do Diapositivo 7">
            <a:extLst>
              <a:ext uri="{FF2B5EF4-FFF2-40B4-BE49-F238E27FC236}">
                <a16:creationId xmlns:a16="http://schemas.microsoft.com/office/drawing/2014/main" id="{9BAF39AA-A07B-FAAA-2E1A-943B8D5FCD1D}"/>
              </a:ext>
            </a:extLst>
          </p:cNvPr>
          <p:cNvSpPr>
            <a:spLocks noGrp="1"/>
          </p:cNvSpPr>
          <p:nvPr>
            <p:ph type="sldNum" sz="quarter" idx="12"/>
          </p:nvPr>
        </p:nvSpPr>
        <p:spPr/>
        <p:txBody>
          <a:bodyPr/>
          <a:lstStyle/>
          <a:p>
            <a:fld id="{13A9F3AB-103B-42BD-8121-9F883A719849}" type="slidenum">
              <a:rPr lang="pt-PT" smtClean="0"/>
              <a:t>27</a:t>
            </a:fld>
            <a:endParaRPr lang="pt-PT"/>
          </a:p>
        </p:txBody>
      </p:sp>
      <p:pic>
        <p:nvPicPr>
          <p:cNvPr id="4" name="Picture 3" descr="A group of bubbles in water&#10;&#10;AI-generated content may be incorrect.">
            <a:extLst>
              <a:ext uri="{FF2B5EF4-FFF2-40B4-BE49-F238E27FC236}">
                <a16:creationId xmlns:a16="http://schemas.microsoft.com/office/drawing/2014/main" id="{77DDEBAF-D1FC-126F-182B-E621B2952630}"/>
              </a:ext>
            </a:extLst>
          </p:cNvPr>
          <p:cNvPicPr>
            <a:picLocks noChangeAspect="1"/>
          </p:cNvPicPr>
          <p:nvPr/>
        </p:nvPicPr>
        <p:blipFill>
          <a:blip r:embed="rId3"/>
          <a:stretch>
            <a:fillRect/>
          </a:stretch>
        </p:blipFill>
        <p:spPr>
          <a:xfrm>
            <a:off x="8716091" y="1164629"/>
            <a:ext cx="2769571" cy="2769571"/>
          </a:xfrm>
          <a:prstGeom prst="rect">
            <a:avLst/>
          </a:prstGeom>
        </p:spPr>
      </p:pic>
      <p:pic>
        <p:nvPicPr>
          <p:cNvPr id="5" name="Picture 4" descr="A close-up of a microscope&#10;&#10;AI-generated content may be incorrect.">
            <a:extLst>
              <a:ext uri="{FF2B5EF4-FFF2-40B4-BE49-F238E27FC236}">
                <a16:creationId xmlns:a16="http://schemas.microsoft.com/office/drawing/2014/main" id="{4E1F4145-EED6-B460-E493-E66E59A6C98B}"/>
              </a:ext>
            </a:extLst>
          </p:cNvPr>
          <p:cNvPicPr>
            <a:picLocks noChangeAspect="1"/>
          </p:cNvPicPr>
          <p:nvPr/>
        </p:nvPicPr>
        <p:blipFill>
          <a:blip r:embed="rId4"/>
          <a:stretch>
            <a:fillRect/>
          </a:stretch>
        </p:blipFill>
        <p:spPr>
          <a:xfrm>
            <a:off x="7997556" y="4651594"/>
            <a:ext cx="3995623" cy="1598249"/>
          </a:xfrm>
          <a:prstGeom prst="rect">
            <a:avLst/>
          </a:prstGeom>
        </p:spPr>
      </p:pic>
      <p:sp>
        <p:nvSpPr>
          <p:cNvPr id="6" name="TextBox 5">
            <a:extLst>
              <a:ext uri="{FF2B5EF4-FFF2-40B4-BE49-F238E27FC236}">
                <a16:creationId xmlns:a16="http://schemas.microsoft.com/office/drawing/2014/main" id="{6A211D6C-F426-F21E-B833-0120B39BE565}"/>
              </a:ext>
            </a:extLst>
          </p:cNvPr>
          <p:cNvSpPr txBox="1"/>
          <p:nvPr/>
        </p:nvSpPr>
        <p:spPr>
          <a:xfrm>
            <a:off x="8710246" y="3938953"/>
            <a:ext cx="277836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2: Synthetic Image</a:t>
            </a:r>
            <a:endParaRPr lang="en-US"/>
          </a:p>
        </p:txBody>
      </p:sp>
      <p:sp>
        <p:nvSpPr>
          <p:cNvPr id="7" name="TextBox 6">
            <a:extLst>
              <a:ext uri="{FF2B5EF4-FFF2-40B4-BE49-F238E27FC236}">
                <a16:creationId xmlns:a16="http://schemas.microsoft.com/office/drawing/2014/main" id="{EB4271EA-BDB7-24C2-BC53-4AB7A83AA0B3}"/>
              </a:ext>
            </a:extLst>
          </p:cNvPr>
          <p:cNvSpPr txBox="1"/>
          <p:nvPr/>
        </p:nvSpPr>
        <p:spPr>
          <a:xfrm>
            <a:off x="7995137" y="6248398"/>
            <a:ext cx="3997568"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dirty="0"/>
              <a:t>Figure 3: Real Experimental Image</a:t>
            </a:r>
            <a:endParaRPr lang="en-US" dirty="0"/>
          </a:p>
        </p:txBody>
      </p:sp>
    </p:spTree>
    <p:extLst>
      <p:ext uri="{BB962C8B-B14F-4D97-AF65-F5344CB8AC3E}">
        <p14:creationId xmlns:p14="http://schemas.microsoft.com/office/powerpoint/2010/main" val="25405960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D2806F-2BAB-C5A5-7314-0EC154CB7EAB}"/>
              </a:ext>
            </a:extLst>
          </p:cNvPr>
          <p:cNvSpPr>
            <a:spLocks noGrp="1"/>
          </p:cNvSpPr>
          <p:nvPr>
            <p:ph type="title"/>
          </p:nvPr>
        </p:nvSpPr>
        <p:spPr/>
        <p:txBody>
          <a:bodyPr/>
          <a:lstStyle/>
          <a:p>
            <a:r>
              <a:rPr lang="pt-PT" dirty="0" err="1"/>
              <a:t>Limitations</a:t>
            </a:r>
            <a:endParaRPr lang="pt-PT" dirty="0"/>
          </a:p>
        </p:txBody>
      </p:sp>
      <p:sp>
        <p:nvSpPr>
          <p:cNvPr id="3" name="Marcador de Posição de Conteúdo 2">
            <a:extLst>
              <a:ext uri="{FF2B5EF4-FFF2-40B4-BE49-F238E27FC236}">
                <a16:creationId xmlns:a16="http://schemas.microsoft.com/office/drawing/2014/main" id="{FFA5B065-5582-A608-5CCB-5DC68A012304}"/>
              </a:ext>
            </a:extLst>
          </p:cNvPr>
          <p:cNvSpPr>
            <a:spLocks noGrp="1"/>
          </p:cNvSpPr>
          <p:nvPr>
            <p:ph idx="1"/>
          </p:nvPr>
        </p:nvSpPr>
        <p:spPr/>
        <p:txBody>
          <a:bodyPr>
            <a:normAutofit/>
          </a:bodyPr>
          <a:lstStyle/>
          <a:p>
            <a:r>
              <a:rPr lang="en-US" sz="1600" b="1" dirty="0"/>
              <a:t>Limited real labeled data: </a:t>
            </a:r>
            <a:r>
              <a:rPr lang="en-US" sz="1600" dirty="0"/>
              <a:t>243 annotated images; test split = 25 images → high variance in estimates, limited coverage of operating conditions.</a:t>
            </a:r>
          </a:p>
          <a:p>
            <a:r>
              <a:rPr lang="en-US" sz="1600" b="1" dirty="0"/>
              <a:t>Dataset representativeness: </a:t>
            </a:r>
            <a:r>
              <a:rPr lang="en-US" sz="1600" dirty="0"/>
              <a:t>results may not generalize to different experiments, optics, or flow regimes without additional data. </a:t>
            </a:r>
          </a:p>
          <a:p>
            <a:r>
              <a:rPr lang="en-US" sz="1600" b="1" dirty="0"/>
              <a:t>Annotation uncertainty: </a:t>
            </a:r>
            <a:r>
              <a:rPr lang="en-US" sz="1600" dirty="0"/>
              <a:t>dense scenes have ambiguous boundaries; ground truth reflects a specific labeling protocol (no multi-annotator agreement reported).</a:t>
            </a:r>
          </a:p>
          <a:p>
            <a:r>
              <a:rPr lang="en-US" sz="1600" b="1" dirty="0"/>
              <a:t>Fixed post-processing thresholds: </a:t>
            </a:r>
            <a:r>
              <a:rPr lang="en-US" sz="1600" dirty="0"/>
              <a:t>a single threshold set was used for fairness, but different thresholds could shift the count/FP trade-off.</a:t>
            </a:r>
          </a:p>
          <a:p>
            <a:r>
              <a:rPr lang="en-US" sz="1600" b="1" dirty="0"/>
              <a:t>Synthetic domain mismatch: </a:t>
            </a:r>
            <a:r>
              <a:rPr lang="en-US" sz="1600" dirty="0"/>
              <a:t>synthetic pretraining helps, but cannot fully reproduce real optical artifacts → residual domain gap remains.</a:t>
            </a:r>
            <a:endParaRPr lang="pt-PT" sz="1600" dirty="0"/>
          </a:p>
        </p:txBody>
      </p:sp>
      <p:sp>
        <p:nvSpPr>
          <p:cNvPr id="4" name="Marcador de Posição do Número do Diapositivo 3">
            <a:extLst>
              <a:ext uri="{FF2B5EF4-FFF2-40B4-BE49-F238E27FC236}">
                <a16:creationId xmlns:a16="http://schemas.microsoft.com/office/drawing/2014/main" id="{CA84462F-1E00-DC9A-8356-64D3C9C626A0}"/>
              </a:ext>
            </a:extLst>
          </p:cNvPr>
          <p:cNvSpPr>
            <a:spLocks noGrp="1"/>
          </p:cNvSpPr>
          <p:nvPr>
            <p:ph type="sldNum" sz="quarter" idx="12"/>
          </p:nvPr>
        </p:nvSpPr>
        <p:spPr/>
        <p:txBody>
          <a:bodyPr/>
          <a:lstStyle/>
          <a:p>
            <a:fld id="{13A9F3AB-103B-42BD-8121-9F883A719849}" type="slidenum">
              <a:rPr lang="pt-PT" smtClean="0"/>
              <a:t>28</a:t>
            </a:fld>
            <a:endParaRPr lang="pt-PT"/>
          </a:p>
        </p:txBody>
      </p:sp>
    </p:spTree>
    <p:extLst>
      <p:ext uri="{BB962C8B-B14F-4D97-AF65-F5344CB8AC3E}">
        <p14:creationId xmlns:p14="http://schemas.microsoft.com/office/powerpoint/2010/main" val="32268600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661AE5-58A6-51E1-47C8-8ABAFEFF1F19}"/>
              </a:ext>
            </a:extLst>
          </p:cNvPr>
          <p:cNvSpPr>
            <a:spLocks noGrp="1"/>
          </p:cNvSpPr>
          <p:nvPr>
            <p:ph type="title"/>
          </p:nvPr>
        </p:nvSpPr>
        <p:spPr/>
        <p:txBody>
          <a:bodyPr/>
          <a:lstStyle/>
          <a:p>
            <a:r>
              <a:rPr lang="en-US" dirty="0"/>
              <a:t>Future work</a:t>
            </a:r>
            <a:endParaRPr lang="pt-PT" dirty="0"/>
          </a:p>
        </p:txBody>
      </p:sp>
      <p:sp>
        <p:nvSpPr>
          <p:cNvPr id="3" name="Marcador de Posição de Conteúdo 2">
            <a:extLst>
              <a:ext uri="{FF2B5EF4-FFF2-40B4-BE49-F238E27FC236}">
                <a16:creationId xmlns:a16="http://schemas.microsoft.com/office/drawing/2014/main" id="{D13EE854-7C5D-36BC-EF03-75E51532D3B5}"/>
              </a:ext>
            </a:extLst>
          </p:cNvPr>
          <p:cNvSpPr>
            <a:spLocks noGrp="1"/>
          </p:cNvSpPr>
          <p:nvPr>
            <p:ph idx="1"/>
          </p:nvPr>
        </p:nvSpPr>
        <p:spPr/>
        <p:txBody>
          <a:bodyPr>
            <a:normAutofit/>
          </a:bodyPr>
          <a:lstStyle/>
          <a:p>
            <a:r>
              <a:rPr lang="pt-PT" sz="1600" b="1" dirty="0" err="1"/>
              <a:t>Scale</a:t>
            </a:r>
            <a:r>
              <a:rPr lang="pt-PT" sz="1600" b="1" dirty="0"/>
              <a:t> the real </a:t>
            </a:r>
            <a:r>
              <a:rPr lang="pt-PT" sz="1600" b="1" dirty="0" err="1"/>
              <a:t>dataset</a:t>
            </a:r>
            <a:r>
              <a:rPr lang="pt-PT" sz="1600" b="1" dirty="0"/>
              <a:t>: </a:t>
            </a:r>
            <a:r>
              <a:rPr lang="pt-PT" sz="1600" dirty="0" err="1"/>
              <a:t>collect</a:t>
            </a:r>
            <a:r>
              <a:rPr lang="pt-PT" sz="1600" dirty="0"/>
              <a:t> more </a:t>
            </a:r>
            <a:r>
              <a:rPr lang="pt-PT" sz="1600" dirty="0" err="1"/>
              <a:t>labeled</a:t>
            </a:r>
            <a:r>
              <a:rPr lang="pt-PT" sz="1600" dirty="0"/>
              <a:t> </a:t>
            </a:r>
            <a:r>
              <a:rPr lang="pt-PT" sz="1600" dirty="0" err="1"/>
              <a:t>frames</a:t>
            </a:r>
            <a:r>
              <a:rPr lang="pt-PT" sz="1600" dirty="0"/>
              <a:t> </a:t>
            </a:r>
            <a:r>
              <a:rPr lang="pt-PT" sz="1600" dirty="0" err="1"/>
              <a:t>and</a:t>
            </a:r>
            <a:r>
              <a:rPr lang="pt-PT" sz="1600" dirty="0"/>
              <a:t> </a:t>
            </a:r>
            <a:r>
              <a:rPr lang="pt-PT" sz="1600" dirty="0" err="1"/>
              <a:t>ensure</a:t>
            </a:r>
            <a:r>
              <a:rPr lang="pt-PT" sz="1600" dirty="0"/>
              <a:t> </a:t>
            </a:r>
            <a:r>
              <a:rPr lang="pt-PT" sz="1600" dirty="0" err="1"/>
              <a:t>broader</a:t>
            </a:r>
            <a:r>
              <a:rPr lang="pt-PT" sz="1600" dirty="0"/>
              <a:t> </a:t>
            </a:r>
            <a:r>
              <a:rPr lang="pt-PT" sz="1600" dirty="0" err="1"/>
              <a:t>coverage</a:t>
            </a:r>
            <a:r>
              <a:rPr lang="pt-PT" sz="1600" dirty="0"/>
              <a:t> (</a:t>
            </a:r>
            <a:r>
              <a:rPr lang="pt-PT" sz="1600" dirty="0" err="1"/>
              <a:t>density</a:t>
            </a:r>
            <a:r>
              <a:rPr lang="pt-PT" sz="1600" dirty="0"/>
              <a:t>, </a:t>
            </a:r>
            <a:r>
              <a:rPr lang="pt-PT" sz="1600" dirty="0" err="1"/>
              <a:t>lighting</a:t>
            </a:r>
            <a:r>
              <a:rPr lang="pt-PT" sz="1600" dirty="0"/>
              <a:t>, </a:t>
            </a:r>
            <a:r>
              <a:rPr lang="pt-PT" sz="1600" dirty="0" err="1"/>
              <a:t>optics</a:t>
            </a:r>
            <a:r>
              <a:rPr lang="pt-PT" sz="1600" dirty="0"/>
              <a:t>, </a:t>
            </a:r>
            <a:r>
              <a:rPr lang="pt-PT" sz="1600" dirty="0" err="1"/>
              <a:t>flow</a:t>
            </a:r>
            <a:r>
              <a:rPr lang="pt-PT" sz="1600" dirty="0"/>
              <a:t> regimes).</a:t>
            </a:r>
          </a:p>
          <a:p>
            <a:r>
              <a:rPr lang="pt-PT" sz="1600" b="1" dirty="0" err="1"/>
              <a:t>Iterative</a:t>
            </a:r>
            <a:r>
              <a:rPr lang="pt-PT" sz="1600" b="1" dirty="0"/>
              <a:t> data </a:t>
            </a:r>
            <a:r>
              <a:rPr lang="pt-PT" sz="1600" b="1" dirty="0" err="1"/>
              <a:t>engine</a:t>
            </a:r>
            <a:r>
              <a:rPr lang="pt-PT" sz="1600" b="1" dirty="0"/>
              <a:t> / </a:t>
            </a:r>
            <a:r>
              <a:rPr lang="pt-PT" sz="1600" b="1" dirty="0" err="1"/>
              <a:t>active</a:t>
            </a:r>
            <a:r>
              <a:rPr lang="pt-PT" sz="1600" b="1" dirty="0"/>
              <a:t> </a:t>
            </a:r>
            <a:r>
              <a:rPr lang="pt-PT" sz="1600" b="1" dirty="0" err="1"/>
              <a:t>learning</a:t>
            </a:r>
            <a:r>
              <a:rPr lang="pt-PT" sz="1600" b="1" dirty="0"/>
              <a:t>: </a:t>
            </a:r>
            <a:r>
              <a:rPr lang="pt-PT" sz="1600" dirty="0" err="1"/>
              <a:t>model</a:t>
            </a:r>
            <a:r>
              <a:rPr lang="pt-PT" sz="1600" dirty="0"/>
              <a:t> </a:t>
            </a:r>
            <a:r>
              <a:rPr lang="pt-PT" sz="1600" dirty="0" err="1"/>
              <a:t>proposes</a:t>
            </a:r>
            <a:r>
              <a:rPr lang="pt-PT" sz="1600" dirty="0"/>
              <a:t> </a:t>
            </a:r>
            <a:r>
              <a:rPr lang="pt-PT" sz="1600" dirty="0" err="1"/>
              <a:t>masks</a:t>
            </a:r>
            <a:r>
              <a:rPr lang="pt-PT" sz="1600" dirty="0"/>
              <a:t> → fast </a:t>
            </a:r>
            <a:r>
              <a:rPr lang="pt-PT" sz="1600" dirty="0" err="1"/>
              <a:t>correction</a:t>
            </a:r>
            <a:r>
              <a:rPr lang="pt-PT" sz="1600" dirty="0"/>
              <a:t> (SAM2) → </a:t>
            </a:r>
            <a:r>
              <a:rPr lang="pt-PT" sz="1600" dirty="0" err="1"/>
              <a:t>retrain</a:t>
            </a:r>
            <a:r>
              <a:rPr lang="pt-PT" sz="1600" dirty="0"/>
              <a:t> → </a:t>
            </a:r>
            <a:r>
              <a:rPr lang="pt-PT" sz="1600" dirty="0" err="1"/>
              <a:t>repeat</a:t>
            </a:r>
            <a:r>
              <a:rPr lang="pt-PT" sz="1600" dirty="0"/>
              <a:t> to improve </a:t>
            </a:r>
            <a:r>
              <a:rPr lang="pt-PT" sz="1600" dirty="0" err="1"/>
              <a:t>hardest</a:t>
            </a:r>
            <a:r>
              <a:rPr lang="pt-PT" sz="1600" dirty="0"/>
              <a:t> cases </a:t>
            </a:r>
            <a:r>
              <a:rPr lang="pt-PT" sz="1600" dirty="0" err="1"/>
              <a:t>efficiently</a:t>
            </a:r>
            <a:r>
              <a:rPr lang="pt-PT" sz="1600" dirty="0"/>
              <a:t>.</a:t>
            </a:r>
          </a:p>
          <a:p>
            <a:r>
              <a:rPr lang="pt-PT" sz="1600" b="1" dirty="0" err="1"/>
              <a:t>Augmentation</a:t>
            </a:r>
            <a:r>
              <a:rPr lang="pt-PT" sz="1600" b="1" dirty="0"/>
              <a:t> </a:t>
            </a:r>
            <a:r>
              <a:rPr lang="pt-PT" sz="1600" b="1" dirty="0" err="1"/>
              <a:t>policy</a:t>
            </a:r>
            <a:r>
              <a:rPr lang="pt-PT" sz="1600" b="1" dirty="0"/>
              <a:t> redesign: </a:t>
            </a:r>
            <a:r>
              <a:rPr lang="pt-PT" sz="1600" dirty="0" err="1"/>
              <a:t>make</a:t>
            </a:r>
            <a:r>
              <a:rPr lang="pt-PT" sz="1600" dirty="0"/>
              <a:t> </a:t>
            </a:r>
            <a:r>
              <a:rPr lang="pt-PT" sz="1600" dirty="0" err="1"/>
              <a:t>it</a:t>
            </a:r>
            <a:r>
              <a:rPr lang="pt-PT" sz="1600" dirty="0"/>
              <a:t> </a:t>
            </a:r>
            <a:r>
              <a:rPr lang="pt-PT" sz="1600" dirty="0" err="1"/>
              <a:t>acquisition-informed</a:t>
            </a:r>
            <a:r>
              <a:rPr lang="pt-PT" sz="1600" dirty="0"/>
              <a:t> (</a:t>
            </a:r>
            <a:r>
              <a:rPr lang="pt-PT" sz="1600" dirty="0" err="1"/>
              <a:t>what</a:t>
            </a:r>
            <a:r>
              <a:rPr lang="pt-PT" sz="1600" dirty="0"/>
              <a:t> </a:t>
            </a:r>
            <a:r>
              <a:rPr lang="pt-PT" sz="1600" dirty="0" err="1"/>
              <a:t>variability</a:t>
            </a:r>
            <a:r>
              <a:rPr lang="pt-PT" sz="1600" dirty="0"/>
              <a:t> </a:t>
            </a:r>
            <a:r>
              <a:rPr lang="pt-PT" sz="1600" dirty="0" err="1"/>
              <a:t>is</a:t>
            </a:r>
            <a:r>
              <a:rPr lang="pt-PT" sz="1600" dirty="0"/>
              <a:t> </a:t>
            </a:r>
            <a:r>
              <a:rPr lang="pt-PT" sz="1600" dirty="0" err="1"/>
              <a:t>physically</a:t>
            </a:r>
            <a:r>
              <a:rPr lang="pt-PT" sz="1600" dirty="0"/>
              <a:t> </a:t>
            </a:r>
            <a:r>
              <a:rPr lang="pt-PT" sz="1600" dirty="0" err="1"/>
              <a:t>plausible</a:t>
            </a:r>
            <a:r>
              <a:rPr lang="pt-PT" sz="1600" dirty="0"/>
              <a:t>) </a:t>
            </a:r>
            <a:r>
              <a:rPr lang="pt-PT" sz="1600" dirty="0" err="1"/>
              <a:t>and</a:t>
            </a:r>
            <a:r>
              <a:rPr lang="pt-PT" sz="1600" dirty="0"/>
              <a:t> </a:t>
            </a:r>
            <a:r>
              <a:rPr lang="pt-PT" sz="1600" dirty="0" err="1"/>
              <a:t>validate</a:t>
            </a:r>
            <a:r>
              <a:rPr lang="pt-PT" sz="1600" dirty="0"/>
              <a:t> </a:t>
            </a:r>
            <a:r>
              <a:rPr lang="pt-PT" sz="1600" dirty="0" err="1"/>
              <a:t>on</a:t>
            </a:r>
            <a:r>
              <a:rPr lang="pt-PT" sz="1600" dirty="0"/>
              <a:t> a </a:t>
            </a:r>
            <a:r>
              <a:rPr lang="pt-PT" sz="1600" dirty="0" err="1"/>
              <a:t>larger</a:t>
            </a:r>
            <a:r>
              <a:rPr lang="pt-PT" sz="1600" dirty="0"/>
              <a:t> </a:t>
            </a:r>
            <a:r>
              <a:rPr lang="pt-PT" sz="1600" dirty="0" err="1"/>
              <a:t>test</a:t>
            </a:r>
            <a:r>
              <a:rPr lang="pt-PT" sz="1600" dirty="0"/>
              <a:t>/</a:t>
            </a:r>
            <a:r>
              <a:rPr lang="pt-PT" sz="1600" dirty="0" err="1"/>
              <a:t>val</a:t>
            </a:r>
            <a:r>
              <a:rPr lang="pt-PT" sz="1600" dirty="0"/>
              <a:t> </a:t>
            </a:r>
            <a:r>
              <a:rPr lang="pt-PT" sz="1600" dirty="0" err="1"/>
              <a:t>split</a:t>
            </a:r>
            <a:r>
              <a:rPr lang="pt-PT" sz="1600" dirty="0"/>
              <a:t>.</a:t>
            </a:r>
          </a:p>
          <a:p>
            <a:r>
              <a:rPr lang="pt-PT" sz="1600" b="1" dirty="0" err="1"/>
              <a:t>Better</a:t>
            </a:r>
            <a:r>
              <a:rPr lang="pt-PT" sz="1600" b="1" dirty="0"/>
              <a:t> </a:t>
            </a:r>
            <a:r>
              <a:rPr lang="pt-PT" sz="1600" b="1" dirty="0" err="1"/>
              <a:t>instance-level</a:t>
            </a:r>
            <a:r>
              <a:rPr lang="pt-PT" sz="1600" b="1" dirty="0"/>
              <a:t> </a:t>
            </a:r>
            <a:r>
              <a:rPr lang="pt-PT" sz="1600" b="1" dirty="0" err="1"/>
              <a:t>evaluation</a:t>
            </a:r>
            <a:r>
              <a:rPr lang="pt-PT" sz="1600" b="1" dirty="0"/>
              <a:t>: </a:t>
            </a:r>
            <a:r>
              <a:rPr lang="pt-PT" sz="1600" dirty="0" err="1"/>
              <a:t>add</a:t>
            </a:r>
            <a:r>
              <a:rPr lang="pt-PT" sz="1600" dirty="0"/>
              <a:t> </a:t>
            </a:r>
            <a:r>
              <a:rPr lang="pt-PT" sz="1600" dirty="0" err="1"/>
              <a:t>explicit</a:t>
            </a:r>
            <a:r>
              <a:rPr lang="pt-PT" sz="1600" dirty="0"/>
              <a:t> </a:t>
            </a:r>
            <a:r>
              <a:rPr lang="pt-PT" sz="1600" dirty="0" err="1"/>
              <a:t>split</a:t>
            </a:r>
            <a:r>
              <a:rPr lang="pt-PT" sz="1600" dirty="0"/>
              <a:t>/</a:t>
            </a:r>
            <a:r>
              <a:rPr lang="pt-PT" sz="1600" dirty="0" err="1"/>
              <a:t>merge-sensitive</a:t>
            </a:r>
            <a:r>
              <a:rPr lang="pt-PT" sz="1600" dirty="0"/>
              <a:t> </a:t>
            </a:r>
            <a:r>
              <a:rPr lang="pt-PT" sz="1600" dirty="0" err="1"/>
              <a:t>metrics</a:t>
            </a:r>
            <a:r>
              <a:rPr lang="pt-PT" sz="1600" dirty="0"/>
              <a:t> </a:t>
            </a:r>
            <a:r>
              <a:rPr lang="pt-PT" sz="1600" dirty="0" err="1"/>
              <a:t>or</a:t>
            </a:r>
            <a:r>
              <a:rPr lang="pt-PT" sz="1600" dirty="0"/>
              <a:t> </a:t>
            </a:r>
            <a:r>
              <a:rPr lang="pt-PT" sz="1600" dirty="0" err="1"/>
              <a:t>matching-based</a:t>
            </a:r>
            <a:r>
              <a:rPr lang="pt-PT" sz="1600" dirty="0"/>
              <a:t> </a:t>
            </a:r>
            <a:r>
              <a:rPr lang="pt-PT" sz="1600" dirty="0" err="1"/>
              <a:t>instance</a:t>
            </a:r>
            <a:r>
              <a:rPr lang="pt-PT" sz="1600" dirty="0"/>
              <a:t> </a:t>
            </a:r>
            <a:r>
              <a:rPr lang="pt-PT" sz="1600" dirty="0" err="1"/>
              <a:t>metrics</a:t>
            </a:r>
            <a:r>
              <a:rPr lang="pt-PT" sz="1600" dirty="0"/>
              <a:t> (</a:t>
            </a:r>
            <a:r>
              <a:rPr lang="pt-PT" sz="1600" dirty="0" err="1"/>
              <a:t>not</a:t>
            </a:r>
            <a:r>
              <a:rPr lang="pt-PT" sz="1600" dirty="0"/>
              <a:t> </a:t>
            </a:r>
            <a:r>
              <a:rPr lang="pt-PT" sz="1600" dirty="0" err="1"/>
              <a:t>only</a:t>
            </a:r>
            <a:r>
              <a:rPr lang="pt-PT" sz="1600" dirty="0"/>
              <a:t> </a:t>
            </a:r>
            <a:r>
              <a:rPr lang="pt-PT" sz="1600" dirty="0" err="1"/>
              <a:t>union-mask</a:t>
            </a:r>
            <a:r>
              <a:rPr lang="pt-PT" sz="1600" dirty="0"/>
              <a:t> </a:t>
            </a:r>
            <a:r>
              <a:rPr lang="pt-PT" sz="1600" dirty="0" err="1"/>
              <a:t>overlap</a:t>
            </a:r>
            <a:r>
              <a:rPr lang="pt-PT" sz="1600" dirty="0"/>
              <a:t>).</a:t>
            </a:r>
          </a:p>
          <a:p>
            <a:r>
              <a:rPr lang="pt-PT" sz="1600" b="1" dirty="0" err="1"/>
              <a:t>Domain</a:t>
            </a:r>
            <a:r>
              <a:rPr lang="pt-PT" sz="1600" b="1" dirty="0"/>
              <a:t> gap </a:t>
            </a:r>
            <a:r>
              <a:rPr lang="pt-PT" sz="1600" b="1" dirty="0" err="1"/>
              <a:t>reduction</a:t>
            </a:r>
            <a:r>
              <a:rPr lang="pt-PT" sz="1600" b="1" dirty="0"/>
              <a:t>: </a:t>
            </a:r>
            <a:r>
              <a:rPr lang="pt-PT" sz="1600" dirty="0"/>
              <a:t>improve </a:t>
            </a:r>
            <a:r>
              <a:rPr lang="pt-PT" sz="1600" dirty="0" err="1"/>
              <a:t>synthetic</a:t>
            </a:r>
            <a:r>
              <a:rPr lang="pt-PT" sz="1600" dirty="0"/>
              <a:t> </a:t>
            </a:r>
            <a:r>
              <a:rPr lang="pt-PT" sz="1600" dirty="0" err="1"/>
              <a:t>realism</a:t>
            </a:r>
            <a:r>
              <a:rPr lang="pt-PT" sz="1600" dirty="0"/>
              <a:t> (</a:t>
            </a:r>
            <a:r>
              <a:rPr lang="pt-PT" sz="1600" dirty="0" err="1"/>
              <a:t>optical</a:t>
            </a:r>
            <a:r>
              <a:rPr lang="pt-PT" sz="1600" dirty="0"/>
              <a:t> </a:t>
            </a:r>
            <a:r>
              <a:rPr lang="pt-PT" sz="1600" dirty="0" err="1"/>
              <a:t>artifacts</a:t>
            </a:r>
            <a:r>
              <a:rPr lang="pt-PT" sz="1600" dirty="0"/>
              <a:t>, </a:t>
            </a:r>
            <a:r>
              <a:rPr lang="pt-PT" sz="1600" dirty="0" err="1"/>
              <a:t>blur</a:t>
            </a:r>
            <a:r>
              <a:rPr lang="pt-PT" sz="1600" dirty="0"/>
              <a:t>/</a:t>
            </a:r>
            <a:r>
              <a:rPr lang="pt-PT" sz="1600" dirty="0" err="1"/>
              <a:t>defocus</a:t>
            </a:r>
            <a:r>
              <a:rPr lang="pt-PT" sz="1600" dirty="0"/>
              <a:t>, </a:t>
            </a:r>
            <a:r>
              <a:rPr lang="pt-PT" sz="1600" dirty="0" err="1"/>
              <a:t>illumination</a:t>
            </a:r>
            <a:r>
              <a:rPr lang="pt-PT" sz="1600" dirty="0"/>
              <a:t> </a:t>
            </a:r>
            <a:r>
              <a:rPr lang="pt-PT" sz="1600" dirty="0" err="1"/>
              <a:t>gradients</a:t>
            </a:r>
            <a:r>
              <a:rPr lang="pt-PT" sz="1600" dirty="0"/>
              <a:t>) </a:t>
            </a:r>
            <a:r>
              <a:rPr lang="pt-PT" sz="1600" dirty="0" err="1"/>
              <a:t>or</a:t>
            </a:r>
            <a:r>
              <a:rPr lang="pt-PT" sz="1600" dirty="0"/>
              <a:t> use </a:t>
            </a:r>
            <a:r>
              <a:rPr lang="pt-PT" sz="1600" dirty="0" err="1"/>
              <a:t>domain</a:t>
            </a:r>
            <a:r>
              <a:rPr lang="pt-PT" sz="1600" dirty="0"/>
              <a:t> </a:t>
            </a:r>
            <a:r>
              <a:rPr lang="pt-PT" sz="1600" dirty="0" err="1"/>
              <a:t>adaptation</a:t>
            </a:r>
            <a:r>
              <a:rPr lang="pt-PT" sz="1600" dirty="0"/>
              <a:t>.</a:t>
            </a:r>
          </a:p>
        </p:txBody>
      </p:sp>
      <p:sp>
        <p:nvSpPr>
          <p:cNvPr id="4" name="Marcador de Posição do Número do Diapositivo 3">
            <a:extLst>
              <a:ext uri="{FF2B5EF4-FFF2-40B4-BE49-F238E27FC236}">
                <a16:creationId xmlns:a16="http://schemas.microsoft.com/office/drawing/2014/main" id="{0638E076-60AC-2C01-29C6-E085AC091AE1}"/>
              </a:ext>
            </a:extLst>
          </p:cNvPr>
          <p:cNvSpPr>
            <a:spLocks noGrp="1"/>
          </p:cNvSpPr>
          <p:nvPr>
            <p:ph type="sldNum" sz="quarter" idx="12"/>
          </p:nvPr>
        </p:nvSpPr>
        <p:spPr/>
        <p:txBody>
          <a:bodyPr/>
          <a:lstStyle/>
          <a:p>
            <a:fld id="{13A9F3AB-103B-42BD-8121-9F883A719849}" type="slidenum">
              <a:rPr lang="pt-PT" smtClean="0"/>
              <a:t>29</a:t>
            </a:fld>
            <a:endParaRPr lang="pt-PT"/>
          </a:p>
        </p:txBody>
      </p:sp>
    </p:spTree>
    <p:extLst>
      <p:ext uri="{BB962C8B-B14F-4D97-AF65-F5344CB8AC3E}">
        <p14:creationId xmlns:p14="http://schemas.microsoft.com/office/powerpoint/2010/main" val="3194981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7CACE7-BB2A-18C6-5AF0-77838A4BAFD6}"/>
              </a:ext>
            </a:extLst>
          </p:cNvPr>
          <p:cNvSpPr>
            <a:spLocks noGrp="1"/>
          </p:cNvSpPr>
          <p:nvPr>
            <p:ph type="title"/>
          </p:nvPr>
        </p:nvSpPr>
        <p:spPr/>
        <p:txBody>
          <a:bodyPr/>
          <a:lstStyle/>
          <a:p>
            <a:r>
              <a:rPr lang="pt-PT" dirty="0" err="1"/>
              <a:t>Conclusions</a:t>
            </a:r>
            <a:endParaRPr lang="pt-PT" dirty="0"/>
          </a:p>
        </p:txBody>
      </p:sp>
      <p:sp>
        <p:nvSpPr>
          <p:cNvPr id="3" name="Marcador de Posição de Conteúdo 2">
            <a:extLst>
              <a:ext uri="{FF2B5EF4-FFF2-40B4-BE49-F238E27FC236}">
                <a16:creationId xmlns:a16="http://schemas.microsoft.com/office/drawing/2014/main" id="{BCF58F8F-FAC5-5171-2D80-68C14DAEAE7D}"/>
              </a:ext>
            </a:extLst>
          </p:cNvPr>
          <p:cNvSpPr>
            <a:spLocks noGrp="1"/>
          </p:cNvSpPr>
          <p:nvPr>
            <p:ph idx="1"/>
          </p:nvPr>
        </p:nvSpPr>
        <p:spPr/>
        <p:txBody>
          <a:bodyPr>
            <a:normAutofit/>
          </a:bodyPr>
          <a:lstStyle/>
          <a:p>
            <a:r>
              <a:rPr lang="en-US" sz="1800" b="1" dirty="0"/>
              <a:t>Best overall configuration: </a:t>
            </a:r>
            <a:r>
              <a:rPr lang="en-US" sz="1800" dirty="0"/>
              <a:t>ResNet-50-FPN v2 + Transfer→ Dice 0.9628, </a:t>
            </a:r>
            <a:r>
              <a:rPr lang="en-US" sz="1800" dirty="0" err="1"/>
              <a:t>IoU</a:t>
            </a:r>
            <a:r>
              <a:rPr lang="en-US" sz="1800" dirty="0"/>
              <a:t> 0.9303, |ΔN| 0.40 on the real test split.</a:t>
            </a:r>
          </a:p>
          <a:p>
            <a:r>
              <a:rPr lang="en-US" sz="1800" b="1" dirty="0"/>
              <a:t>Transfer learning matters most for measurement reliability: </a:t>
            </a:r>
            <a:r>
              <a:rPr lang="en-US" sz="1800" dirty="0"/>
              <a:t>it reduces count bias and stabilizes instance predictions (especially for ResNet-101). </a:t>
            </a:r>
          </a:p>
          <a:p>
            <a:r>
              <a:rPr lang="en-US" sz="1800" b="1" dirty="0"/>
              <a:t>Augmentation</a:t>
            </a:r>
            <a:r>
              <a:rPr lang="en-US" sz="1800" dirty="0"/>
              <a:t> was not consistently beneficial under this small evaluation split; policy must match the acquisition process and be tested on broader conditions. </a:t>
            </a:r>
            <a:r>
              <a:rPr lang="en-US" sz="1800" dirty="0" err="1"/>
              <a:t>synthetic_train_pipeline</a:t>
            </a:r>
            <a:endParaRPr lang="en-US" sz="1800" dirty="0"/>
          </a:p>
          <a:p>
            <a:r>
              <a:rPr lang="en-US" sz="1800" b="1" dirty="0"/>
              <a:t>Annotation can be scaled: </a:t>
            </a:r>
            <a:r>
              <a:rPr lang="en-US" sz="1800" dirty="0"/>
              <a:t>model-assisted labeling reduces effort by ~30× (94.49 s/bubble → 3.20 s/bubble). </a:t>
            </a:r>
          </a:p>
          <a:p>
            <a:r>
              <a:rPr lang="en-US" sz="1800" b="1" dirty="0"/>
              <a:t>Overall: </a:t>
            </a:r>
            <a:r>
              <a:rPr lang="en-US" sz="1800" dirty="0"/>
              <a:t>a practical workflow combining synthetic pretraining + real fine-tuning + assisted annotation makes scalable bubble instance segmentation feasible.</a:t>
            </a:r>
            <a:endParaRPr lang="pt-PT" sz="1800" dirty="0"/>
          </a:p>
        </p:txBody>
      </p:sp>
      <p:sp>
        <p:nvSpPr>
          <p:cNvPr id="4" name="Marcador de Posição do Número do Diapositivo 3">
            <a:extLst>
              <a:ext uri="{FF2B5EF4-FFF2-40B4-BE49-F238E27FC236}">
                <a16:creationId xmlns:a16="http://schemas.microsoft.com/office/drawing/2014/main" id="{9A163B74-CBAF-4A72-6655-BB4F1C8B1443}"/>
              </a:ext>
            </a:extLst>
          </p:cNvPr>
          <p:cNvSpPr>
            <a:spLocks noGrp="1"/>
          </p:cNvSpPr>
          <p:nvPr>
            <p:ph type="sldNum" sz="quarter" idx="12"/>
          </p:nvPr>
        </p:nvSpPr>
        <p:spPr/>
        <p:txBody>
          <a:bodyPr/>
          <a:lstStyle/>
          <a:p>
            <a:fld id="{13A9F3AB-103B-42BD-8121-9F883A719849}" type="slidenum">
              <a:rPr lang="pt-PT" smtClean="0"/>
              <a:t>30</a:t>
            </a:fld>
            <a:endParaRPr lang="pt-PT"/>
          </a:p>
        </p:txBody>
      </p:sp>
    </p:spTree>
    <p:extLst>
      <p:ext uri="{BB962C8B-B14F-4D97-AF65-F5344CB8AC3E}">
        <p14:creationId xmlns:p14="http://schemas.microsoft.com/office/powerpoint/2010/main" val="3771518079"/>
      </p:ext>
    </p:extLst>
  </p:cSld>
  <p:clrMapOvr>
    <a:masterClrMapping/>
  </p:clrMapOvr>
</p:sld>
</file>

<file path=ppt/theme/theme1.xml><?xml version="1.0" encoding="utf-8"?>
<a:theme xmlns:a="http://schemas.openxmlformats.org/drawingml/2006/main" name="Recorte">
  <a:themeElements>
    <a:clrScheme name="Recorte">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Recorte">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Recort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1adbe58-de45-4aaf-9f5b-6cd1baf82dc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9C62D42F56BEB045AD42C287F54D8C19" ma:contentTypeVersion="13" ma:contentTypeDescription="Criar um novo documento." ma:contentTypeScope="" ma:versionID="5f05f50d68d9165c1af27212f7459af0">
  <xsd:schema xmlns:xsd="http://www.w3.org/2001/XMLSchema" xmlns:xs="http://www.w3.org/2001/XMLSchema" xmlns:p="http://schemas.microsoft.com/office/2006/metadata/properties" xmlns:ns3="d1adbe58-de45-4aaf-9f5b-6cd1baf82dc5" xmlns:ns4="25eec9b3-5ea9-45d5-9430-345c5e4d2d18" targetNamespace="http://schemas.microsoft.com/office/2006/metadata/properties" ma:root="true" ma:fieldsID="0c3f2cd3ecd4bc3d19517e5673bcaedd" ns3:_="" ns4:_="">
    <xsd:import namespace="d1adbe58-de45-4aaf-9f5b-6cd1baf82dc5"/>
    <xsd:import namespace="25eec9b3-5ea9-45d5-9430-345c5e4d2d18"/>
    <xsd:element name="properties">
      <xsd:complexType>
        <xsd:sequence>
          <xsd:element name="documentManagement">
            <xsd:complexType>
              <xsd:all>
                <xsd:element ref="ns3:MediaServiceMetadata" minOccurs="0"/>
                <xsd:element ref="ns3:MediaServiceFastMetadata" minOccurs="0"/>
                <xsd:element ref="ns3:_activity" minOccurs="0"/>
                <xsd:element ref="ns4:SharedWithUsers" minOccurs="0"/>
                <xsd:element ref="ns4:SharedWithDetails" minOccurs="0"/>
                <xsd:element ref="ns4:SharingHintHash"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1adbe58-de45-4aaf-9f5b-6cd1baf82d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5eec9b3-5ea9-45d5-9430-345c5e4d2d18" elementFormDefault="qualified">
    <xsd:import namespace="http://schemas.microsoft.com/office/2006/documentManagement/types"/>
    <xsd:import namespace="http://schemas.microsoft.com/office/infopath/2007/PartnerControls"/>
    <xsd:element name="SharedWithUsers" ma:index="11" nillable="true" ma:displayName="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talhes de Partilhado Com" ma:internalName="SharedWithDetails" ma:readOnly="true">
      <xsd:simpleType>
        <xsd:restriction base="dms:Note">
          <xsd:maxLength value="255"/>
        </xsd:restriction>
      </xsd:simpleType>
    </xsd:element>
    <xsd:element name="SharingHintHash" ma:index="13" nillable="true" ma:displayName="Hash de Sugestão de Partilha"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346CB1-C041-4B5D-AF9C-7FDF511A4853}">
  <ds:schemaRefs>
    <ds:schemaRef ds:uri="http://purl.org/dc/elements/1.1/"/>
    <ds:schemaRef ds:uri="http://www.w3.org/XML/1998/namespace"/>
    <ds:schemaRef ds:uri="25eec9b3-5ea9-45d5-9430-345c5e4d2d18"/>
    <ds:schemaRef ds:uri="d1adbe58-de45-4aaf-9f5b-6cd1baf82dc5"/>
    <ds:schemaRef ds:uri="http://purl.org/dc/dcmitype/"/>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E540E9DC-663A-4D07-8679-44596D1E1C4C}">
  <ds:schemaRefs>
    <ds:schemaRef ds:uri="http://schemas.microsoft.com/sharepoint/v3/contenttype/forms"/>
  </ds:schemaRefs>
</ds:datastoreItem>
</file>

<file path=customXml/itemProps3.xml><?xml version="1.0" encoding="utf-8"?>
<ds:datastoreItem xmlns:ds="http://schemas.openxmlformats.org/officeDocument/2006/customXml" ds:itemID="{2AE2CBD8-3035-4416-A996-DE9FCCD9F0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1adbe58-de45-4aaf-9f5b-6cd1baf82dc5"/>
    <ds:schemaRef ds:uri="25eec9b3-5ea9-45d5-9430-345c5e4d2d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910</TotalTime>
  <Words>4480</Words>
  <Application>Microsoft Office PowerPoint</Application>
  <PresentationFormat>Ecrã Panorâmico</PresentationFormat>
  <Paragraphs>301</Paragraphs>
  <Slides>30</Slides>
  <Notes>26</Notes>
  <HiddenSlides>0</HiddenSlides>
  <MMClips>0</MMClips>
  <ScaleCrop>false</ScaleCrop>
  <HeadingPairs>
    <vt:vector size="6" baseType="variant">
      <vt:variant>
        <vt:lpstr>Tipos de letra usados</vt:lpstr>
      </vt:variant>
      <vt:variant>
        <vt:i4>6</vt:i4>
      </vt:variant>
      <vt:variant>
        <vt:lpstr>Tema</vt:lpstr>
      </vt:variant>
      <vt:variant>
        <vt:i4>2</vt:i4>
      </vt:variant>
      <vt:variant>
        <vt:lpstr>Títulos dos diapositivos</vt:lpstr>
      </vt:variant>
      <vt:variant>
        <vt:i4>30</vt:i4>
      </vt:variant>
    </vt:vector>
  </HeadingPairs>
  <TitlesOfParts>
    <vt:vector size="38" baseType="lpstr">
      <vt:lpstr>Aptos</vt:lpstr>
      <vt:lpstr>Aptos Display</vt:lpstr>
      <vt:lpstr>Arial</vt:lpstr>
      <vt:lpstr>Calibri</vt:lpstr>
      <vt:lpstr>Courier New</vt:lpstr>
      <vt:lpstr>Franklin Gothic Book</vt:lpstr>
      <vt:lpstr>Recorte</vt:lpstr>
      <vt:lpstr>Tema do Office</vt:lpstr>
      <vt:lpstr>Exploratory Analysis of Segmentation Techniques for Multiphase Flow Experimental Images</vt:lpstr>
      <vt:lpstr>Why segmentation matters</vt:lpstr>
      <vt:lpstr>Key challenges and motivation</vt:lpstr>
      <vt:lpstr>Research Questions</vt:lpstr>
      <vt:lpstr>Workflow map</vt:lpstr>
      <vt:lpstr>Data &amp; labels</vt:lpstr>
      <vt:lpstr>Experimental design: 12 runs</vt:lpstr>
      <vt:lpstr>Synthetic → Real transfer learning</vt:lpstr>
      <vt:lpstr>Evaluation</vt:lpstr>
      <vt:lpstr>Results overview</vt:lpstr>
      <vt:lpstr>Transfer learning impact</vt:lpstr>
      <vt:lpstr>Does augmentation improve transfer learning? </vt:lpstr>
      <vt:lpstr>Speed vs accuracy</vt:lpstr>
      <vt:lpstr>Annotation efficiency: manual vs. model-assisted workflows</vt:lpstr>
      <vt:lpstr>Answers to Research Questions</vt:lpstr>
      <vt:lpstr>Limitations &amp; next steps</vt:lpstr>
      <vt:lpstr>Thank You</vt:lpstr>
      <vt:lpstr>Train Validation + General Results</vt:lpstr>
      <vt:lpstr>Transfer plots</vt:lpstr>
      <vt:lpstr>Augmentations plots + ECDF</vt:lpstr>
      <vt:lpstr>Stratification plots</vt:lpstr>
      <vt:lpstr>Train Loss</vt:lpstr>
      <vt:lpstr>Annotation Cases</vt:lpstr>
      <vt:lpstr>Metrics</vt:lpstr>
      <vt:lpstr>Where it fails</vt:lpstr>
      <vt:lpstr>Problem context</vt:lpstr>
      <vt:lpstr>Key challenges and motivation</vt:lpstr>
      <vt:lpstr>Limitations</vt:lpstr>
      <vt:lpstr>Future work</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Jorge Levi Perdigoto da Costa</dc:creator>
  <cp:lastModifiedBy>Ana Carolina Araújo Marques de Brito Brandão</cp:lastModifiedBy>
  <cp:revision>7</cp:revision>
  <dcterms:created xsi:type="dcterms:W3CDTF">2026-02-02T12:18:19Z</dcterms:created>
  <dcterms:modified xsi:type="dcterms:W3CDTF">2026-02-03T20:35:48Z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0x0101009C62D42F56BEB045AD42C287F54D8C19</vt:lpwstr>
  </property>
</Properties>
</file>